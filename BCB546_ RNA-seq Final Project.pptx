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4"/>
  </p:notesMasterIdLst>
  <p:sldIdLst>
    <p:sldId id="256" r:id="rId2"/>
    <p:sldId id="294" r:id="rId3"/>
    <p:sldId id="257" r:id="rId4"/>
    <p:sldId id="259" r:id="rId5"/>
    <p:sldId id="272" r:id="rId6"/>
    <p:sldId id="260" r:id="rId7"/>
    <p:sldId id="296" r:id="rId8"/>
    <p:sldId id="312" r:id="rId9"/>
    <p:sldId id="313" r:id="rId10"/>
    <p:sldId id="265" r:id="rId11"/>
    <p:sldId id="314" r:id="rId12"/>
    <p:sldId id="295" r:id="rId13"/>
    <p:sldId id="262" r:id="rId14"/>
    <p:sldId id="297" r:id="rId15"/>
    <p:sldId id="315" r:id="rId16"/>
    <p:sldId id="302" r:id="rId17"/>
    <p:sldId id="301" r:id="rId18"/>
    <p:sldId id="300" r:id="rId19"/>
    <p:sldId id="303" r:id="rId20"/>
    <p:sldId id="304" r:id="rId21"/>
    <p:sldId id="305" r:id="rId22"/>
    <p:sldId id="306" r:id="rId23"/>
    <p:sldId id="273" r:id="rId24"/>
    <p:sldId id="309" r:id="rId25"/>
    <p:sldId id="308" r:id="rId26"/>
    <p:sldId id="267" r:id="rId27"/>
    <p:sldId id="310" r:id="rId28"/>
    <p:sldId id="311" r:id="rId29"/>
    <p:sldId id="278" r:id="rId30"/>
    <p:sldId id="280" r:id="rId31"/>
    <p:sldId id="283" r:id="rId32"/>
    <p:sldId id="286" r:id="rId3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Veeraya Bamrung"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7CBE3"/>
    <a:srgbClr val="E8BD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13"/>
    <p:restoredTop sz="56632"/>
  </p:normalViewPr>
  <p:slideViewPr>
    <p:cSldViewPr snapToGrid="0">
      <p:cViewPr varScale="1">
        <p:scale>
          <a:sx n="97" d="100"/>
          <a:sy n="97" d="100"/>
        </p:scale>
        <p:origin x="1960"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EE82E83-5990-EB5F-DAB4-B11D68E8E209}"/>
            </a:ext>
          </a:extLst>
        </p:cNvPr>
        <p:cNvGrpSpPr/>
        <p:nvPr/>
      </p:nvGrpSpPr>
      <p:grpSpPr>
        <a:xfrm>
          <a:off x="0" y="0"/>
          <a:ext cx="0" cy="0"/>
          <a:chOff x="0" y="0"/>
          <a:chExt cx="0" cy="0"/>
        </a:xfrm>
      </p:grpSpPr>
      <p:sp>
        <p:nvSpPr>
          <p:cNvPr id="58" name="Google Shape;58;g3d5130463b6_0_2:notes">
            <a:extLst>
              <a:ext uri="{FF2B5EF4-FFF2-40B4-BE49-F238E27FC236}">
                <a16:creationId xmlns:a16="http://schemas.microsoft.com/office/drawing/2014/main" id="{A52D9593-731A-5C37-FB3A-D4E2D89CD9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d5130463b6_0_2:notes">
            <a:extLst>
              <a:ext uri="{FF2B5EF4-FFF2-40B4-BE49-F238E27FC236}">
                <a16:creationId xmlns:a16="http://schemas.microsoft.com/office/drawing/2014/main" id="{D33CD256-9E86-F831-D8CC-54AFEEDF83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39887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d5130463b6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d5130463b6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d66bfd4ad8_0_2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d66bfd4ad8_0_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The biological question is straightforward: when ASM cells are exposed to dexamethasone, which genes change, and what do those changes tell us about how glucocorticoids work in asthma?</a:t>
            </a:r>
            <a:endParaRPr dirty="0"/>
          </a:p>
          <a:p>
            <a:pPr marL="0" lvl="0" indent="0" algn="l" rtl="0">
              <a:spcBef>
                <a:spcPts val="0"/>
              </a:spcBef>
              <a:spcAft>
                <a:spcPts val="0"/>
              </a:spcAft>
              <a:buClr>
                <a:schemeClr val="dk1"/>
              </a:buClr>
              <a:buSzPts val="1100"/>
              <a:buFont typeface="Arial"/>
              <a:buNone/>
            </a:pPr>
            <a:r>
              <a:rPr lang="en" dirty="0"/>
              <a:t>ASM is important because it contributes to airway narrowing and airway hyperresponsiveness, so understanding drug effects in this tissue has direct relevance to asthma treatment.</a:t>
            </a:r>
            <a:endParaRPr dirty="0"/>
          </a:p>
          <a:p>
            <a:pPr marL="0" lvl="0" indent="0" algn="l" rtl="0">
              <a:spcBef>
                <a:spcPts val="0"/>
              </a:spcBef>
              <a:spcAft>
                <a:spcPts val="0"/>
              </a:spcAft>
              <a:buClr>
                <a:schemeClr val="dk1"/>
              </a:buClr>
              <a:buSzPts val="1100"/>
              <a:buFont typeface="Arial"/>
              <a:buNone/>
            </a:pPr>
            <a:r>
              <a:rPr lang="en" dirty="0"/>
              <a:t>The paper’s RNA-seq analysis found 316 significant expression changes, which gave the authors a broad transcriptomic view of the glucocorticoid response.</a:t>
            </a:r>
            <a:endParaRPr dirty="0"/>
          </a:p>
          <a:p>
            <a:pPr marL="0" lvl="0" indent="0" algn="l" rtl="0">
              <a:spcBef>
                <a:spcPts val="0"/>
              </a:spcBef>
              <a:spcAft>
                <a:spcPts val="0"/>
              </a:spcAft>
              <a:buClr>
                <a:schemeClr val="dk1"/>
              </a:buClr>
              <a:buSzPts val="1100"/>
              <a:buFont typeface="Arial"/>
              <a:buNone/>
            </a:pPr>
            <a:r>
              <a:rPr lang="en" dirty="0"/>
              <a:t>CRISPLD2 became the main follow-up target because it was differentially expressed and also looked biologically relevant for inflammatory regulation.</a:t>
            </a:r>
            <a:endParaRPr dirty="0"/>
          </a:p>
          <a:p>
            <a:pPr marL="0" lvl="0" indent="0" algn="l" rtl="0">
              <a:spcBef>
                <a:spcPts val="0"/>
              </a:spcBef>
              <a:spcAft>
                <a:spcPts val="0"/>
              </a:spcAft>
              <a:buClr>
                <a:schemeClr val="dk1"/>
              </a:buClr>
              <a:buSzPts val="1100"/>
              <a:buFont typeface="Arial"/>
              <a:buNone/>
            </a:pPr>
            <a:r>
              <a:rPr lang="en" dirty="0"/>
              <a:t>The paper then showed that CRISPLD2 increased after dexamethasone treatment and may help modulate inflammatory cytokine responses in ASM</a:t>
            </a:r>
            <a:endParaRPr dirty="0"/>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37E92A18-B92B-4244-F2D9-9DCA66EBFD7B}"/>
            </a:ext>
          </a:extLst>
        </p:cNvPr>
        <p:cNvGrpSpPr/>
        <p:nvPr/>
      </p:nvGrpSpPr>
      <p:grpSpPr>
        <a:xfrm>
          <a:off x="0" y="0"/>
          <a:ext cx="0" cy="0"/>
          <a:chOff x="0" y="0"/>
          <a:chExt cx="0" cy="0"/>
        </a:xfrm>
      </p:grpSpPr>
      <p:sp>
        <p:nvSpPr>
          <p:cNvPr id="69" name="Google Shape;69;g3d66bfd4ad8_0_271:notes">
            <a:extLst>
              <a:ext uri="{FF2B5EF4-FFF2-40B4-BE49-F238E27FC236}">
                <a16:creationId xmlns:a16="http://schemas.microsoft.com/office/drawing/2014/main" id="{0359044F-F1AD-ADEB-CA3C-88AACED66B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d66bfd4ad8_0_271:notes">
            <a:extLst>
              <a:ext uri="{FF2B5EF4-FFF2-40B4-BE49-F238E27FC236}">
                <a16:creationId xmlns:a16="http://schemas.microsoft.com/office/drawing/2014/main" id="{8CA24B7C-40CC-0C70-DF3D-B399A78E48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Our pipeline will be able to find a gene correlated with the treatment  and the study further experimentally validate those</a:t>
            </a:r>
          </a:p>
          <a:p>
            <a:pPr marL="0" lvl="0" indent="0" algn="l" rtl="0">
              <a:spcBef>
                <a:spcPts val="0"/>
              </a:spcBef>
              <a:spcAft>
                <a:spcPts val="0"/>
              </a:spcAft>
              <a:buNone/>
            </a:pPr>
            <a:endParaRPr lang="en-US" dirty="0"/>
          </a:p>
          <a:p>
            <a:r>
              <a:rPr lang="en-US" sz="1100" b="0" i="0" u="none" strike="noStrike" cap="none" dirty="0">
                <a:solidFill>
                  <a:srgbClr val="000000"/>
                </a:solidFill>
                <a:effectLst/>
                <a:latin typeface="Arial"/>
                <a:ea typeface="Arial"/>
                <a:cs typeface="Arial"/>
                <a:sym typeface="Arial"/>
              </a:rPr>
              <a:t>Bulk RNA-seq is a method used to measure gene expression across a whole sample of cells. In this slide, the sample is airway smooth muscle cells. Instead of measuring each single cell separately, all RNA from the cell population is pooled together, converted into a cDNA library, sequenced, and analyzed to estimate which genes are more or less active. The workflow begins with airway smooth muscle cells collected from four donor cell lines. Each donor’s cells were divided into two conditions: a dexamethasone-treated condition and an untreated control condition. The treatment condition received 1 micromolar dexamethasone for 18 hours, while the control condition was left untreated or treated with vehicle control.</a:t>
            </a:r>
          </a:p>
          <a:p>
            <a:r>
              <a:rPr lang="en-US" sz="1100" b="0" i="0" u="none" strike="noStrike" cap="none" dirty="0">
                <a:solidFill>
                  <a:srgbClr val="000000"/>
                </a:solidFill>
                <a:effectLst/>
                <a:latin typeface="Arial"/>
                <a:ea typeface="Arial"/>
                <a:cs typeface="Arial"/>
                <a:sym typeface="Arial"/>
              </a:rPr>
              <a:t>After treatment, total RNA was extracted from the cells. This RNA represents the genes that were actively being expressed in the airway smooth muscle cells under each condition. the RNA was converted into complementary DNA, or cDNA. These cDNA fragments were then prepared into sequencing libraries by adding adapters and barcodes.</a:t>
            </a:r>
          </a:p>
          <a:p>
            <a:r>
              <a:rPr lang="en-US" sz="1100" b="0" i="0" u="none" strike="noStrike" cap="none" dirty="0">
                <a:solidFill>
                  <a:srgbClr val="000000"/>
                </a:solidFill>
                <a:effectLst/>
                <a:latin typeface="Arial"/>
                <a:ea typeface="Arial"/>
                <a:cs typeface="Arial"/>
                <a:sym typeface="Arial"/>
              </a:rPr>
              <a:t>The libraries were sequenced using bulk RNA sequencing. This means that the RNA signal came from the whole population of cells in each sample, not from individual cells.</a:t>
            </a:r>
          </a:p>
          <a:p>
            <a:r>
              <a:rPr lang="en-US" sz="1100" b="0" i="0" u="none" strike="noStrike" cap="none" dirty="0">
                <a:solidFill>
                  <a:srgbClr val="000000"/>
                </a:solidFill>
                <a:effectLst/>
                <a:latin typeface="Arial"/>
                <a:ea typeface="Arial"/>
                <a:cs typeface="Arial"/>
                <a:sym typeface="Arial"/>
              </a:rPr>
              <a:t>After sequencing, the raw reads went through quality control. The authors checked whether the reads were successfully sequenced and whether the data were reliable enough for downstream analysis. They used tools such as FastQC and trimmed the first 12 bases because the reads showed sequence bias at the beginning. The cleaned reads were then aligned to the human reference genome using </a:t>
            </a:r>
            <a:r>
              <a:rPr lang="en-US" sz="1100" b="0" i="0" u="none" strike="noStrike" cap="none" dirty="0" err="1">
                <a:solidFill>
                  <a:srgbClr val="000000"/>
                </a:solidFill>
                <a:effectLst/>
                <a:latin typeface="Arial"/>
                <a:ea typeface="Arial"/>
                <a:cs typeface="Arial"/>
                <a:sym typeface="Arial"/>
              </a:rPr>
              <a:t>TopHat</a:t>
            </a:r>
            <a:r>
              <a:rPr lang="en-US" sz="1100" b="0" i="0" u="none" strike="noStrike" cap="none" dirty="0">
                <a:solidFill>
                  <a:srgbClr val="000000"/>
                </a:solidFill>
                <a:effectLst/>
                <a:latin typeface="Arial"/>
                <a:ea typeface="Arial"/>
                <a:cs typeface="Arial"/>
                <a:sym typeface="Arial"/>
              </a:rPr>
              <a:t>.</a:t>
            </a:r>
          </a:p>
          <a:p>
            <a:r>
              <a:rPr lang="en-US" sz="1100" b="0" i="0" u="none" strike="noStrike" cap="none" dirty="0">
                <a:solidFill>
                  <a:srgbClr val="000000"/>
                </a:solidFill>
                <a:effectLst/>
                <a:latin typeface="Arial"/>
                <a:ea typeface="Arial"/>
                <a:cs typeface="Arial"/>
                <a:sym typeface="Arial"/>
              </a:rPr>
              <a:t>Finally, differential expression analysis was used to compare dexamethasone-treated cells with untreated control cells. This analysis identified genes whose expression levels changed after dexamethasone treatment.</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946239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d66bfd4ad8_0_2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d66bfd4ad8_0_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en-US" dirty="0"/>
              <a:t>Our pipeline will be able to find a gene correlated with the treatment  and the study further experimentally validate those</a:t>
            </a:r>
          </a:p>
          <a:p>
            <a:pPr marL="0" lvl="0" indent="0" algn="l" rtl="0">
              <a:spcBef>
                <a:spcPts val="0"/>
              </a:spcBef>
              <a:spcAft>
                <a:spcPts val="0"/>
              </a:spcAft>
              <a:buClr>
                <a:schemeClr val="dk1"/>
              </a:buClr>
              <a:buSzPts val="1100"/>
              <a:buFont typeface="Arial"/>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8B06F4E-A7E2-590C-7D0D-899CC4482123}"/>
            </a:ext>
          </a:extLst>
        </p:cNvPr>
        <p:cNvGrpSpPr/>
        <p:nvPr/>
      </p:nvGrpSpPr>
      <p:grpSpPr>
        <a:xfrm>
          <a:off x="0" y="0"/>
          <a:ext cx="0" cy="0"/>
          <a:chOff x="0" y="0"/>
          <a:chExt cx="0" cy="0"/>
        </a:xfrm>
      </p:grpSpPr>
      <p:sp>
        <p:nvSpPr>
          <p:cNvPr id="58" name="Google Shape;58;g3d5130463b6_0_2:notes">
            <a:extLst>
              <a:ext uri="{FF2B5EF4-FFF2-40B4-BE49-F238E27FC236}">
                <a16:creationId xmlns:a16="http://schemas.microsoft.com/office/drawing/2014/main" id="{594A6E44-6BAC-2D5F-14FA-94C059C542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d5130463b6_0_2:notes">
            <a:extLst>
              <a:ext uri="{FF2B5EF4-FFF2-40B4-BE49-F238E27FC236}">
                <a16:creationId xmlns:a16="http://schemas.microsoft.com/office/drawing/2014/main" id="{F77A2C2F-F2B3-8266-07A2-2AC890B5C4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06167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867D4AD1-5F5F-0F22-7B78-5F9BD6D3F462}"/>
            </a:ext>
          </a:extLst>
        </p:cNvPr>
        <p:cNvGrpSpPr/>
        <p:nvPr/>
      </p:nvGrpSpPr>
      <p:grpSpPr>
        <a:xfrm>
          <a:off x="0" y="0"/>
          <a:ext cx="0" cy="0"/>
          <a:chOff x="0" y="0"/>
          <a:chExt cx="0" cy="0"/>
        </a:xfrm>
      </p:grpSpPr>
      <p:sp>
        <p:nvSpPr>
          <p:cNvPr id="135" name="Google Shape;135;g3d66bfd4ad8_0_228:notes">
            <a:extLst>
              <a:ext uri="{FF2B5EF4-FFF2-40B4-BE49-F238E27FC236}">
                <a16:creationId xmlns:a16="http://schemas.microsoft.com/office/drawing/2014/main" id="{03B6B733-BE95-FE6D-03FF-C209939C2A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d66bfd4ad8_0_228:notes">
            <a:extLst>
              <a:ext uri="{FF2B5EF4-FFF2-40B4-BE49-F238E27FC236}">
                <a16:creationId xmlns:a16="http://schemas.microsoft.com/office/drawing/2014/main" id="{9368E854-9A55-41D6-2D02-91A2A9C24A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77128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B7019E1E-09D3-ACF4-B7DC-4A3158F74728}"/>
            </a:ext>
          </a:extLst>
        </p:cNvPr>
        <p:cNvGrpSpPr/>
        <p:nvPr/>
      </p:nvGrpSpPr>
      <p:grpSpPr>
        <a:xfrm>
          <a:off x="0" y="0"/>
          <a:ext cx="0" cy="0"/>
          <a:chOff x="0" y="0"/>
          <a:chExt cx="0" cy="0"/>
        </a:xfrm>
      </p:grpSpPr>
      <p:sp>
        <p:nvSpPr>
          <p:cNvPr id="135" name="Google Shape;135;g3d66bfd4ad8_0_228:notes">
            <a:extLst>
              <a:ext uri="{FF2B5EF4-FFF2-40B4-BE49-F238E27FC236}">
                <a16:creationId xmlns:a16="http://schemas.microsoft.com/office/drawing/2014/main" id="{4666ABF4-DC2E-C9A1-9C54-68B4B420C1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d66bfd4ad8_0_228:notes">
            <a:extLst>
              <a:ext uri="{FF2B5EF4-FFF2-40B4-BE49-F238E27FC236}">
                <a16:creationId xmlns:a16="http://schemas.microsoft.com/office/drawing/2014/main" id="{A5F23B43-A638-8224-973D-1593964311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03969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d66bfd4ad8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d66bfd4ad8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332C243D-3107-88B8-1BBF-30269211F9B3}"/>
            </a:ext>
          </a:extLst>
        </p:cNvPr>
        <p:cNvGrpSpPr/>
        <p:nvPr/>
      </p:nvGrpSpPr>
      <p:grpSpPr>
        <a:xfrm>
          <a:off x="0" y="0"/>
          <a:ext cx="0" cy="0"/>
          <a:chOff x="0" y="0"/>
          <a:chExt cx="0" cy="0"/>
        </a:xfrm>
      </p:grpSpPr>
      <p:sp>
        <p:nvSpPr>
          <p:cNvPr id="135" name="Google Shape;135;g3d66bfd4ad8_0_228:notes">
            <a:extLst>
              <a:ext uri="{FF2B5EF4-FFF2-40B4-BE49-F238E27FC236}">
                <a16:creationId xmlns:a16="http://schemas.microsoft.com/office/drawing/2014/main" id="{C2011B78-DA10-FD45-0C49-5D09757B77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d66bfd4ad8_0_228:notes">
            <a:extLst>
              <a:ext uri="{FF2B5EF4-FFF2-40B4-BE49-F238E27FC236}">
                <a16:creationId xmlns:a16="http://schemas.microsoft.com/office/drawing/2014/main" id="{30CAF308-E82E-37D9-5EA0-2D01283C68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04252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762199B-1555-237C-1B22-075407EA01B6}"/>
            </a:ext>
          </a:extLst>
        </p:cNvPr>
        <p:cNvGrpSpPr/>
        <p:nvPr/>
      </p:nvGrpSpPr>
      <p:grpSpPr>
        <a:xfrm>
          <a:off x="0" y="0"/>
          <a:ext cx="0" cy="0"/>
          <a:chOff x="0" y="0"/>
          <a:chExt cx="0" cy="0"/>
        </a:xfrm>
      </p:grpSpPr>
      <p:sp>
        <p:nvSpPr>
          <p:cNvPr id="58" name="Google Shape;58;g3d5130463b6_0_2:notes">
            <a:extLst>
              <a:ext uri="{FF2B5EF4-FFF2-40B4-BE49-F238E27FC236}">
                <a16:creationId xmlns:a16="http://schemas.microsoft.com/office/drawing/2014/main" id="{7C00599F-4DB0-7FC7-567C-8BE1BE8BCF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d5130463b6_0_2:notes">
            <a:extLst>
              <a:ext uri="{FF2B5EF4-FFF2-40B4-BE49-F238E27FC236}">
                <a16:creationId xmlns:a16="http://schemas.microsoft.com/office/drawing/2014/main" id="{903A9DC9-7E0E-F1CE-2C26-2DD871D5F7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26501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d66bfd4ad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d66bfd4ad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FPKM (Fragments Per Kilobase of transcript per Million mapped reads) is </a:t>
            </a:r>
            <a:r>
              <a:rPr lang="en-US" dirty="0"/>
              <a:t>an RNA-seq normalization method for quantifying gene expression by accounting for sequencing depth and gene length.</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Microarray studies use high-throughput technology to analyze thousands of genes, DNA sequences, or RNA transcripts simultaneously by binding them to a solid surface (chip). These studies measure gene expression (RNA) or detect genetic variations like copy number variants (CNVs). </a:t>
            </a:r>
          </a:p>
          <a:p>
            <a:pPr marL="0" lvl="0" indent="0" algn="l" rtl="0">
              <a:spcBef>
                <a:spcPts val="0"/>
              </a:spcBef>
              <a:spcAft>
                <a:spcPts val="0"/>
              </a:spcAft>
              <a:buNone/>
            </a:pPr>
            <a:endParaRPr lang="en-US" dirty="0"/>
          </a:p>
          <a:p>
            <a:r>
              <a:rPr lang="en-US" dirty="0"/>
              <a:t>This slide shows the overall workflow used in the paper by Himes et al. The study focused on identifying genes in primary human airway smooth muscle cells that respond to glucocorticoid treatment. </a:t>
            </a:r>
          </a:p>
          <a:p>
            <a:r>
              <a:rPr lang="en-US" dirty="0"/>
              <a:t>The first step was RNA-seq preprocessing and quality control. This is to check whether the sequencing data were usable by using quality-control tools such as FastQC</a:t>
            </a:r>
          </a:p>
          <a:p>
            <a:r>
              <a:rPr lang="en-US" dirty="0"/>
              <a:t>The second step was read alignment and expression quantification. After trimming, reads were aligned to the hg19 reference genome using </a:t>
            </a:r>
            <a:r>
              <a:rPr lang="en-US" dirty="0" err="1"/>
              <a:t>TopHat</a:t>
            </a:r>
            <a:r>
              <a:rPr lang="en-US" dirty="0"/>
              <a:t>, and expression levels were quantified with Cufflinks. Differential expression between dexamethasone-treated and untreated samples was then tested using </a:t>
            </a:r>
            <a:r>
              <a:rPr lang="en-US" dirty="0" err="1"/>
              <a:t>Cuffdiff</a:t>
            </a:r>
            <a:r>
              <a:rPr lang="en-US" dirty="0"/>
              <a:t>, with </a:t>
            </a:r>
            <a:r>
              <a:rPr lang="en-US" dirty="0" err="1"/>
              <a:t>CummeRbund</a:t>
            </a:r>
            <a:r>
              <a:rPr lang="en-US" dirty="0"/>
              <a:t> used to summarize and plot the results.</a:t>
            </a:r>
          </a:p>
          <a:p>
            <a:r>
              <a:rPr lang="en-US" dirty="0"/>
              <a:t>The third step was differential expression and functional enrichment analysis. The authors identified 316 genes that were significantly differentially expressed after Benjamini-Hochberg false-discovery-rate correction. These included known glucocorticoid-responsive genes such as DUSP1, FKBP5, KLF15, PER1, and TSC22D3, as well as less-studied genes such as CRISPLD2. They then used DAVID to identify enriched functional categories among the differentially expressed genes.</a:t>
            </a:r>
          </a:p>
          <a:p>
            <a:r>
              <a:rPr lang="en-US" dirty="0"/>
              <a:t>The fourth step connected the RNA-seq findings to pharmacogenetic GWAS results. The authors examined whether SNPs within or near top differentially expressed genes were associated with asthma drug-response phenotypes,</a:t>
            </a:r>
          </a:p>
          <a:p>
            <a:r>
              <a:rPr lang="en-US" dirty="0"/>
              <a:t>The fifth step used public microarray datasets to check whether the CRISPLD2 finding was supported by previous studies. The authors re-analyzed two public glucocorticoid-treated airway smooth muscle datasets, to confirm the results</a:t>
            </a:r>
          </a:p>
          <a:p>
            <a:r>
              <a:rPr lang="en-US" dirty="0"/>
              <a:t>The final step was biological and regulatory interpretation. The authors focused on CRISPLD2 because it was dexamethasone responsive. Follow-up experiments showed that dexamethasone increased CRISPLD2 mRNA and protein expression, and CRISPLD2 knockdown increased IL1</a:t>
            </a:r>
            <a:r>
              <a:rPr lang="el-GR" dirty="0"/>
              <a:t>β-</a:t>
            </a:r>
            <a:r>
              <a:rPr lang="en-US" dirty="0"/>
              <a:t>induced IL6 and IL8 expression, suggesting that CRISPLD2 may help regulate inflammatory cytokine responses in airway smooth muscle cells.</a:t>
            </a:r>
          </a:p>
          <a:p>
            <a:r>
              <a:rPr lang="en-US" dirty="0"/>
              <a:t>A final interpretation step linked CRISPLD2 to possible regulatory mechanisms. The paper discusses evidence that glucocorticoid receptor binding regions and enhancer-binding protein binding regions may exist near CRISPLD2, This supports the idea that glucocorticoids may regulate CRISPLD2 through nearby regulatory binding regions</a:t>
            </a:r>
          </a:p>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FAA80C5-E0B4-2C57-E9A2-358EDA9E672A}"/>
            </a:ext>
          </a:extLst>
        </p:cNvPr>
        <p:cNvGrpSpPr/>
        <p:nvPr/>
      </p:nvGrpSpPr>
      <p:grpSpPr>
        <a:xfrm>
          <a:off x="0" y="0"/>
          <a:ext cx="0" cy="0"/>
          <a:chOff x="0" y="0"/>
          <a:chExt cx="0" cy="0"/>
        </a:xfrm>
      </p:grpSpPr>
      <p:sp>
        <p:nvSpPr>
          <p:cNvPr id="86" name="Google Shape;86;g3d66bfd4ad8_0_0:notes">
            <a:extLst>
              <a:ext uri="{FF2B5EF4-FFF2-40B4-BE49-F238E27FC236}">
                <a16:creationId xmlns:a16="http://schemas.microsoft.com/office/drawing/2014/main" id="{D7E44A5E-E29B-6108-EF77-61F77A66AB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d66bfd4ad8_0_0:notes">
            <a:extLst>
              <a:ext uri="{FF2B5EF4-FFF2-40B4-BE49-F238E27FC236}">
                <a16:creationId xmlns:a16="http://schemas.microsoft.com/office/drawing/2014/main" id="{F6FAFEDC-6FDF-26B2-021F-20DD07E2FC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69288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Explain the graph……..</a:t>
            </a:r>
          </a:p>
          <a:p>
            <a:r>
              <a:rPr lang="en-US" dirty="0"/>
              <a:t>We removed some extreme value that is not biologically possible and not sure what happen with the actual paper result but most of the expression is capture so we wonder if the top expressional gene are different</a:t>
            </a:r>
          </a:p>
        </p:txBody>
      </p:sp>
    </p:spTree>
    <p:extLst>
      <p:ext uri="{BB962C8B-B14F-4D97-AF65-F5344CB8AC3E}">
        <p14:creationId xmlns:p14="http://schemas.microsoft.com/office/powerpoint/2010/main" val="13080266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8D8F3-13DF-CE86-3621-965A75A70B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D527CF-87C8-89E1-3B4A-DC0C74720AF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5F916E3-2EB3-38DD-6CB4-F3FA943C7B51}"/>
              </a:ext>
            </a:extLst>
          </p:cNvPr>
          <p:cNvSpPr>
            <a:spLocks noGrp="1"/>
          </p:cNvSpPr>
          <p:nvPr>
            <p:ph type="body" idx="1"/>
          </p:nvPr>
        </p:nvSpPr>
        <p:spPr/>
        <p:txBody>
          <a:bodyPr/>
          <a:lstStyle/>
          <a:p>
            <a:r>
              <a:rPr lang="en-US" dirty="0"/>
              <a:t>Explain the table…</a:t>
            </a:r>
          </a:p>
        </p:txBody>
      </p:sp>
    </p:spTree>
    <p:extLst>
      <p:ext uri="{BB962C8B-B14F-4D97-AF65-F5344CB8AC3E}">
        <p14:creationId xmlns:p14="http://schemas.microsoft.com/office/powerpoint/2010/main" val="31339534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5524F-96A2-3AC6-DE44-6959A3F59B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B9EC1-B95D-E41B-B134-3522F7C383A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4195367-9A83-EE62-BFD0-029E8825DA94}"/>
              </a:ext>
            </a:extLst>
          </p:cNvPr>
          <p:cNvSpPr>
            <a:spLocks noGrp="1"/>
          </p:cNvSpPr>
          <p:nvPr>
            <p:ph type="body" idx="1"/>
          </p:nvPr>
        </p:nvSpPr>
        <p:spPr/>
        <p:txBody>
          <a:bodyPr/>
          <a:lstStyle/>
          <a:p>
            <a:r>
              <a:rPr lang="en-US" dirty="0"/>
              <a:t>I think because we clean a data and that might potential mean a smaller finding of top genes. However CRISPLD2 were included in the result, which replicate the conclusion of the paper. However, we should go identify where did the process cause a different in the </a:t>
            </a:r>
            <a:r>
              <a:rPr lang="en-US" dirty="0" err="1"/>
              <a:t>teo</a:t>
            </a:r>
            <a:r>
              <a:rPr lang="en-US" dirty="0"/>
              <a:t> results. Since there is no documentation on pipeline of the analysis. It is hard to tell which part that we do go </a:t>
            </a:r>
            <a:r>
              <a:rPr lang="en-US" dirty="0" err="1"/>
              <a:t>differentky</a:t>
            </a:r>
            <a:r>
              <a:rPr lang="en-US" dirty="0"/>
              <a:t>  than the original data.</a:t>
            </a:r>
          </a:p>
        </p:txBody>
      </p:sp>
    </p:spTree>
    <p:extLst>
      <p:ext uri="{BB962C8B-B14F-4D97-AF65-F5344CB8AC3E}">
        <p14:creationId xmlns:p14="http://schemas.microsoft.com/office/powerpoint/2010/main" val="18631046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d66bfd4ad8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d66bfd4ad8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document that create this pipeline is quite well written. It is more like a tutorial so we are able to replicate 100% of the same result of the plots or DE analysis. The only problem is that the data package only work with some analysis package so we need to work around for this to work. We will focus on this 7 steps, we will explain why it needed for each step before running DE analysis and show a picture of our result in the end. And here is the commands or package use in the different  step…..</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1D4F730-2F80-F790-5E60-14E2B7B23D24}"/>
            </a:ext>
          </a:extLst>
        </p:cNvPr>
        <p:cNvGrpSpPr/>
        <p:nvPr/>
      </p:nvGrpSpPr>
      <p:grpSpPr>
        <a:xfrm>
          <a:off x="0" y="0"/>
          <a:ext cx="0" cy="0"/>
          <a:chOff x="0" y="0"/>
          <a:chExt cx="0" cy="0"/>
        </a:xfrm>
      </p:grpSpPr>
      <p:sp>
        <p:nvSpPr>
          <p:cNvPr id="130" name="Google Shape;130;g3d66bfd4ad8_0_82:notes">
            <a:extLst>
              <a:ext uri="{FF2B5EF4-FFF2-40B4-BE49-F238E27FC236}">
                <a16:creationId xmlns:a16="http://schemas.microsoft.com/office/drawing/2014/main" id="{1F103DB6-C1FB-D7D2-0B3E-F32589E86D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d66bfd4ad8_0_82:notes">
            <a:extLst>
              <a:ext uri="{FF2B5EF4-FFF2-40B4-BE49-F238E27FC236}">
                <a16:creationId xmlns:a16="http://schemas.microsoft.com/office/drawing/2014/main" id="{1BC86490-C67C-2A54-C8FD-0E12885A9B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we will go through each steps why it is important before we do </a:t>
            </a:r>
            <a:r>
              <a:rPr lang="en-US" dirty="0" err="1"/>
              <a:t>RNAseq</a:t>
            </a:r>
            <a:endParaRPr lang="en-US" dirty="0"/>
          </a:p>
          <a:p>
            <a:pPr marL="0" lvl="0" indent="0" algn="l" rtl="0">
              <a:spcBef>
                <a:spcPts val="0"/>
              </a:spcBef>
              <a:spcAft>
                <a:spcPts val="0"/>
              </a:spcAft>
              <a:buNone/>
            </a:pPr>
            <a:r>
              <a:rPr lang="en-US" dirty="0"/>
              <a:t>2. inspect/metadata</a:t>
            </a:r>
          </a:p>
          <a:p>
            <a:pPr marL="0" lvl="0" indent="0" algn="l" rtl="0">
              <a:spcBef>
                <a:spcPts val="0"/>
              </a:spcBef>
              <a:spcAft>
                <a:spcPts val="0"/>
              </a:spcAft>
              <a:buNone/>
            </a:pPr>
            <a:r>
              <a:rPr lang="en-US" dirty="0"/>
              <a:t>This is the first quality check. Before running any model, we need to confirm that the data are correctly structured.</a:t>
            </a:r>
          </a:p>
          <a:p>
            <a:pPr marL="0" lvl="0" indent="0" algn="l" rtl="0">
              <a:spcBef>
                <a:spcPts val="0"/>
              </a:spcBef>
              <a:spcAft>
                <a:spcPts val="0"/>
              </a:spcAft>
              <a:buNone/>
            </a:pPr>
            <a:r>
              <a:rPr lang="en-US" dirty="0"/>
              <a:t>RNA-seq analysis depends on correctly matching the count matrix with sample metadata. If sample labels are wrong, the whole differential expression result becomes unreliable.</a:t>
            </a:r>
          </a:p>
          <a:p>
            <a:pPr marL="0" lvl="0" indent="0" algn="l" rtl="0">
              <a:spcBef>
                <a:spcPts val="0"/>
              </a:spcBef>
              <a:spcAft>
                <a:spcPts val="0"/>
              </a:spcAft>
              <a:buNone/>
            </a:pPr>
            <a:r>
              <a:rPr lang="en-US" dirty="0"/>
              <a:t>3. </a:t>
            </a:r>
            <a:r>
              <a:rPr lang="en-US" dirty="0" err="1"/>
              <a:t>Builf</a:t>
            </a:r>
            <a:r>
              <a:rPr lang="en-US" dirty="0"/>
              <a:t> the DE seq</a:t>
            </a:r>
          </a:p>
          <a:p>
            <a:pPr marL="0" lvl="0" indent="0" algn="l" rtl="0">
              <a:spcBef>
                <a:spcPts val="0"/>
              </a:spcBef>
              <a:spcAft>
                <a:spcPts val="0"/>
              </a:spcAft>
              <a:buNone/>
            </a:pPr>
            <a:r>
              <a:rPr lang="en-US" dirty="0"/>
              <a:t>DESeq2 needs a specific object called a </a:t>
            </a:r>
            <a:r>
              <a:rPr lang="en-US" sz="1100" b="0" i="0" u="none" strike="noStrike" cap="none" dirty="0" err="1">
                <a:solidFill>
                  <a:srgbClr val="000000"/>
                </a:solidFill>
                <a:latin typeface="Arial"/>
                <a:ea typeface="Arial"/>
                <a:cs typeface="Arial"/>
                <a:sym typeface="Arial"/>
              </a:rPr>
              <a:t>DESeqDataSet</a:t>
            </a:r>
            <a:r>
              <a:rPr lang="en-US" dirty="0"/>
              <a:t>. This object connects:</a:t>
            </a:r>
          </a:p>
          <a:p>
            <a:pPr marL="0" lvl="0" indent="0" algn="l" rtl="0">
              <a:spcBef>
                <a:spcPts val="0"/>
              </a:spcBef>
              <a:spcAft>
                <a:spcPts val="0"/>
              </a:spcAft>
              <a:buNone/>
            </a:pPr>
            <a:r>
              <a:rPr lang="en-US" dirty="0"/>
              <a:t>raw counts + sample metadata + statistical design</a:t>
            </a:r>
          </a:p>
          <a:p>
            <a:pPr marL="0" lvl="0" indent="0" algn="l" rtl="0">
              <a:spcBef>
                <a:spcPts val="0"/>
              </a:spcBef>
              <a:spcAft>
                <a:spcPts val="0"/>
              </a:spcAft>
              <a:buNone/>
            </a:pPr>
            <a:r>
              <a:rPr lang="en-US" dirty="0"/>
              <a:t>In order to run analysis</a:t>
            </a:r>
          </a:p>
          <a:p>
            <a:pPr marL="0" lvl="0" indent="0" algn="l" rtl="0">
              <a:spcBef>
                <a:spcPts val="0"/>
              </a:spcBef>
              <a:spcAft>
                <a:spcPts val="0"/>
              </a:spcAft>
              <a:buNone/>
            </a:pPr>
            <a:r>
              <a:rPr lang="en-US" dirty="0"/>
              <a:t>4.</a:t>
            </a:r>
            <a:r>
              <a:rPr lang="en" dirty="0"/>
              <a:t> Variance-stabilizing transformation for visualization</a:t>
            </a:r>
          </a:p>
          <a:p>
            <a:pPr marL="0" lvl="0" indent="0" algn="l" rtl="0">
              <a:spcBef>
                <a:spcPts val="0"/>
              </a:spcBef>
              <a:spcAft>
                <a:spcPts val="0"/>
              </a:spcAft>
              <a:buNone/>
            </a:pPr>
            <a:r>
              <a:rPr lang="en-US" dirty="0"/>
              <a:t>RNA-seq samples often have different sequencing depths. For example:</a:t>
            </a:r>
          </a:p>
          <a:p>
            <a:pPr rtl="0"/>
            <a:r>
              <a:rPr lang="en-US" sz="1100" b="0" i="0" u="none" strike="noStrike" cap="none" dirty="0">
                <a:solidFill>
                  <a:srgbClr val="000000"/>
                </a:solidFill>
                <a:latin typeface="Arial"/>
                <a:ea typeface="Arial"/>
                <a:cs typeface="Arial"/>
                <a:sym typeface="Arial"/>
              </a:rPr>
              <a:t>Sample A: 20 million reads</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Sample B: 35 million reads</a:t>
            </a:r>
          </a:p>
          <a:p>
            <a:pPr marL="158750" indent="0" rtl="0">
              <a:buNone/>
            </a:pPr>
            <a:r>
              <a:rPr lang="en-US" dirty="0"/>
              <a:t>Without normalization, Sample B may look like it has higher expression only because it had more reads.</a:t>
            </a:r>
          </a:p>
          <a:p>
            <a:pPr marL="158750" indent="0">
              <a:buNone/>
            </a:pPr>
            <a:r>
              <a:rPr lang="en-US" dirty="0"/>
              <a:t>Size-factor normalization corrects this technical difference.</a:t>
            </a:r>
          </a:p>
          <a:p>
            <a:pPr marL="158750" indent="0">
              <a:buNone/>
            </a:pPr>
            <a:r>
              <a:rPr lang="en-US" b="1" dirty="0"/>
              <a:t>Why we use </a:t>
            </a:r>
            <a:r>
              <a:rPr lang="en-US" b="1" dirty="0" err="1"/>
              <a:t>rlog</a:t>
            </a:r>
            <a:endParaRPr lang="en-US" dirty="0"/>
          </a:p>
          <a:p>
            <a:pPr marL="158750" indent="0">
              <a:buNone/>
            </a:pPr>
            <a:r>
              <a:rPr lang="en-US" dirty="0"/>
              <a:t>RNA-seq count data are noisy, especially for low-count genes. The </a:t>
            </a:r>
            <a:r>
              <a:rPr lang="en-US" sz="1100" b="0" i="0" u="none" strike="noStrike" cap="none" dirty="0" err="1">
                <a:solidFill>
                  <a:srgbClr val="000000"/>
                </a:solidFill>
                <a:latin typeface="Arial"/>
                <a:ea typeface="Arial"/>
                <a:cs typeface="Arial"/>
                <a:sym typeface="Arial"/>
              </a:rPr>
              <a:t>rlog</a:t>
            </a:r>
            <a:r>
              <a:rPr lang="en-US" sz="1100" b="0" i="0" u="none" strike="noStrike" cap="none" dirty="0">
                <a:solidFill>
                  <a:srgbClr val="000000"/>
                </a:solidFill>
                <a:latin typeface="Arial"/>
                <a:ea typeface="Arial"/>
                <a:cs typeface="Arial"/>
                <a:sym typeface="Arial"/>
              </a:rPr>
              <a:t>()</a:t>
            </a:r>
            <a:r>
              <a:rPr lang="en-US" dirty="0"/>
              <a:t> transformation stabilizes the variance so the data are better suited for visualization</a:t>
            </a:r>
          </a:p>
          <a:p>
            <a:pPr marL="158750" indent="0">
              <a:buNone/>
            </a:pPr>
            <a:endParaRPr lang="en-US" dirty="0"/>
          </a:p>
          <a:p>
            <a:pPr marL="158750" indent="0">
              <a:buNone/>
            </a:pPr>
            <a:r>
              <a:rPr lang="en-US" dirty="0"/>
              <a:t>5. QC</a:t>
            </a:r>
          </a:p>
          <a:p>
            <a:pPr marL="158750" indent="0">
              <a:buNone/>
            </a:pPr>
            <a:r>
              <a:rPr lang="en-US" dirty="0"/>
              <a:t>This step includes the </a:t>
            </a:r>
            <a:r>
              <a:rPr lang="en-US" b="1" dirty="0"/>
              <a:t>sample distance heatmap</a:t>
            </a:r>
            <a:r>
              <a:rPr lang="en-US" dirty="0"/>
              <a:t> and </a:t>
            </a:r>
            <a:r>
              <a:rPr lang="en-US" b="1" dirty="0"/>
              <a:t>PCA plots</a:t>
            </a:r>
            <a:r>
              <a:rPr lang="en-US" dirty="0"/>
              <a:t>.</a:t>
            </a:r>
          </a:p>
          <a:p>
            <a:pPr marL="158750" indent="0">
              <a:buNone/>
            </a:pPr>
            <a:r>
              <a:rPr lang="en-US" dirty="0"/>
              <a:t>The sample distance heatmap shows how similar or different samples are from each other based on their overall gene expression profiles.</a:t>
            </a:r>
          </a:p>
          <a:p>
            <a:pPr marL="158750" indent="0">
              <a:buNone/>
            </a:pPr>
            <a:r>
              <a:rPr lang="en-US" dirty="0"/>
              <a:t>PCA shows the largest sources of variation across all samples.</a:t>
            </a:r>
          </a:p>
          <a:p>
            <a:pPr marL="158750" indent="0">
              <a:buNone/>
            </a:pPr>
            <a:r>
              <a:rPr lang="en-US" dirty="0"/>
              <a:t>We do QC before differential expression analysis because RNA-seq results are only meaningful if the samples and data structure are reliable.</a:t>
            </a:r>
          </a:p>
          <a:p>
            <a:pPr marL="158750" indent="0">
              <a:buNone/>
            </a:pPr>
            <a:r>
              <a:rPr lang="en-US" dirty="0"/>
              <a:t>In this workflow, QC mainly checks whether the samples behave as expected before trusting the DESeq2 results.</a:t>
            </a:r>
          </a:p>
          <a:p>
            <a:pPr marL="158750" indent="0">
              <a:buNone/>
            </a:pPr>
            <a:endParaRPr lang="en-US" dirty="0"/>
          </a:p>
          <a:p>
            <a:pPr marL="158750" indent="0">
              <a:buNone/>
            </a:pPr>
            <a:r>
              <a:rPr lang="en-US" dirty="0"/>
              <a:t>7. DEseq2 analysis</a:t>
            </a:r>
          </a:p>
          <a:p>
            <a:r>
              <a:rPr lang="en-US" dirty="0"/>
              <a:t>This is the main statistical analysis step.</a:t>
            </a:r>
          </a:p>
          <a:p>
            <a:r>
              <a:rPr lang="en-US" sz="1100" b="0" i="0" u="none" strike="noStrike" cap="none" dirty="0" err="1">
                <a:solidFill>
                  <a:srgbClr val="000000"/>
                </a:solidFill>
                <a:latin typeface="Arial"/>
                <a:ea typeface="Arial"/>
                <a:cs typeface="Arial"/>
                <a:sym typeface="Arial"/>
              </a:rPr>
              <a:t>DESeq</a:t>
            </a:r>
            <a:r>
              <a:rPr lang="en-US" sz="1100" b="0" i="0" u="none" strike="noStrike" cap="none" dirty="0">
                <a:solidFill>
                  <a:srgbClr val="000000"/>
                </a:solidFill>
                <a:latin typeface="Arial"/>
                <a:ea typeface="Arial"/>
                <a:cs typeface="Arial"/>
                <a:sym typeface="Arial"/>
              </a:rPr>
              <a:t>()</a:t>
            </a:r>
            <a:r>
              <a:rPr lang="en-US" dirty="0"/>
              <a:t> fits a negative binomial model for each gene. It estimates:</a:t>
            </a:r>
          </a:p>
          <a:p>
            <a:pPr marL="158750" indent="0">
              <a:buNone/>
            </a:pPr>
            <a:r>
              <a:rPr lang="en-US" dirty="0"/>
              <a:t>normalization factors</a:t>
            </a:r>
          </a:p>
          <a:p>
            <a:pPr marL="158750" indent="0">
              <a:buNone/>
            </a:pPr>
            <a:r>
              <a:rPr lang="en-US" dirty="0"/>
              <a:t>dispersion</a:t>
            </a:r>
          </a:p>
          <a:p>
            <a:pPr marL="158750" indent="0">
              <a:buNone/>
            </a:pPr>
            <a:r>
              <a:rPr lang="en-US" dirty="0"/>
              <a:t>log2 fold change</a:t>
            </a:r>
          </a:p>
          <a:p>
            <a:pPr marL="158750" indent="0">
              <a:buNone/>
            </a:pPr>
            <a:r>
              <a:rPr lang="en-US" dirty="0"/>
              <a:t>test statistic</a:t>
            </a:r>
          </a:p>
          <a:p>
            <a:pPr marL="158750" indent="0">
              <a:buNone/>
            </a:pPr>
            <a:r>
              <a:rPr lang="en-US" dirty="0"/>
              <a:t>p-value</a:t>
            </a:r>
          </a:p>
          <a:p>
            <a:pPr marL="158750" indent="0">
              <a:buNone/>
            </a:pPr>
            <a:r>
              <a:rPr lang="en-US" dirty="0"/>
              <a:t>adjusted p-value</a:t>
            </a:r>
          </a:p>
          <a:p>
            <a:pPr marL="158750" indent="0">
              <a:buNone/>
            </a:pPr>
            <a:r>
              <a:rPr lang="en-US" b="1" dirty="0"/>
              <a:t>Why negative binomial?</a:t>
            </a:r>
            <a:endParaRPr lang="en-US" dirty="0"/>
          </a:p>
          <a:p>
            <a:r>
              <a:rPr lang="en-US" dirty="0"/>
              <a:t>RNA-seq data are count data and usually have more variability than a simple Poisson model assumes. The negative binomial model accounts for this extra biological variability.</a:t>
            </a:r>
          </a:p>
          <a:p>
            <a:pPr marL="158750" indent="0">
              <a:buNone/>
            </a:pPr>
            <a:r>
              <a:rPr lang="en-US" dirty="0"/>
              <a:t>This step give life to </a:t>
            </a:r>
          </a:p>
          <a:p>
            <a:pPr marL="158750" indent="0">
              <a:buNone/>
            </a:pPr>
            <a:r>
              <a:rPr lang="en-US" dirty="0"/>
              <a:t>Top gene count plot</a:t>
            </a:r>
          </a:p>
          <a:p>
            <a:pPr marL="158750" indent="0">
              <a:buNone/>
            </a:pPr>
            <a:r>
              <a:rPr lang="en-US" dirty="0"/>
              <a:t>MA plot</a:t>
            </a:r>
          </a:p>
          <a:p>
            <a:pPr marL="158750" indent="0">
              <a:buNone/>
            </a:pPr>
            <a:r>
              <a:rPr lang="en-US" dirty="0"/>
              <a:t>Dispersion plot</a:t>
            </a:r>
          </a:p>
          <a:p>
            <a:pPr marL="158750" indent="0">
              <a:buNone/>
            </a:pPr>
            <a:endParaRPr lang="en-US" dirty="0"/>
          </a:p>
          <a:p>
            <a:pPr marL="158750" indent="0">
              <a:buNone/>
            </a:pPr>
            <a:endParaRPr lang="en-US" dirty="0"/>
          </a:p>
          <a:p>
            <a:pPr marL="158750" indent="0">
              <a:buNone/>
            </a:pPr>
            <a:endParaRPr lang="en-US" dirty="0"/>
          </a:p>
          <a:p>
            <a:pPr marL="158750" indent="0">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5240393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B2477DF7-210C-43AD-CFB7-E62ED39ADF62}"/>
            </a:ext>
          </a:extLst>
        </p:cNvPr>
        <p:cNvGrpSpPr/>
        <p:nvPr/>
      </p:nvGrpSpPr>
      <p:grpSpPr>
        <a:xfrm>
          <a:off x="0" y="0"/>
          <a:ext cx="0" cy="0"/>
          <a:chOff x="0" y="0"/>
          <a:chExt cx="0" cy="0"/>
        </a:xfrm>
      </p:grpSpPr>
      <p:sp>
        <p:nvSpPr>
          <p:cNvPr id="130" name="Google Shape;130;g3d66bfd4ad8_0_82:notes">
            <a:extLst>
              <a:ext uri="{FF2B5EF4-FFF2-40B4-BE49-F238E27FC236}">
                <a16:creationId xmlns:a16="http://schemas.microsoft.com/office/drawing/2014/main" id="{8A68A496-DC03-8BDD-CAFD-600346F306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d66bfd4ad8_0_82:notes">
            <a:extLst>
              <a:ext uri="{FF2B5EF4-FFF2-40B4-BE49-F238E27FC236}">
                <a16:creationId xmlns:a16="http://schemas.microsoft.com/office/drawing/2014/main" id="{478B6FDC-A10F-7D47-A23F-11CCB820D7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Since we successfully recreate all the plots, and we will not have time to go through each of them. here are </a:t>
            </a:r>
            <a:r>
              <a:rPr lang="en-US" b="1" u="sng" dirty="0"/>
              <a:t>the examples </a:t>
            </a:r>
            <a:r>
              <a:rPr lang="en-US" dirty="0"/>
              <a:t>of the plot created by this steps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Have animation… to show plot</a:t>
            </a:r>
          </a:p>
        </p:txBody>
      </p:sp>
    </p:spTree>
    <p:extLst>
      <p:ext uri="{BB962C8B-B14F-4D97-AF65-F5344CB8AC3E}">
        <p14:creationId xmlns:p14="http://schemas.microsoft.com/office/powerpoint/2010/main" val="35827507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d66bfd4ad8_0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d66bfd4ad8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59446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d66bfd4ad8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d66bfd4ad8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66bfd4ad8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66bfd4ad8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d66bfd4ad8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d66bfd4ad8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d66bfd4ad8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3d66bfd4ad8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1.pn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www.ncbi.nlm.nih.gov/pubmed/24926665"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hyperlink" Target="http://www.ncbi.nlm.nih.gov/geo/query/acc.cgi?acc=GSE52778"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Shape 53"/>
        <p:cNvGrpSpPr/>
        <p:nvPr/>
      </p:nvGrpSpPr>
      <p:grpSpPr>
        <a:xfrm>
          <a:off x="0" y="0"/>
          <a:ext cx="0" cy="0"/>
          <a:chOff x="0" y="0"/>
          <a:chExt cx="0" cy="0"/>
        </a:xfrm>
      </p:grpSpPr>
      <p:sp>
        <p:nvSpPr>
          <p:cNvPr id="4" name="Rounded Rectangle 3">
            <a:extLst>
              <a:ext uri="{FF2B5EF4-FFF2-40B4-BE49-F238E27FC236}">
                <a16:creationId xmlns:a16="http://schemas.microsoft.com/office/drawing/2014/main" id="{BDC805F8-A967-4605-BE84-52C0975AD145}"/>
              </a:ext>
            </a:extLst>
          </p:cNvPr>
          <p:cNvSpPr/>
          <p:nvPr/>
        </p:nvSpPr>
        <p:spPr>
          <a:xfrm>
            <a:off x="5200214" y="2114986"/>
            <a:ext cx="3322552" cy="635194"/>
          </a:xfrm>
          <a:prstGeom prst="roundRect">
            <a:avLst/>
          </a:prstGeom>
          <a:solidFill>
            <a:schemeClr val="bg1"/>
          </a:solidFill>
          <a:ln>
            <a:solidFill>
              <a:schemeClr val="accent4">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Google Shape;54;p13"/>
          <p:cNvSpPr txBox="1">
            <a:spLocks noGrp="1"/>
          </p:cNvSpPr>
          <p:nvPr>
            <p:ph type="title"/>
          </p:nvPr>
        </p:nvSpPr>
        <p:spPr>
          <a:xfrm>
            <a:off x="283720" y="1525869"/>
            <a:ext cx="4045200" cy="1812306"/>
          </a:xfrm>
        </p:spPr>
        <p:txBody>
          <a:bodyPr spcFirstLastPara="1" wrap="square" lIns="91425" tIns="91425" rIns="91425" bIns="91425" anchor="b" anchorCtr="0">
            <a:noAutofit/>
          </a:bodyPr>
          <a:lstStyle/>
          <a:p>
            <a:pPr marL="0" lvl="0" indent="0" rtl="0">
              <a:spcBef>
                <a:spcPts val="0"/>
              </a:spcBef>
              <a:spcAft>
                <a:spcPts val="700"/>
              </a:spcAft>
              <a:buNone/>
            </a:pPr>
            <a:r>
              <a:rPr lang="en-US" sz="2000" b="1" dirty="0">
                <a:highlight>
                  <a:srgbClr val="FFFFFF"/>
                </a:highlight>
                <a:latin typeface="Times New Roman" panose="02020603050405020304" pitchFamily="18" charset="0"/>
                <a:cs typeface="Times New Roman" panose="02020603050405020304" pitchFamily="18" charset="0"/>
              </a:rPr>
              <a:t>RNA-Seq Transcriptome Profiling Identifies </a:t>
            </a:r>
            <a:r>
              <a:rPr lang="en-US" sz="2000" b="1" i="1" dirty="0">
                <a:highlight>
                  <a:srgbClr val="FFFFFF"/>
                </a:highlight>
                <a:latin typeface="Times New Roman" panose="02020603050405020304" pitchFamily="18" charset="0"/>
                <a:cs typeface="Times New Roman" panose="02020603050405020304" pitchFamily="18" charset="0"/>
              </a:rPr>
              <a:t>CRISPLD2</a:t>
            </a:r>
            <a:r>
              <a:rPr lang="en-US" sz="2000" b="1" dirty="0">
                <a:highlight>
                  <a:srgbClr val="FFFFFF"/>
                </a:highlight>
                <a:latin typeface="Times New Roman" panose="02020603050405020304" pitchFamily="18" charset="0"/>
                <a:cs typeface="Times New Roman" panose="02020603050405020304" pitchFamily="18" charset="0"/>
              </a:rPr>
              <a:t> as a Glucocorticoid Responsive Gene that Modulates Cytokine Function in Airway Smooth Muscle Cells</a:t>
            </a:r>
            <a:endParaRPr lang="en-US" sz="2000" dirty="0">
              <a:latin typeface="Times New Roman" panose="02020603050405020304" pitchFamily="18" charset="0"/>
              <a:cs typeface="Times New Roman" panose="02020603050405020304" pitchFamily="18" charset="0"/>
            </a:endParaRPr>
          </a:p>
        </p:txBody>
      </p:sp>
      <p:sp>
        <p:nvSpPr>
          <p:cNvPr id="55" name="Google Shape;55;p13"/>
          <p:cNvSpPr txBox="1">
            <a:spLocks noGrp="1"/>
          </p:cNvSpPr>
          <p:nvPr>
            <p:ph type="subTitle" idx="1"/>
          </p:nvPr>
        </p:nvSpPr>
        <p:spPr>
          <a:xfrm>
            <a:off x="215142" y="3755671"/>
            <a:ext cx="4045200" cy="1235100"/>
          </a:xfrm>
        </p:spPr>
        <p:txBody>
          <a:bodyPr spcFirstLastPara="1" wrap="square" lIns="91425" tIns="91425" rIns="91425" bIns="91425" anchor="t" anchorCtr="0">
            <a:normAutofit/>
          </a:bodyPr>
          <a:lstStyle/>
          <a:p>
            <a:pPr marL="0" lvl="0" indent="0" rtl="0">
              <a:spcBef>
                <a:spcPts val="0"/>
              </a:spcBef>
              <a:spcAft>
                <a:spcPts val="600"/>
              </a:spcAft>
              <a:buNone/>
            </a:pPr>
            <a:r>
              <a:rPr lang="en-US" sz="1600" dirty="0">
                <a:latin typeface="Times New Roman" panose="02020603050405020304" pitchFamily="18" charset="0"/>
                <a:cs typeface="Times New Roman" panose="02020603050405020304" pitchFamily="18" charset="0"/>
              </a:rPr>
              <a:t>Veeraya Bamrung, Emma Tran</a:t>
            </a:r>
          </a:p>
        </p:txBody>
      </p:sp>
      <p:sp>
        <p:nvSpPr>
          <p:cNvPr id="56" name="Google Shape;56;p13"/>
          <p:cNvSpPr txBox="1"/>
          <p:nvPr/>
        </p:nvSpPr>
        <p:spPr>
          <a:xfrm>
            <a:off x="4464850" y="584472"/>
            <a:ext cx="4127718" cy="3695100"/>
          </a:xfrm>
          <a:prstGeom prst="rect">
            <a:avLst/>
          </a:prstGeom>
          <a:noFill/>
          <a:ln>
            <a:noFill/>
          </a:ln>
        </p:spPr>
        <p:txBody>
          <a:bodyPr spcFirstLastPara="1" wrap="square" lIns="91425" tIns="91425" rIns="91425" bIns="91425" anchor="ctr" anchorCtr="0">
            <a:normAutofit/>
          </a:bodyPr>
          <a:lstStyle/>
          <a:p>
            <a:pPr marL="114300" lvl="0">
              <a:spcAft>
                <a:spcPts val="600"/>
              </a:spcAft>
              <a:buClr>
                <a:schemeClr val="dk2"/>
              </a:buClr>
              <a:buSzPts val="1800"/>
            </a:pPr>
            <a:r>
              <a:rPr lang="en-US" sz="1800" b="0" i="0" u="none" strike="noStrike" cap="none" dirty="0">
                <a:solidFill>
                  <a:schemeClr val="dk2"/>
                </a:solidFill>
                <a:latin typeface="Times New Roman" panose="02020603050405020304" pitchFamily="18" charset="0"/>
                <a:cs typeface="Times New Roman" panose="02020603050405020304" pitchFamily="18" charset="0"/>
              </a:rPr>
              <a:t>	BCB/EEOB546 Final Project</a:t>
            </a:r>
          </a:p>
        </p:txBody>
      </p:sp>
      <p:sp>
        <p:nvSpPr>
          <p:cNvPr id="2" name="Oval 1">
            <a:extLst>
              <a:ext uri="{FF2B5EF4-FFF2-40B4-BE49-F238E27FC236}">
                <a16:creationId xmlns:a16="http://schemas.microsoft.com/office/drawing/2014/main" id="{2E29D2E9-A570-6B56-1377-53AFE79F9355}"/>
              </a:ext>
            </a:extLst>
          </p:cNvPr>
          <p:cNvSpPr/>
          <p:nvPr/>
        </p:nvSpPr>
        <p:spPr>
          <a:xfrm>
            <a:off x="7672114" y="0"/>
            <a:ext cx="1541687" cy="1396721"/>
          </a:xfrm>
          <a:prstGeom prst="ellipse">
            <a:avLst/>
          </a:prstGeom>
          <a:noFill/>
          <a:ln>
            <a:solidFill>
              <a:schemeClr val="accent4"/>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Oval 2">
            <a:extLst>
              <a:ext uri="{FF2B5EF4-FFF2-40B4-BE49-F238E27FC236}">
                <a16:creationId xmlns:a16="http://schemas.microsoft.com/office/drawing/2014/main" id="{0269EEDB-B92C-12A0-A2CB-6AA2DEE6E668}"/>
              </a:ext>
            </a:extLst>
          </p:cNvPr>
          <p:cNvSpPr/>
          <p:nvPr/>
        </p:nvSpPr>
        <p:spPr>
          <a:xfrm>
            <a:off x="4995193" y="3191788"/>
            <a:ext cx="1798572" cy="1692773"/>
          </a:xfrm>
          <a:prstGeom prst="ellips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D0EFBA4D-1A08-5A39-88EE-330F00F968B9}"/>
              </a:ext>
            </a:extLst>
          </p:cNvPr>
          <p:cNvSpPr/>
          <p:nvPr/>
        </p:nvSpPr>
        <p:spPr>
          <a:xfrm>
            <a:off x="6223844" y="3070878"/>
            <a:ext cx="956281" cy="887996"/>
          </a:xfrm>
          <a:custGeom>
            <a:avLst/>
            <a:gdLst>
              <a:gd name="csX0" fmla="*/ 0 w 956281"/>
              <a:gd name="csY0" fmla="*/ 443998 h 887996"/>
              <a:gd name="csX1" fmla="*/ 478141 w 956281"/>
              <a:gd name="csY1" fmla="*/ 0 h 887996"/>
              <a:gd name="csX2" fmla="*/ 956282 w 956281"/>
              <a:gd name="csY2" fmla="*/ 443998 h 887996"/>
              <a:gd name="csX3" fmla="*/ 478141 w 956281"/>
              <a:gd name="csY3" fmla="*/ 887996 h 887996"/>
              <a:gd name="csX4" fmla="*/ 0 w 956281"/>
              <a:gd name="csY4" fmla="*/ 443998 h 887996"/>
            </a:gdLst>
            <a:ahLst/>
            <a:cxnLst>
              <a:cxn ang="0">
                <a:pos x="csX0" y="csY0"/>
              </a:cxn>
              <a:cxn ang="0">
                <a:pos x="csX1" y="csY1"/>
              </a:cxn>
              <a:cxn ang="0">
                <a:pos x="csX2" y="csY2"/>
              </a:cxn>
              <a:cxn ang="0">
                <a:pos x="csX3" y="csY3"/>
              </a:cxn>
              <a:cxn ang="0">
                <a:pos x="csX4" y="csY4"/>
              </a:cxn>
            </a:cxnLst>
            <a:rect l="l" t="t" r="r" b="b"/>
            <a:pathLst>
              <a:path w="956281" h="887996" fill="none" extrusionOk="0">
                <a:moveTo>
                  <a:pt x="0" y="443998"/>
                </a:moveTo>
                <a:cubicBezTo>
                  <a:pt x="6550" y="199562"/>
                  <a:pt x="234416" y="-41869"/>
                  <a:pt x="478141" y="0"/>
                </a:cubicBezTo>
                <a:cubicBezTo>
                  <a:pt x="685115" y="-8743"/>
                  <a:pt x="913631" y="238941"/>
                  <a:pt x="956282" y="443998"/>
                </a:cubicBezTo>
                <a:cubicBezTo>
                  <a:pt x="951308" y="641773"/>
                  <a:pt x="738357" y="893351"/>
                  <a:pt x="478141" y="887996"/>
                </a:cubicBezTo>
                <a:cubicBezTo>
                  <a:pt x="225376" y="894325"/>
                  <a:pt x="69616" y="705949"/>
                  <a:pt x="0" y="443998"/>
                </a:cubicBezTo>
                <a:close/>
              </a:path>
              <a:path w="956281" h="887996" stroke="0" extrusionOk="0">
                <a:moveTo>
                  <a:pt x="0" y="443998"/>
                </a:moveTo>
                <a:cubicBezTo>
                  <a:pt x="-32304" y="178859"/>
                  <a:pt x="175847" y="14346"/>
                  <a:pt x="478141" y="0"/>
                </a:cubicBezTo>
                <a:cubicBezTo>
                  <a:pt x="789221" y="9897"/>
                  <a:pt x="900095" y="200572"/>
                  <a:pt x="956282" y="443998"/>
                </a:cubicBezTo>
                <a:cubicBezTo>
                  <a:pt x="912674" y="731796"/>
                  <a:pt x="737161" y="915909"/>
                  <a:pt x="478141" y="887996"/>
                </a:cubicBezTo>
                <a:cubicBezTo>
                  <a:pt x="161172" y="859054"/>
                  <a:pt x="43404" y="709950"/>
                  <a:pt x="0" y="443998"/>
                </a:cubicBezTo>
                <a:close/>
              </a:path>
            </a:pathLst>
          </a:custGeom>
          <a:solidFill>
            <a:schemeClr val="bg1"/>
          </a:solidFill>
          <a:ln>
            <a:solidFill>
              <a:schemeClr val="accent4">
                <a:lumMod val="20000"/>
                <a:lumOff val="80000"/>
              </a:schemeClr>
            </a:solidFill>
            <a:extLst>
              <a:ext uri="{C807C97D-BFC1-408E-A445-0C87EB9F89A2}">
                <ask:lineSketchStyleProps xmlns:ask="http://schemas.microsoft.com/office/drawing/2018/sketchyshapes" sd="1219033472">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Shape 60">
          <a:extLst>
            <a:ext uri="{FF2B5EF4-FFF2-40B4-BE49-F238E27FC236}">
              <a16:creationId xmlns:a16="http://schemas.microsoft.com/office/drawing/2014/main" id="{47D3E5CF-5735-7BE7-905A-A6B56C1F1AB0}"/>
            </a:ext>
          </a:extLst>
        </p:cNvPr>
        <p:cNvGrpSpPr/>
        <p:nvPr/>
      </p:nvGrpSpPr>
      <p:grpSpPr>
        <a:xfrm>
          <a:off x="0" y="0"/>
          <a:ext cx="0" cy="0"/>
          <a:chOff x="0" y="0"/>
          <a:chExt cx="0" cy="0"/>
        </a:xfrm>
      </p:grpSpPr>
      <p:sp>
        <p:nvSpPr>
          <p:cNvPr id="17" name="Oval 16">
            <a:extLst>
              <a:ext uri="{FF2B5EF4-FFF2-40B4-BE49-F238E27FC236}">
                <a16:creationId xmlns:a16="http://schemas.microsoft.com/office/drawing/2014/main" id="{28F90971-1483-BE9F-C743-9EDB1B050945}"/>
              </a:ext>
            </a:extLst>
          </p:cNvPr>
          <p:cNvSpPr/>
          <p:nvPr/>
        </p:nvSpPr>
        <p:spPr>
          <a:xfrm>
            <a:off x="2338360" y="3297279"/>
            <a:ext cx="516524" cy="42934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3.</a:t>
            </a:r>
          </a:p>
        </p:txBody>
      </p:sp>
      <p:sp>
        <p:nvSpPr>
          <p:cNvPr id="12" name="Oval 11">
            <a:extLst>
              <a:ext uri="{FF2B5EF4-FFF2-40B4-BE49-F238E27FC236}">
                <a16:creationId xmlns:a16="http://schemas.microsoft.com/office/drawing/2014/main" id="{C37924F4-A639-6913-719C-BB5083F2C202}"/>
              </a:ext>
            </a:extLst>
          </p:cNvPr>
          <p:cNvSpPr/>
          <p:nvPr/>
        </p:nvSpPr>
        <p:spPr>
          <a:xfrm>
            <a:off x="2338360" y="1439689"/>
            <a:ext cx="516524" cy="42934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a:t>
            </a:r>
          </a:p>
        </p:txBody>
      </p:sp>
      <p:sp>
        <p:nvSpPr>
          <p:cNvPr id="2" name="Rounded Rectangle 1">
            <a:extLst>
              <a:ext uri="{FF2B5EF4-FFF2-40B4-BE49-F238E27FC236}">
                <a16:creationId xmlns:a16="http://schemas.microsoft.com/office/drawing/2014/main" id="{7B6BB948-B8D6-DD51-115D-A527DD681A8A}"/>
              </a:ext>
            </a:extLst>
          </p:cNvPr>
          <p:cNvSpPr/>
          <p:nvPr/>
        </p:nvSpPr>
        <p:spPr>
          <a:xfrm>
            <a:off x="2073105" y="445025"/>
            <a:ext cx="5395658" cy="643879"/>
          </a:xfrm>
          <a:prstGeom prst="roundRect">
            <a:avLst/>
          </a:prstGeom>
          <a:solidFill>
            <a:schemeClr val="bg1"/>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1" name="Google Shape;61;p14">
            <a:extLst>
              <a:ext uri="{FF2B5EF4-FFF2-40B4-BE49-F238E27FC236}">
                <a16:creationId xmlns:a16="http://schemas.microsoft.com/office/drawing/2014/main" id="{E4E50714-90F3-1B38-D9A1-764BBCDB129F}"/>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OUTLINE</a:t>
            </a:r>
            <a:endParaRPr dirty="0">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C7B554DD-3445-D21B-E413-32094B8813DC}"/>
              </a:ext>
            </a:extLst>
          </p:cNvPr>
          <p:cNvCxnSpPr>
            <a:cxnSpLocks/>
          </p:cNvCxnSpPr>
          <p:nvPr/>
        </p:nvCxnSpPr>
        <p:spPr>
          <a:xfrm>
            <a:off x="4572000" y="1088904"/>
            <a:ext cx="0" cy="3476116"/>
          </a:xfrm>
          <a:prstGeom prst="line">
            <a:avLst/>
          </a:prstGeom>
          <a:ln w="28575"/>
        </p:spPr>
        <p:style>
          <a:lnRef idx="1">
            <a:schemeClr val="dk1"/>
          </a:lnRef>
          <a:fillRef idx="0">
            <a:schemeClr val="dk1"/>
          </a:fillRef>
          <a:effectRef idx="0">
            <a:schemeClr val="dk1"/>
          </a:effectRef>
          <a:fontRef idx="minor">
            <a:schemeClr val="tx1"/>
          </a:fontRef>
        </p:style>
      </p:cxnSp>
      <p:sp>
        <p:nvSpPr>
          <p:cNvPr id="6" name="Rounded Rectangle 5">
            <a:extLst>
              <a:ext uri="{FF2B5EF4-FFF2-40B4-BE49-F238E27FC236}">
                <a16:creationId xmlns:a16="http://schemas.microsoft.com/office/drawing/2014/main" id="{C2DD33DB-F65D-CC36-3223-3162CBE94AD4}"/>
              </a:ext>
            </a:extLst>
          </p:cNvPr>
          <p:cNvSpPr/>
          <p:nvPr/>
        </p:nvSpPr>
        <p:spPr>
          <a:xfrm>
            <a:off x="2743204" y="1560125"/>
            <a:ext cx="3804175" cy="314107"/>
          </a:xfrm>
          <a:prstGeom prst="roundRect">
            <a:avLst/>
          </a:prstGeom>
          <a:solidFill>
            <a:schemeClr val="accent2">
              <a:lumMod val="10000"/>
              <a:lumOff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Background on the biological question being investigated</a:t>
            </a:r>
            <a:endParaRPr kumimoji="0" lang="en-US" sz="1200" b="0" i="0" u="none" strike="noStrike" kern="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7" name="Rounded Rectangle 6">
            <a:extLst>
              <a:ext uri="{FF2B5EF4-FFF2-40B4-BE49-F238E27FC236}">
                <a16:creationId xmlns:a16="http://schemas.microsoft.com/office/drawing/2014/main" id="{933EDFB1-932F-29BD-2E32-6FAD288B3C26}"/>
              </a:ext>
            </a:extLst>
          </p:cNvPr>
          <p:cNvSpPr/>
          <p:nvPr/>
        </p:nvSpPr>
        <p:spPr>
          <a:xfrm>
            <a:off x="2743204" y="2376925"/>
            <a:ext cx="3804175" cy="314107"/>
          </a:xfrm>
          <a:prstGeom prst="roundRect">
            <a:avLst/>
          </a:prstGeom>
          <a:solidFill>
            <a:schemeClr val="accent2">
              <a:lumMod val="10000"/>
              <a:lumOff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An overview of the group's documentation</a:t>
            </a:r>
          </a:p>
        </p:txBody>
      </p:sp>
      <p:sp>
        <p:nvSpPr>
          <p:cNvPr id="8" name="Rounded Rectangle 7">
            <a:extLst>
              <a:ext uri="{FF2B5EF4-FFF2-40B4-BE49-F238E27FC236}">
                <a16:creationId xmlns:a16="http://schemas.microsoft.com/office/drawing/2014/main" id="{D1ED5E10-FB4C-2B99-2E6E-E00978DB1C49}"/>
              </a:ext>
            </a:extLst>
          </p:cNvPr>
          <p:cNvSpPr/>
          <p:nvPr/>
        </p:nvSpPr>
        <p:spPr>
          <a:xfrm>
            <a:off x="2743203" y="3354896"/>
            <a:ext cx="3804175" cy="314107"/>
          </a:xfrm>
          <a:prstGeom prst="roundRect">
            <a:avLst/>
          </a:prstGeom>
          <a:solidFill>
            <a:schemeClr val="accent2">
              <a:lumMod val="10000"/>
              <a:lumOff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 description of the workflow carried out by the group</a:t>
            </a:r>
          </a:p>
        </p:txBody>
      </p:sp>
      <p:sp>
        <p:nvSpPr>
          <p:cNvPr id="9" name="Rounded Rectangle 8">
            <a:extLst>
              <a:ext uri="{FF2B5EF4-FFF2-40B4-BE49-F238E27FC236}">
                <a16:creationId xmlns:a16="http://schemas.microsoft.com/office/drawing/2014/main" id="{3016ADC5-6349-EB3F-2887-08718BFE5A79}"/>
              </a:ext>
            </a:extLst>
          </p:cNvPr>
          <p:cNvSpPr/>
          <p:nvPr/>
        </p:nvSpPr>
        <p:spPr>
          <a:xfrm>
            <a:off x="2743203" y="4379676"/>
            <a:ext cx="3804175" cy="314107"/>
          </a:xfrm>
          <a:prstGeom prst="roundRect">
            <a:avLst/>
          </a:prstGeom>
          <a:solidFill>
            <a:schemeClr val="accent2">
              <a:lumMod val="10000"/>
              <a:lumOff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Presentation of results including comparison to results</a:t>
            </a:r>
            <a:endParaRPr kumimoji="0" lang="en-US" sz="1200" b="0" i="0" u="none" strike="noStrike" kern="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15" name="Oval 14">
            <a:extLst>
              <a:ext uri="{FF2B5EF4-FFF2-40B4-BE49-F238E27FC236}">
                <a16:creationId xmlns:a16="http://schemas.microsoft.com/office/drawing/2014/main" id="{F9D550EE-D9CA-BE27-1441-A31FD38CC82B}"/>
              </a:ext>
            </a:extLst>
          </p:cNvPr>
          <p:cNvSpPr/>
          <p:nvPr/>
        </p:nvSpPr>
        <p:spPr>
          <a:xfrm>
            <a:off x="2338360" y="2183533"/>
            <a:ext cx="516524" cy="42934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a:t>
            </a:r>
          </a:p>
        </p:txBody>
      </p:sp>
      <p:sp>
        <p:nvSpPr>
          <p:cNvPr id="16" name="Oval 15">
            <a:extLst>
              <a:ext uri="{FF2B5EF4-FFF2-40B4-BE49-F238E27FC236}">
                <a16:creationId xmlns:a16="http://schemas.microsoft.com/office/drawing/2014/main" id="{435D869D-05A1-65D7-0881-AB5D80364559}"/>
              </a:ext>
            </a:extLst>
          </p:cNvPr>
          <p:cNvSpPr/>
          <p:nvPr/>
        </p:nvSpPr>
        <p:spPr>
          <a:xfrm>
            <a:off x="2338360" y="4165006"/>
            <a:ext cx="516524" cy="42934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4.</a:t>
            </a:r>
          </a:p>
        </p:txBody>
      </p:sp>
    </p:spTree>
    <p:extLst>
      <p:ext uri="{BB962C8B-B14F-4D97-AF65-F5344CB8AC3E}">
        <p14:creationId xmlns:p14="http://schemas.microsoft.com/office/powerpoint/2010/main" val="3613671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Shape 60"/>
        <p:cNvGrpSpPr/>
        <p:nvPr/>
      </p:nvGrpSpPr>
      <p:grpSpPr>
        <a:xfrm>
          <a:off x="0" y="0"/>
          <a:ext cx="0" cy="0"/>
          <a:chOff x="0" y="0"/>
          <a:chExt cx="0" cy="0"/>
        </a:xfrm>
      </p:grpSpPr>
      <p:sp>
        <p:nvSpPr>
          <p:cNvPr id="17" name="Oval 16">
            <a:extLst>
              <a:ext uri="{FF2B5EF4-FFF2-40B4-BE49-F238E27FC236}">
                <a16:creationId xmlns:a16="http://schemas.microsoft.com/office/drawing/2014/main" id="{455E58F7-BE01-B7AC-CA46-026059BE33F5}"/>
              </a:ext>
            </a:extLst>
          </p:cNvPr>
          <p:cNvSpPr/>
          <p:nvPr/>
        </p:nvSpPr>
        <p:spPr>
          <a:xfrm>
            <a:off x="2338360" y="3297279"/>
            <a:ext cx="516524" cy="42934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3.</a:t>
            </a:r>
          </a:p>
        </p:txBody>
      </p:sp>
      <p:sp>
        <p:nvSpPr>
          <p:cNvPr id="12" name="Oval 11">
            <a:extLst>
              <a:ext uri="{FF2B5EF4-FFF2-40B4-BE49-F238E27FC236}">
                <a16:creationId xmlns:a16="http://schemas.microsoft.com/office/drawing/2014/main" id="{15D50500-4095-DA81-8881-3A919448FA95}"/>
              </a:ext>
            </a:extLst>
          </p:cNvPr>
          <p:cNvSpPr/>
          <p:nvPr/>
        </p:nvSpPr>
        <p:spPr>
          <a:xfrm>
            <a:off x="2338360" y="1439689"/>
            <a:ext cx="516524" cy="42934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1.</a:t>
            </a:r>
          </a:p>
        </p:txBody>
      </p:sp>
      <p:sp>
        <p:nvSpPr>
          <p:cNvPr id="2" name="Rounded Rectangle 1">
            <a:extLst>
              <a:ext uri="{FF2B5EF4-FFF2-40B4-BE49-F238E27FC236}">
                <a16:creationId xmlns:a16="http://schemas.microsoft.com/office/drawing/2014/main" id="{5F86FD69-5E11-E999-E3BD-C842E03C6276}"/>
              </a:ext>
            </a:extLst>
          </p:cNvPr>
          <p:cNvSpPr/>
          <p:nvPr/>
        </p:nvSpPr>
        <p:spPr>
          <a:xfrm>
            <a:off x="2073105" y="445025"/>
            <a:ext cx="5395658" cy="643879"/>
          </a:xfrm>
          <a:prstGeom prst="roundRect">
            <a:avLst/>
          </a:prstGeom>
          <a:solidFill>
            <a:schemeClr val="bg1"/>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1" name="Google Shape;61;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OUTLINE</a:t>
            </a:r>
            <a:endParaRPr dirty="0">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ADDFD2ED-2D37-4F3C-E800-D821CB22AED1}"/>
              </a:ext>
            </a:extLst>
          </p:cNvPr>
          <p:cNvCxnSpPr>
            <a:cxnSpLocks/>
          </p:cNvCxnSpPr>
          <p:nvPr/>
        </p:nvCxnSpPr>
        <p:spPr>
          <a:xfrm>
            <a:off x="4572000" y="1088904"/>
            <a:ext cx="0" cy="3476116"/>
          </a:xfrm>
          <a:prstGeom prst="line">
            <a:avLst/>
          </a:prstGeom>
          <a:ln w="28575"/>
        </p:spPr>
        <p:style>
          <a:lnRef idx="1">
            <a:schemeClr val="dk1"/>
          </a:lnRef>
          <a:fillRef idx="0">
            <a:schemeClr val="dk1"/>
          </a:fillRef>
          <a:effectRef idx="0">
            <a:schemeClr val="dk1"/>
          </a:effectRef>
          <a:fontRef idx="minor">
            <a:schemeClr val="tx1"/>
          </a:fontRef>
        </p:style>
      </p:cxnSp>
      <p:sp>
        <p:nvSpPr>
          <p:cNvPr id="6" name="Rounded Rectangle 5">
            <a:extLst>
              <a:ext uri="{FF2B5EF4-FFF2-40B4-BE49-F238E27FC236}">
                <a16:creationId xmlns:a16="http://schemas.microsoft.com/office/drawing/2014/main" id="{DF5C296E-1DDD-E3B4-ABF3-1695A22E363A}"/>
              </a:ext>
            </a:extLst>
          </p:cNvPr>
          <p:cNvSpPr/>
          <p:nvPr/>
        </p:nvSpPr>
        <p:spPr>
          <a:xfrm>
            <a:off x="2743204" y="1560125"/>
            <a:ext cx="3804175" cy="314107"/>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 sz="1200" dirty="0">
                <a:solidFill>
                  <a:schemeClr val="dk1"/>
                </a:solidFill>
                <a:latin typeface="Times New Roman" panose="02020603050405020304" pitchFamily="18" charset="0"/>
                <a:cs typeface="Times New Roman" panose="02020603050405020304" pitchFamily="18" charset="0"/>
              </a:rPr>
              <a:t>Background on the biological question being investigated</a:t>
            </a:r>
            <a:endParaRPr lang="en-US" sz="1200" dirty="0">
              <a:latin typeface="Times New Roman" panose="02020603050405020304" pitchFamily="18" charset="0"/>
              <a:cs typeface="Times New Roman" panose="02020603050405020304" pitchFamily="18" charset="0"/>
            </a:endParaRPr>
          </a:p>
        </p:txBody>
      </p:sp>
      <p:sp>
        <p:nvSpPr>
          <p:cNvPr id="7" name="Rounded Rectangle 6">
            <a:extLst>
              <a:ext uri="{FF2B5EF4-FFF2-40B4-BE49-F238E27FC236}">
                <a16:creationId xmlns:a16="http://schemas.microsoft.com/office/drawing/2014/main" id="{F54F9656-794E-2752-B772-3BA7700D96B3}"/>
              </a:ext>
            </a:extLst>
          </p:cNvPr>
          <p:cNvSpPr/>
          <p:nvPr/>
        </p:nvSpPr>
        <p:spPr>
          <a:xfrm>
            <a:off x="2743204" y="2376925"/>
            <a:ext cx="3804175" cy="314107"/>
          </a:xfrm>
          <a:prstGeom prst="roundRect">
            <a:avLst/>
          </a:prstGeom>
          <a:solidFill>
            <a:schemeClr val="accent2">
              <a:lumMod val="10000"/>
              <a:lumOff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An overview of the group's documentation</a:t>
            </a:r>
          </a:p>
        </p:txBody>
      </p:sp>
      <p:sp>
        <p:nvSpPr>
          <p:cNvPr id="8" name="Rounded Rectangle 7">
            <a:extLst>
              <a:ext uri="{FF2B5EF4-FFF2-40B4-BE49-F238E27FC236}">
                <a16:creationId xmlns:a16="http://schemas.microsoft.com/office/drawing/2014/main" id="{B9F4820E-F18A-A0C9-32B8-B12640FFEAEC}"/>
              </a:ext>
            </a:extLst>
          </p:cNvPr>
          <p:cNvSpPr/>
          <p:nvPr/>
        </p:nvSpPr>
        <p:spPr>
          <a:xfrm>
            <a:off x="2743203" y="3354896"/>
            <a:ext cx="3804175" cy="314107"/>
          </a:xfrm>
          <a:prstGeom prst="roundRect">
            <a:avLst/>
          </a:prstGeom>
          <a:solidFill>
            <a:schemeClr val="accent2">
              <a:lumMod val="10000"/>
              <a:lumOff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Times New Roman" panose="02020603050405020304" pitchFamily="18" charset="0"/>
                <a:cs typeface="Times New Roman" panose="02020603050405020304" pitchFamily="18" charset="0"/>
              </a:rPr>
              <a:t>A description of the workflow carried out by the group</a:t>
            </a:r>
          </a:p>
        </p:txBody>
      </p:sp>
      <p:sp>
        <p:nvSpPr>
          <p:cNvPr id="9" name="Rounded Rectangle 8">
            <a:extLst>
              <a:ext uri="{FF2B5EF4-FFF2-40B4-BE49-F238E27FC236}">
                <a16:creationId xmlns:a16="http://schemas.microsoft.com/office/drawing/2014/main" id="{FCC81580-827C-A002-02F9-734BB093984C}"/>
              </a:ext>
            </a:extLst>
          </p:cNvPr>
          <p:cNvSpPr/>
          <p:nvPr/>
        </p:nvSpPr>
        <p:spPr>
          <a:xfrm>
            <a:off x="2743203" y="4379676"/>
            <a:ext cx="3804175" cy="314107"/>
          </a:xfrm>
          <a:prstGeom prst="roundRect">
            <a:avLst/>
          </a:prstGeom>
          <a:solidFill>
            <a:schemeClr val="accent2">
              <a:lumMod val="10000"/>
              <a:lumOff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 sz="1200" dirty="0">
                <a:solidFill>
                  <a:schemeClr val="dk1"/>
                </a:solidFill>
                <a:latin typeface="Times New Roman" panose="02020603050405020304" pitchFamily="18" charset="0"/>
                <a:cs typeface="Times New Roman" panose="02020603050405020304" pitchFamily="18" charset="0"/>
              </a:rPr>
              <a:t>Presentation of results including comparison to results</a:t>
            </a:r>
            <a:endParaRPr lang="en-US" sz="1200" dirty="0">
              <a:latin typeface="Times New Roman" panose="02020603050405020304" pitchFamily="18" charset="0"/>
              <a:cs typeface="Times New Roman" panose="02020603050405020304" pitchFamily="18" charset="0"/>
            </a:endParaRPr>
          </a:p>
        </p:txBody>
      </p:sp>
      <p:sp>
        <p:nvSpPr>
          <p:cNvPr id="15" name="Oval 14">
            <a:extLst>
              <a:ext uri="{FF2B5EF4-FFF2-40B4-BE49-F238E27FC236}">
                <a16:creationId xmlns:a16="http://schemas.microsoft.com/office/drawing/2014/main" id="{479C9B26-DFAB-5498-310D-980662F7EAEE}"/>
              </a:ext>
            </a:extLst>
          </p:cNvPr>
          <p:cNvSpPr/>
          <p:nvPr/>
        </p:nvSpPr>
        <p:spPr>
          <a:xfrm>
            <a:off x="2338360" y="2183533"/>
            <a:ext cx="516524" cy="42934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2.</a:t>
            </a:r>
          </a:p>
        </p:txBody>
      </p:sp>
      <p:sp>
        <p:nvSpPr>
          <p:cNvPr id="16" name="Oval 15">
            <a:extLst>
              <a:ext uri="{FF2B5EF4-FFF2-40B4-BE49-F238E27FC236}">
                <a16:creationId xmlns:a16="http://schemas.microsoft.com/office/drawing/2014/main" id="{98501A48-BAB0-902A-89B2-CBB5FF399A41}"/>
              </a:ext>
            </a:extLst>
          </p:cNvPr>
          <p:cNvSpPr/>
          <p:nvPr/>
        </p:nvSpPr>
        <p:spPr>
          <a:xfrm>
            <a:off x="2338360" y="4165006"/>
            <a:ext cx="516524" cy="42934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8" name="Rectangle 7">
            <a:extLst>
              <a:ext uri="{FF2B5EF4-FFF2-40B4-BE49-F238E27FC236}">
                <a16:creationId xmlns:a16="http://schemas.microsoft.com/office/drawing/2014/main" id="{3CD02980-E57A-2851-F857-1157F253A60D}"/>
              </a:ext>
            </a:extLst>
          </p:cNvPr>
          <p:cNvSpPr/>
          <p:nvPr/>
        </p:nvSpPr>
        <p:spPr>
          <a:xfrm>
            <a:off x="1948584" y="1083346"/>
            <a:ext cx="6892680" cy="3514165"/>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72;p16">
            <a:extLst>
              <a:ext uri="{FF2B5EF4-FFF2-40B4-BE49-F238E27FC236}">
                <a16:creationId xmlns:a16="http://schemas.microsoft.com/office/drawing/2014/main" id="{F56674EE-6B73-212D-8DF8-614446F914D2}"/>
              </a:ext>
            </a:extLst>
          </p:cNvPr>
          <p:cNvSpPr txBox="1">
            <a:spLocks/>
          </p:cNvSpPr>
          <p:nvPr/>
        </p:nvSpPr>
        <p:spPr>
          <a:xfrm>
            <a:off x="311700" y="384517"/>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nSpc>
                <a:spcPct val="90000"/>
              </a:lnSpc>
              <a:spcAft>
                <a:spcPts val="600"/>
              </a:spcAft>
            </a:pPr>
            <a:r>
              <a:rPr lang="en-US" sz="2200" b="0" i="0" u="none" strike="noStrike" cap="none" dirty="0">
                <a:latin typeface="Times New Roman" panose="02020603050405020304" pitchFamily="18" charset="0"/>
                <a:cs typeface="Times New Roman" panose="02020603050405020304" pitchFamily="18" charset="0"/>
              </a:rPr>
              <a:t>Background</a:t>
            </a:r>
            <a:r>
              <a:rPr lang="en-US" sz="2200" dirty="0">
                <a:latin typeface="Times New Roman" panose="02020603050405020304" pitchFamily="18" charset="0"/>
                <a:cs typeface="Times New Roman" panose="02020603050405020304" pitchFamily="18" charset="0"/>
              </a:rPr>
              <a:t>: What is the question?</a:t>
            </a:r>
            <a:endParaRPr lang="en-US" sz="2200" b="0" i="0" u="none" strike="noStrike" cap="none"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816FCEF8-61F6-3861-7B4E-08343AACA983}"/>
              </a:ext>
            </a:extLst>
          </p:cNvPr>
          <p:cNvPicPr>
            <a:picLocks noChangeAspect="1"/>
          </p:cNvPicPr>
          <p:nvPr/>
        </p:nvPicPr>
        <p:blipFill>
          <a:blip r:embed="rId3"/>
          <a:srcRect l="12597" r="34771"/>
          <a:stretch>
            <a:fillRect/>
          </a:stretch>
        </p:blipFill>
        <p:spPr>
          <a:xfrm>
            <a:off x="311700" y="1208225"/>
            <a:ext cx="1627919" cy="3264408"/>
          </a:xfrm>
          <a:prstGeom prst="rect">
            <a:avLst/>
          </a:prstGeom>
          <a:noFill/>
          <a:ln>
            <a:noFill/>
          </a:ln>
        </p:spPr>
      </p:pic>
      <p:sp>
        <p:nvSpPr>
          <p:cNvPr id="73" name="Google Shape;73;p16"/>
          <p:cNvSpPr txBox="1">
            <a:spLocks noGrp="1"/>
          </p:cNvSpPr>
          <p:nvPr>
            <p:ph type="body" idx="4294967295"/>
          </p:nvPr>
        </p:nvSpPr>
        <p:spPr>
          <a:xfrm>
            <a:off x="2338549" y="2016608"/>
            <a:ext cx="6511680" cy="2456025"/>
          </a:xfrm>
        </p:spPr>
        <p:txBody>
          <a:bodyPr spcFirstLastPara="1" lIns="91425" tIns="91425" rIns="91425" bIns="91425" anchor="t" anchorCtr="0">
            <a:normAutofit/>
          </a:bodyPr>
          <a:lstStyle/>
          <a:p>
            <a:pPr marL="457200" lvl="0" indent="-317500">
              <a:lnSpc>
                <a:spcPct val="105000"/>
              </a:lnSpc>
              <a:spcAft>
                <a:spcPts val="600"/>
              </a:spcAft>
              <a:buClr>
                <a:srgbClr val="000000"/>
              </a:buClr>
              <a:buSzPts val="1400"/>
              <a:buFont typeface="Arial"/>
              <a:buChar char="●"/>
            </a:pPr>
            <a:r>
              <a:rPr lang="en-US" sz="1500" b="0" i="0" u="none" strike="noStrike" cap="none" dirty="0">
                <a:solidFill>
                  <a:schemeClr val="dk1"/>
                </a:solidFill>
                <a:latin typeface="Times New Roman" panose="02020603050405020304" pitchFamily="18" charset="0"/>
                <a:cs typeface="Times New Roman" panose="02020603050405020304" pitchFamily="18" charset="0"/>
              </a:rPr>
              <a:t>The paper examines how dexamethasone changes gene expression in human airway smooth muscle (ASM) cells</a:t>
            </a:r>
          </a:p>
          <a:p>
            <a:pPr marL="457200" lvl="0" indent="-317500">
              <a:lnSpc>
                <a:spcPct val="105000"/>
              </a:lnSpc>
              <a:spcAft>
                <a:spcPts val="600"/>
              </a:spcAft>
              <a:buClr>
                <a:srgbClr val="000000"/>
              </a:buClr>
              <a:buSzPts val="1400"/>
              <a:buFont typeface="Arial"/>
              <a:buChar char="●"/>
            </a:pPr>
            <a:r>
              <a:rPr lang="en-US" sz="1500" b="0" i="0" u="none" strike="noStrike" cap="none" dirty="0">
                <a:solidFill>
                  <a:schemeClr val="dk1"/>
                </a:solidFill>
                <a:latin typeface="Times New Roman" panose="02020603050405020304" pitchFamily="18" charset="0"/>
                <a:cs typeface="Times New Roman" panose="02020603050405020304" pitchFamily="18" charset="0"/>
              </a:rPr>
              <a:t>This matters because glucocorticoids are major asthma therapies, but their anti-inflammatory mechanism in ASM remains unclear</a:t>
            </a:r>
          </a:p>
          <a:p>
            <a:pPr indent="-317500">
              <a:lnSpc>
                <a:spcPct val="105000"/>
              </a:lnSpc>
              <a:spcAft>
                <a:spcPts val="600"/>
              </a:spcAft>
              <a:buClr>
                <a:srgbClr val="000000"/>
              </a:buClr>
              <a:buSzPts val="1400"/>
            </a:pPr>
            <a:r>
              <a:rPr lang="en-US" sz="1500" b="0" i="0" u="none" strike="noStrike" cap="none" dirty="0">
                <a:solidFill>
                  <a:schemeClr val="dk1"/>
                </a:solidFill>
                <a:latin typeface="Times New Roman" panose="02020603050405020304" pitchFamily="18" charset="0"/>
                <a:cs typeface="Times New Roman" panose="02020603050405020304" pitchFamily="18" charset="0"/>
              </a:rPr>
              <a:t>Using bulk RNA-seq, extracted RNA of airway smooth muscle cells from 4 donors were used and cell sample was sequenced the combined RNA </a:t>
            </a:r>
          </a:p>
          <a:p>
            <a:pPr indent="-317500">
              <a:lnSpc>
                <a:spcPct val="105000"/>
              </a:lnSpc>
              <a:spcAft>
                <a:spcPts val="600"/>
              </a:spcAft>
              <a:buClr>
                <a:srgbClr val="000000"/>
              </a:buClr>
              <a:buSzPts val="1400"/>
            </a:pPr>
            <a:r>
              <a:rPr lang="en-US" sz="1500" b="0" i="0" u="none" strike="noStrike" cap="none" dirty="0">
                <a:solidFill>
                  <a:schemeClr val="dk1"/>
                </a:solidFill>
                <a:latin typeface="Times New Roman" panose="02020603050405020304" pitchFamily="18" charset="0"/>
                <a:cs typeface="Times New Roman" panose="02020603050405020304" pitchFamily="18" charset="0"/>
              </a:rPr>
              <a:t>The study identified 316 differentially expressed genes after dexamethasone treatment</a:t>
            </a:r>
          </a:p>
        </p:txBody>
      </p:sp>
      <p:sp>
        <p:nvSpPr>
          <p:cNvPr id="2" name="Rectangle 1">
            <a:extLst>
              <a:ext uri="{FF2B5EF4-FFF2-40B4-BE49-F238E27FC236}">
                <a16:creationId xmlns:a16="http://schemas.microsoft.com/office/drawing/2014/main" id="{A42B081B-C87E-A12F-6F12-5FE9A1EB1F16}"/>
              </a:ext>
            </a:extLst>
          </p:cNvPr>
          <p:cNvSpPr/>
          <p:nvPr/>
        </p:nvSpPr>
        <p:spPr>
          <a:xfrm>
            <a:off x="2338549" y="957217"/>
            <a:ext cx="6175513" cy="933262"/>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latin typeface="Times New Roman" panose="02020603050405020304" pitchFamily="18" charset="0"/>
                <a:cs typeface="Times New Roman" panose="02020603050405020304" pitchFamily="18" charset="0"/>
              </a:rPr>
              <a:t>The core question is “Which genes change in airway smooth muscle cells after dexamethasone treatment?”</a:t>
            </a:r>
          </a:p>
          <a:p>
            <a:pPr algn="ct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6A86F147-B6F1-FD00-4EBA-D5AC421F468D}"/>
            </a:ext>
          </a:extLst>
        </p:cNvPr>
        <p:cNvGrpSpPr/>
        <p:nvPr/>
      </p:nvGrpSpPr>
      <p:grpSpPr>
        <a:xfrm>
          <a:off x="0" y="0"/>
          <a:ext cx="0" cy="0"/>
          <a:chOff x="0" y="0"/>
          <a:chExt cx="0" cy="0"/>
        </a:xfrm>
      </p:grpSpPr>
      <p:pic>
        <p:nvPicPr>
          <p:cNvPr id="35" name="Picture 34">
            <a:extLst>
              <a:ext uri="{FF2B5EF4-FFF2-40B4-BE49-F238E27FC236}">
                <a16:creationId xmlns:a16="http://schemas.microsoft.com/office/drawing/2014/main" id="{084351B5-AE41-770A-C4C3-EEDA4946BE56}"/>
              </a:ext>
            </a:extLst>
          </p:cNvPr>
          <p:cNvPicPr>
            <a:picLocks noChangeAspect="1"/>
          </p:cNvPicPr>
          <p:nvPr/>
        </p:nvPicPr>
        <p:blipFill>
          <a:blip r:embed="rId3"/>
          <a:stretch>
            <a:fillRect/>
          </a:stretch>
        </p:blipFill>
        <p:spPr>
          <a:xfrm>
            <a:off x="985499" y="2000350"/>
            <a:ext cx="722545" cy="452280"/>
          </a:xfrm>
          <a:prstGeom prst="rect">
            <a:avLst/>
          </a:prstGeom>
        </p:spPr>
      </p:pic>
      <p:pic>
        <p:nvPicPr>
          <p:cNvPr id="10" name="Picture 9">
            <a:extLst>
              <a:ext uri="{FF2B5EF4-FFF2-40B4-BE49-F238E27FC236}">
                <a16:creationId xmlns:a16="http://schemas.microsoft.com/office/drawing/2014/main" id="{A8134EE2-4EFA-7399-E888-437CC48C3494}"/>
              </a:ext>
            </a:extLst>
          </p:cNvPr>
          <p:cNvPicPr>
            <a:picLocks noChangeAspect="1"/>
          </p:cNvPicPr>
          <p:nvPr/>
        </p:nvPicPr>
        <p:blipFill>
          <a:blip r:embed="rId4"/>
          <a:stretch>
            <a:fillRect/>
          </a:stretch>
        </p:blipFill>
        <p:spPr>
          <a:xfrm>
            <a:off x="1290917" y="1090988"/>
            <a:ext cx="769756" cy="811505"/>
          </a:xfrm>
          <a:prstGeom prst="rect">
            <a:avLst/>
          </a:prstGeom>
        </p:spPr>
      </p:pic>
      <p:sp>
        <p:nvSpPr>
          <p:cNvPr id="72" name="Google Shape;72;p16">
            <a:extLst>
              <a:ext uri="{FF2B5EF4-FFF2-40B4-BE49-F238E27FC236}">
                <a16:creationId xmlns:a16="http://schemas.microsoft.com/office/drawing/2014/main" id="{BE1610A2-A1F4-8A2B-7430-D0028E97F974}"/>
              </a:ext>
            </a:extLst>
          </p:cNvPr>
          <p:cNvSpPr txBox="1">
            <a:spLocks noGrp="1"/>
          </p:cNvSpPr>
          <p:nvPr>
            <p:ph type="title"/>
          </p:nvPr>
        </p:nvSpPr>
        <p:spPr>
          <a:xfrm>
            <a:off x="374704" y="163692"/>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Background: Bulk RNA-seq to gene identification</a:t>
            </a:r>
            <a:endParaRPr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F67B56A-EB6B-6ADA-3EE0-0BF5808B890E}"/>
              </a:ext>
            </a:extLst>
          </p:cNvPr>
          <p:cNvPicPr>
            <a:picLocks noChangeAspect="1"/>
          </p:cNvPicPr>
          <p:nvPr/>
        </p:nvPicPr>
        <p:blipFill>
          <a:blip r:embed="rId5"/>
          <a:srcRect l="4740" t="1236" r="-4740" b="-428"/>
          <a:stretch>
            <a:fillRect/>
          </a:stretch>
        </p:blipFill>
        <p:spPr>
          <a:xfrm>
            <a:off x="160154" y="1819697"/>
            <a:ext cx="860612" cy="583901"/>
          </a:xfrm>
          <a:prstGeom prst="rect">
            <a:avLst/>
          </a:prstGeom>
        </p:spPr>
      </p:pic>
      <p:cxnSp>
        <p:nvCxnSpPr>
          <p:cNvPr id="14" name="Straight Arrow Connector 13">
            <a:extLst>
              <a:ext uri="{FF2B5EF4-FFF2-40B4-BE49-F238E27FC236}">
                <a16:creationId xmlns:a16="http://schemas.microsoft.com/office/drawing/2014/main" id="{C18D806D-4F95-5134-F804-E3FE8B4CD928}"/>
              </a:ext>
            </a:extLst>
          </p:cNvPr>
          <p:cNvCxnSpPr>
            <a:cxnSpLocks/>
          </p:cNvCxnSpPr>
          <p:nvPr/>
        </p:nvCxnSpPr>
        <p:spPr>
          <a:xfrm flipV="1">
            <a:off x="1675795" y="1496740"/>
            <a:ext cx="870180" cy="5770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0B46ECDF-F0E8-4A94-3A28-55D29CEF1C5A}"/>
              </a:ext>
            </a:extLst>
          </p:cNvPr>
          <p:cNvCxnSpPr>
            <a:cxnSpLocks/>
          </p:cNvCxnSpPr>
          <p:nvPr/>
        </p:nvCxnSpPr>
        <p:spPr>
          <a:xfrm>
            <a:off x="1678814" y="2185848"/>
            <a:ext cx="965773" cy="1514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9BBEC210-ED16-E494-5F9D-2653CD17CE18}"/>
              </a:ext>
            </a:extLst>
          </p:cNvPr>
          <p:cNvSpPr txBox="1"/>
          <p:nvPr/>
        </p:nvSpPr>
        <p:spPr>
          <a:xfrm>
            <a:off x="2402540" y="2557392"/>
            <a:ext cx="2366682"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Non-treatment: Control</a:t>
            </a:r>
          </a:p>
        </p:txBody>
      </p:sp>
      <p:sp>
        <p:nvSpPr>
          <p:cNvPr id="21" name="TextBox 20">
            <a:extLst>
              <a:ext uri="{FF2B5EF4-FFF2-40B4-BE49-F238E27FC236}">
                <a16:creationId xmlns:a16="http://schemas.microsoft.com/office/drawing/2014/main" id="{98478B95-C38E-81EE-BCC0-7CF94ED7F9D5}"/>
              </a:ext>
            </a:extLst>
          </p:cNvPr>
          <p:cNvSpPr txBox="1"/>
          <p:nvPr/>
        </p:nvSpPr>
        <p:spPr>
          <a:xfrm>
            <a:off x="411772" y="4641254"/>
            <a:ext cx="9475694" cy="461665"/>
          </a:xfrm>
          <a:prstGeom prst="rect">
            <a:avLst/>
          </a:prstGeom>
          <a:noFill/>
        </p:spPr>
        <p:txBody>
          <a:bodyPr wrap="square" rtlCol="0">
            <a:spAutoFit/>
          </a:bodyPr>
          <a:lstStyle/>
          <a:p>
            <a:r>
              <a:rPr lang="en-US" sz="800" dirty="0"/>
              <a:t>Reference</a:t>
            </a:r>
          </a:p>
          <a:p>
            <a:r>
              <a:rPr lang="en-US" sz="800" dirty="0"/>
              <a:t>cell lines: https://</a:t>
            </a:r>
            <a:r>
              <a:rPr lang="en-US" sz="800" dirty="0" err="1"/>
              <a:t>www.nature.com</a:t>
            </a:r>
            <a:r>
              <a:rPr lang="en-US" sz="800" dirty="0"/>
              <a:t>/articles/s41467-024-48282-5/figures/1</a:t>
            </a:r>
          </a:p>
          <a:p>
            <a:r>
              <a:rPr lang="en-US" sz="800" dirty="0"/>
              <a:t>SM cells: https://</a:t>
            </a:r>
            <a:r>
              <a:rPr lang="en-US" sz="800" dirty="0" err="1"/>
              <a:t>www.semanticscholar.org</a:t>
            </a:r>
            <a:r>
              <a:rPr lang="en-US" sz="800" dirty="0"/>
              <a:t>/paper/Estimating-airway-smooth-muscle-cell-volume-and-in-Jones-Elliot/7b8acdd93cefe3d2c108f1a76a8085a4b09c98eb</a:t>
            </a:r>
          </a:p>
        </p:txBody>
      </p:sp>
      <p:cxnSp>
        <p:nvCxnSpPr>
          <p:cNvPr id="26" name="Curved Connector 25">
            <a:extLst>
              <a:ext uri="{FF2B5EF4-FFF2-40B4-BE49-F238E27FC236}">
                <a16:creationId xmlns:a16="http://schemas.microsoft.com/office/drawing/2014/main" id="{F669FF7B-BB47-13D6-6EC1-46AF53CD35E8}"/>
              </a:ext>
            </a:extLst>
          </p:cNvPr>
          <p:cNvCxnSpPr>
            <a:cxnSpLocks/>
          </p:cNvCxnSpPr>
          <p:nvPr/>
        </p:nvCxnSpPr>
        <p:spPr>
          <a:xfrm rot="10800000" flipV="1">
            <a:off x="887507" y="1362634"/>
            <a:ext cx="367549" cy="303645"/>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94A34F34-EE67-6BCC-4075-6DF9883D5906}"/>
              </a:ext>
            </a:extLst>
          </p:cNvPr>
          <p:cNvSpPr txBox="1"/>
          <p:nvPr/>
        </p:nvSpPr>
        <p:spPr>
          <a:xfrm>
            <a:off x="672353" y="818904"/>
            <a:ext cx="2590800" cy="246221"/>
          </a:xfrm>
          <a:prstGeom prst="rect">
            <a:avLst/>
          </a:prstGeom>
          <a:noFill/>
        </p:spPr>
        <p:txBody>
          <a:bodyPr wrap="square" rtlCol="0">
            <a:spAutoFit/>
          </a:bodyPr>
          <a:lstStyle/>
          <a:p>
            <a:r>
              <a:rPr lang="en-US" sz="1000" b="1" dirty="0"/>
              <a:t>Airway Smooth Muscle Cells</a:t>
            </a:r>
          </a:p>
        </p:txBody>
      </p:sp>
      <p:sp>
        <p:nvSpPr>
          <p:cNvPr id="29" name="TextBox 28">
            <a:extLst>
              <a:ext uri="{FF2B5EF4-FFF2-40B4-BE49-F238E27FC236}">
                <a16:creationId xmlns:a16="http://schemas.microsoft.com/office/drawing/2014/main" id="{DE26F9D3-F24B-B556-1D17-B5BD8595E7E5}"/>
              </a:ext>
            </a:extLst>
          </p:cNvPr>
          <p:cNvSpPr txBox="1"/>
          <p:nvPr/>
        </p:nvSpPr>
        <p:spPr>
          <a:xfrm>
            <a:off x="470647" y="2462703"/>
            <a:ext cx="1497106" cy="261610"/>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4 donor cell lines</a:t>
            </a:r>
          </a:p>
        </p:txBody>
      </p:sp>
      <p:pic>
        <p:nvPicPr>
          <p:cNvPr id="37" name="Picture 36">
            <a:extLst>
              <a:ext uri="{FF2B5EF4-FFF2-40B4-BE49-F238E27FC236}">
                <a16:creationId xmlns:a16="http://schemas.microsoft.com/office/drawing/2014/main" id="{75EA663F-CA9C-5D20-0A19-06195C638B58}"/>
              </a:ext>
            </a:extLst>
          </p:cNvPr>
          <p:cNvPicPr>
            <a:picLocks noChangeAspect="1"/>
          </p:cNvPicPr>
          <p:nvPr/>
        </p:nvPicPr>
        <p:blipFill>
          <a:blip r:embed="rId6"/>
          <a:stretch>
            <a:fillRect/>
          </a:stretch>
        </p:blipFill>
        <p:spPr>
          <a:xfrm>
            <a:off x="2623759" y="964298"/>
            <a:ext cx="882045" cy="567469"/>
          </a:xfrm>
          <a:prstGeom prst="rect">
            <a:avLst/>
          </a:prstGeom>
        </p:spPr>
      </p:pic>
      <p:pic>
        <p:nvPicPr>
          <p:cNvPr id="40" name="Picture 39">
            <a:extLst>
              <a:ext uri="{FF2B5EF4-FFF2-40B4-BE49-F238E27FC236}">
                <a16:creationId xmlns:a16="http://schemas.microsoft.com/office/drawing/2014/main" id="{0EEFB2FF-CCEA-6FDF-26E1-CE5222454395}"/>
              </a:ext>
            </a:extLst>
          </p:cNvPr>
          <p:cNvPicPr>
            <a:picLocks noChangeAspect="1"/>
          </p:cNvPicPr>
          <p:nvPr/>
        </p:nvPicPr>
        <p:blipFill>
          <a:blip r:embed="rId6"/>
          <a:stretch>
            <a:fillRect/>
          </a:stretch>
        </p:blipFill>
        <p:spPr>
          <a:xfrm>
            <a:off x="2644588" y="1943278"/>
            <a:ext cx="945602" cy="608359"/>
          </a:xfrm>
          <a:prstGeom prst="rect">
            <a:avLst/>
          </a:prstGeom>
        </p:spPr>
      </p:pic>
      <p:cxnSp>
        <p:nvCxnSpPr>
          <p:cNvPr id="44" name="Straight Arrow Connector 43">
            <a:extLst>
              <a:ext uri="{FF2B5EF4-FFF2-40B4-BE49-F238E27FC236}">
                <a16:creationId xmlns:a16="http://schemas.microsoft.com/office/drawing/2014/main" id="{B3035C8E-4624-FB29-399A-3C95DA1C0721}"/>
              </a:ext>
            </a:extLst>
          </p:cNvPr>
          <p:cNvCxnSpPr/>
          <p:nvPr/>
        </p:nvCxnSpPr>
        <p:spPr>
          <a:xfrm>
            <a:off x="4192684" y="1285449"/>
            <a:ext cx="61984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09FA4CFA-A644-2D69-BFF0-A103CD266605}"/>
              </a:ext>
            </a:extLst>
          </p:cNvPr>
          <p:cNvCxnSpPr/>
          <p:nvPr/>
        </p:nvCxnSpPr>
        <p:spPr>
          <a:xfrm>
            <a:off x="4260099" y="2185848"/>
            <a:ext cx="61984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TextBox 47">
            <a:extLst>
              <a:ext uri="{FF2B5EF4-FFF2-40B4-BE49-F238E27FC236}">
                <a16:creationId xmlns:a16="http://schemas.microsoft.com/office/drawing/2014/main" id="{2A1FAC1D-A58C-76BC-FABA-A69D7CF9093D}"/>
              </a:ext>
            </a:extLst>
          </p:cNvPr>
          <p:cNvSpPr txBox="1"/>
          <p:nvPr/>
        </p:nvSpPr>
        <p:spPr>
          <a:xfrm>
            <a:off x="5087405" y="2403598"/>
            <a:ext cx="1398961"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RNA extraction</a:t>
            </a:r>
          </a:p>
        </p:txBody>
      </p:sp>
      <p:pic>
        <p:nvPicPr>
          <p:cNvPr id="49" name="Picture 48">
            <a:extLst>
              <a:ext uri="{FF2B5EF4-FFF2-40B4-BE49-F238E27FC236}">
                <a16:creationId xmlns:a16="http://schemas.microsoft.com/office/drawing/2014/main" id="{6EFC14DA-407A-8262-A672-B0ADC5FFB477}"/>
              </a:ext>
            </a:extLst>
          </p:cNvPr>
          <p:cNvPicPr>
            <a:picLocks noChangeAspect="1"/>
          </p:cNvPicPr>
          <p:nvPr/>
        </p:nvPicPr>
        <p:blipFill>
          <a:blip r:embed="rId7"/>
          <a:srcRect l="16020" r="26780"/>
          <a:stretch>
            <a:fillRect/>
          </a:stretch>
        </p:blipFill>
        <p:spPr>
          <a:xfrm>
            <a:off x="5681942" y="1165809"/>
            <a:ext cx="600769" cy="1142079"/>
          </a:xfrm>
          <a:prstGeom prst="rect">
            <a:avLst/>
          </a:prstGeom>
        </p:spPr>
      </p:pic>
      <p:cxnSp>
        <p:nvCxnSpPr>
          <p:cNvPr id="50" name="Straight Arrow Connector 49">
            <a:extLst>
              <a:ext uri="{FF2B5EF4-FFF2-40B4-BE49-F238E27FC236}">
                <a16:creationId xmlns:a16="http://schemas.microsoft.com/office/drawing/2014/main" id="{8D702494-F883-7D71-0717-0BFCEC340DB9}"/>
              </a:ext>
            </a:extLst>
          </p:cNvPr>
          <p:cNvCxnSpPr/>
          <p:nvPr/>
        </p:nvCxnSpPr>
        <p:spPr>
          <a:xfrm>
            <a:off x="6486366" y="1731840"/>
            <a:ext cx="61984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52" name="Picture 51">
            <a:extLst>
              <a:ext uri="{FF2B5EF4-FFF2-40B4-BE49-F238E27FC236}">
                <a16:creationId xmlns:a16="http://schemas.microsoft.com/office/drawing/2014/main" id="{97895C2F-1DD4-0BEA-1D1B-58EBE2026228}"/>
              </a:ext>
            </a:extLst>
          </p:cNvPr>
          <p:cNvPicPr>
            <a:picLocks noChangeAspect="1"/>
          </p:cNvPicPr>
          <p:nvPr/>
        </p:nvPicPr>
        <p:blipFill>
          <a:blip r:embed="rId8"/>
          <a:srcRect l="3829" t="-945" r="4235" b="18383"/>
          <a:stretch>
            <a:fillRect/>
          </a:stretch>
        </p:blipFill>
        <p:spPr>
          <a:xfrm>
            <a:off x="7277258" y="1586921"/>
            <a:ext cx="1684309" cy="289838"/>
          </a:xfrm>
          <a:prstGeom prst="rect">
            <a:avLst/>
          </a:prstGeom>
        </p:spPr>
      </p:pic>
      <p:sp>
        <p:nvSpPr>
          <p:cNvPr id="53" name="TextBox 52">
            <a:extLst>
              <a:ext uri="{FF2B5EF4-FFF2-40B4-BE49-F238E27FC236}">
                <a16:creationId xmlns:a16="http://schemas.microsoft.com/office/drawing/2014/main" id="{1A92168F-755A-1EBD-9FB0-74D32F82C1EC}"/>
              </a:ext>
            </a:extLst>
          </p:cNvPr>
          <p:cNvSpPr txBox="1"/>
          <p:nvPr/>
        </p:nvSpPr>
        <p:spPr>
          <a:xfrm>
            <a:off x="7496343" y="1947353"/>
            <a:ext cx="1398961" cy="52322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cDNA library synthesis</a:t>
            </a:r>
          </a:p>
        </p:txBody>
      </p:sp>
      <p:cxnSp>
        <p:nvCxnSpPr>
          <p:cNvPr id="54" name="Straight Arrow Connector 53">
            <a:extLst>
              <a:ext uri="{FF2B5EF4-FFF2-40B4-BE49-F238E27FC236}">
                <a16:creationId xmlns:a16="http://schemas.microsoft.com/office/drawing/2014/main" id="{356208BA-9E77-E82E-7A3E-7EE34B020A8E}"/>
              </a:ext>
            </a:extLst>
          </p:cNvPr>
          <p:cNvCxnSpPr>
            <a:cxnSpLocks/>
          </p:cNvCxnSpPr>
          <p:nvPr/>
        </p:nvCxnSpPr>
        <p:spPr>
          <a:xfrm>
            <a:off x="7856165" y="2571750"/>
            <a:ext cx="0" cy="6017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57" name="Picture 56">
            <a:extLst>
              <a:ext uri="{FF2B5EF4-FFF2-40B4-BE49-F238E27FC236}">
                <a16:creationId xmlns:a16="http://schemas.microsoft.com/office/drawing/2014/main" id="{11557875-CA3B-D672-C9AE-0FC6494984A1}"/>
              </a:ext>
            </a:extLst>
          </p:cNvPr>
          <p:cNvPicPr>
            <a:picLocks noChangeAspect="1"/>
          </p:cNvPicPr>
          <p:nvPr/>
        </p:nvPicPr>
        <p:blipFill>
          <a:blip r:embed="rId9"/>
          <a:stretch>
            <a:fillRect/>
          </a:stretch>
        </p:blipFill>
        <p:spPr>
          <a:xfrm>
            <a:off x="7218329" y="3266742"/>
            <a:ext cx="1802165" cy="1501804"/>
          </a:xfrm>
          <a:prstGeom prst="rect">
            <a:avLst/>
          </a:prstGeom>
        </p:spPr>
      </p:pic>
      <p:cxnSp>
        <p:nvCxnSpPr>
          <p:cNvPr id="58" name="Straight Arrow Connector 57">
            <a:extLst>
              <a:ext uri="{FF2B5EF4-FFF2-40B4-BE49-F238E27FC236}">
                <a16:creationId xmlns:a16="http://schemas.microsoft.com/office/drawing/2014/main" id="{A7F33BB3-75BA-6559-81CB-689DE65097CD}"/>
              </a:ext>
            </a:extLst>
          </p:cNvPr>
          <p:cNvCxnSpPr>
            <a:cxnSpLocks/>
          </p:cNvCxnSpPr>
          <p:nvPr/>
        </p:nvCxnSpPr>
        <p:spPr>
          <a:xfrm flipH="1">
            <a:off x="6884181" y="4017644"/>
            <a:ext cx="4809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61" name="Picture 60">
            <a:extLst>
              <a:ext uri="{FF2B5EF4-FFF2-40B4-BE49-F238E27FC236}">
                <a16:creationId xmlns:a16="http://schemas.microsoft.com/office/drawing/2014/main" id="{C694A303-38BB-8C5D-A237-40AD780E3B8F}"/>
              </a:ext>
            </a:extLst>
          </p:cNvPr>
          <p:cNvPicPr>
            <a:picLocks noChangeAspect="1"/>
          </p:cNvPicPr>
          <p:nvPr/>
        </p:nvPicPr>
        <p:blipFill>
          <a:blip r:embed="rId10"/>
          <a:stretch>
            <a:fillRect/>
          </a:stretch>
        </p:blipFill>
        <p:spPr>
          <a:xfrm>
            <a:off x="4502606" y="3704865"/>
            <a:ext cx="2329898" cy="834161"/>
          </a:xfrm>
          <a:prstGeom prst="rect">
            <a:avLst/>
          </a:prstGeom>
        </p:spPr>
      </p:pic>
      <p:sp>
        <p:nvSpPr>
          <p:cNvPr id="62" name="TextBox 61">
            <a:extLst>
              <a:ext uri="{FF2B5EF4-FFF2-40B4-BE49-F238E27FC236}">
                <a16:creationId xmlns:a16="http://schemas.microsoft.com/office/drawing/2014/main" id="{49C079C3-5A22-1804-ADF9-776F9BDC19B6}"/>
              </a:ext>
            </a:extLst>
          </p:cNvPr>
          <p:cNvSpPr txBox="1"/>
          <p:nvPr/>
        </p:nvSpPr>
        <p:spPr>
          <a:xfrm>
            <a:off x="5130634" y="3328456"/>
            <a:ext cx="1698777" cy="307777"/>
          </a:xfrm>
          <a:prstGeom prst="rect">
            <a:avLst/>
          </a:prstGeom>
          <a:noFill/>
        </p:spPr>
        <p:txBody>
          <a:bodyPr wrap="square" rtlCol="0">
            <a:spAutoFit/>
          </a:bodyPr>
          <a:lstStyle/>
          <a:p>
            <a:r>
              <a:rPr lang="en-US" dirty="0"/>
              <a:t>Quality control</a:t>
            </a:r>
          </a:p>
        </p:txBody>
      </p:sp>
      <p:pic>
        <p:nvPicPr>
          <p:cNvPr id="65" name="Picture 64">
            <a:extLst>
              <a:ext uri="{FF2B5EF4-FFF2-40B4-BE49-F238E27FC236}">
                <a16:creationId xmlns:a16="http://schemas.microsoft.com/office/drawing/2014/main" id="{58A67851-1A8A-5DA2-A33F-318E27E8A34A}"/>
              </a:ext>
            </a:extLst>
          </p:cNvPr>
          <p:cNvPicPr>
            <a:picLocks noChangeAspect="1"/>
          </p:cNvPicPr>
          <p:nvPr/>
        </p:nvPicPr>
        <p:blipFill>
          <a:blip r:embed="rId11"/>
          <a:srcRect l="4854" r="21140" b="22914"/>
          <a:stretch>
            <a:fillRect/>
          </a:stretch>
        </p:blipFill>
        <p:spPr>
          <a:xfrm>
            <a:off x="2597051" y="3218948"/>
            <a:ext cx="1698777" cy="1356045"/>
          </a:xfrm>
          <a:prstGeom prst="rect">
            <a:avLst/>
          </a:prstGeom>
        </p:spPr>
      </p:pic>
      <p:sp>
        <p:nvSpPr>
          <p:cNvPr id="66" name="Rectangle 65">
            <a:extLst>
              <a:ext uri="{FF2B5EF4-FFF2-40B4-BE49-F238E27FC236}">
                <a16:creationId xmlns:a16="http://schemas.microsoft.com/office/drawing/2014/main" id="{22F379EE-43FF-EC24-9708-CEA58CE5D40B}"/>
              </a:ext>
            </a:extLst>
          </p:cNvPr>
          <p:cNvSpPr/>
          <p:nvPr/>
        </p:nvSpPr>
        <p:spPr>
          <a:xfrm>
            <a:off x="2548460" y="3326582"/>
            <a:ext cx="384878" cy="429780"/>
          </a:xfrm>
          <a:prstGeom prst="rect">
            <a:avLst/>
          </a:prstGeom>
          <a:solidFill>
            <a:schemeClr val="l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323C3911-6B21-19CC-0A1B-77EEC700935F}"/>
              </a:ext>
            </a:extLst>
          </p:cNvPr>
          <p:cNvSpPr txBox="1"/>
          <p:nvPr/>
        </p:nvSpPr>
        <p:spPr>
          <a:xfrm>
            <a:off x="2881809" y="3040046"/>
            <a:ext cx="2756579" cy="400110"/>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Gene expression profile</a:t>
            </a:r>
          </a:p>
          <a:p>
            <a:r>
              <a:rPr lang="en-US" sz="1000" dirty="0">
                <a:latin typeface="Times New Roman" panose="02020603050405020304" pitchFamily="18" charset="0"/>
                <a:cs typeface="Times New Roman" panose="02020603050405020304" pitchFamily="18" charset="0"/>
              </a:rPr>
              <a:t> DE analysis</a:t>
            </a:r>
          </a:p>
        </p:txBody>
      </p:sp>
      <p:cxnSp>
        <p:nvCxnSpPr>
          <p:cNvPr id="70" name="Straight Arrow Connector 69">
            <a:extLst>
              <a:ext uri="{FF2B5EF4-FFF2-40B4-BE49-F238E27FC236}">
                <a16:creationId xmlns:a16="http://schemas.microsoft.com/office/drawing/2014/main" id="{9ECE874F-A06F-2A11-27B7-230F434956B5}"/>
              </a:ext>
            </a:extLst>
          </p:cNvPr>
          <p:cNvCxnSpPr>
            <a:cxnSpLocks/>
          </p:cNvCxnSpPr>
          <p:nvPr/>
        </p:nvCxnSpPr>
        <p:spPr>
          <a:xfrm flipH="1">
            <a:off x="4089051" y="4007574"/>
            <a:ext cx="4809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Straight Arrow Connector 70">
            <a:extLst>
              <a:ext uri="{FF2B5EF4-FFF2-40B4-BE49-F238E27FC236}">
                <a16:creationId xmlns:a16="http://schemas.microsoft.com/office/drawing/2014/main" id="{2CE5D758-391C-7E35-FCC7-BE9DE6DE445B}"/>
              </a:ext>
            </a:extLst>
          </p:cNvPr>
          <p:cNvCxnSpPr>
            <a:cxnSpLocks/>
          </p:cNvCxnSpPr>
          <p:nvPr/>
        </p:nvCxnSpPr>
        <p:spPr>
          <a:xfrm flipH="1">
            <a:off x="2239177" y="4021254"/>
            <a:ext cx="4809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75" name="Picture 74">
            <a:extLst>
              <a:ext uri="{FF2B5EF4-FFF2-40B4-BE49-F238E27FC236}">
                <a16:creationId xmlns:a16="http://schemas.microsoft.com/office/drawing/2014/main" id="{FCC244E3-8793-DDAF-2BD4-88F7796824A9}"/>
              </a:ext>
            </a:extLst>
          </p:cNvPr>
          <p:cNvPicPr>
            <a:picLocks noChangeAspect="1"/>
          </p:cNvPicPr>
          <p:nvPr/>
        </p:nvPicPr>
        <p:blipFill>
          <a:blip r:embed="rId12"/>
          <a:stretch>
            <a:fillRect/>
          </a:stretch>
        </p:blipFill>
        <p:spPr>
          <a:xfrm>
            <a:off x="576247" y="2996325"/>
            <a:ext cx="1562380" cy="1609905"/>
          </a:xfrm>
          <a:prstGeom prst="rect">
            <a:avLst/>
          </a:prstGeom>
        </p:spPr>
      </p:pic>
      <p:sp>
        <p:nvSpPr>
          <p:cNvPr id="19" name="TextBox 18">
            <a:extLst>
              <a:ext uri="{FF2B5EF4-FFF2-40B4-BE49-F238E27FC236}">
                <a16:creationId xmlns:a16="http://schemas.microsoft.com/office/drawing/2014/main" id="{5AF6E6AD-4436-2D34-1498-D71438D9E1BC}"/>
              </a:ext>
            </a:extLst>
          </p:cNvPr>
          <p:cNvSpPr txBox="1"/>
          <p:nvPr/>
        </p:nvSpPr>
        <p:spPr>
          <a:xfrm>
            <a:off x="2585708" y="1506690"/>
            <a:ext cx="2590801" cy="461665"/>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Treatment: Dexamethasone</a:t>
            </a:r>
          </a:p>
          <a:p>
            <a:r>
              <a:rPr lang="en-US" sz="1200" dirty="0">
                <a:latin typeface="Times New Roman" panose="02020603050405020304" pitchFamily="18" charset="0"/>
                <a:cs typeface="Times New Roman" panose="02020603050405020304" pitchFamily="18" charset="0"/>
              </a:rPr>
              <a:t> (1 µM;18 </a:t>
            </a:r>
            <a:r>
              <a:rPr lang="en-US" sz="1200" dirty="0" err="1">
                <a:latin typeface="Times New Roman" panose="02020603050405020304" pitchFamily="18" charset="0"/>
                <a:cs typeface="Times New Roman" panose="02020603050405020304" pitchFamily="18" charset="0"/>
              </a:rPr>
              <a:t>hrs</a:t>
            </a:r>
            <a:r>
              <a:rPr lang="en-US" sz="12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056403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445025"/>
            <a:ext cx="8204771" cy="572700"/>
          </a:xfrm>
          <a:prstGeom prst="rect">
            <a:avLst/>
          </a:prstGeom>
          <a:solidFill>
            <a:schemeClr val="bg1"/>
          </a:solidFill>
          <a:ln>
            <a:noFill/>
          </a:ln>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Background</a:t>
            </a:r>
            <a:endParaRPr dirty="0">
              <a:latin typeface="Times New Roman" panose="02020603050405020304" pitchFamily="18" charset="0"/>
              <a:cs typeface="Times New Roman" panose="02020603050405020304" pitchFamily="18" charset="0"/>
            </a:endParaRPr>
          </a:p>
        </p:txBody>
      </p:sp>
      <p:sp>
        <p:nvSpPr>
          <p:cNvPr id="79" name="Google Shape;79;p17"/>
          <p:cNvSpPr txBox="1">
            <a:spLocks noGrp="1"/>
          </p:cNvSpPr>
          <p:nvPr>
            <p:ph type="body" idx="1"/>
          </p:nvPr>
        </p:nvSpPr>
        <p:spPr>
          <a:xfrm>
            <a:off x="311700" y="1152475"/>
            <a:ext cx="8204771" cy="3416400"/>
          </a:xfrm>
          <a:prstGeom prst="rect">
            <a:avLst/>
          </a:prstGeom>
          <a:noFill/>
          <a:ln w="28575">
            <a:solidFill>
              <a:schemeClr val="accent4">
                <a:lumMod val="50000"/>
              </a:schemeClr>
            </a:solidFill>
            <a:prstDash val="lgDash"/>
          </a:ln>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1"/>
              </a:buClr>
              <a:buSzPts val="1200"/>
              <a:buChar char="●"/>
            </a:pPr>
            <a:r>
              <a:rPr lang="en" sz="1200" dirty="0">
                <a:solidFill>
                  <a:schemeClr val="dk1"/>
                </a:solidFill>
                <a:latin typeface="Times New Roman" panose="02020603050405020304" pitchFamily="18" charset="0"/>
                <a:cs typeface="Times New Roman" panose="02020603050405020304" pitchFamily="18" charset="0"/>
              </a:rPr>
              <a:t>Our work replicates only </a:t>
            </a:r>
            <a:endParaRPr sz="1200" dirty="0">
              <a:solidFill>
                <a:schemeClr val="dk1"/>
              </a:solidFill>
              <a:latin typeface="Times New Roman" panose="02020603050405020304" pitchFamily="18" charset="0"/>
              <a:cs typeface="Times New Roman" panose="02020603050405020304" pitchFamily="18" charset="0"/>
            </a:endParaRPr>
          </a:p>
          <a:p>
            <a:pPr marL="914400" lvl="1" indent="-304800" algn="l" rtl="0">
              <a:lnSpc>
                <a:spcPct val="115000"/>
              </a:lnSpc>
              <a:spcBef>
                <a:spcPts val="0"/>
              </a:spcBef>
              <a:spcAft>
                <a:spcPts val="0"/>
              </a:spcAft>
              <a:buClr>
                <a:schemeClr val="dk1"/>
              </a:buClr>
              <a:buSzPts val="1200"/>
              <a:buChar char="○"/>
            </a:pPr>
            <a:r>
              <a:rPr lang="en" sz="1200" dirty="0">
                <a:solidFill>
                  <a:schemeClr val="dk1"/>
                </a:solidFill>
                <a:latin typeface="Times New Roman" panose="02020603050405020304" pitchFamily="18" charset="0"/>
                <a:cs typeface="Times New Roman" panose="02020603050405020304" pitchFamily="18" charset="0"/>
              </a:rPr>
              <a:t>the differential expression analysis in R</a:t>
            </a:r>
            <a:endParaRPr sz="1200" dirty="0">
              <a:solidFill>
                <a:schemeClr val="dk1"/>
              </a:solidFill>
              <a:latin typeface="Times New Roman" panose="02020603050405020304" pitchFamily="18" charset="0"/>
              <a:cs typeface="Times New Roman" panose="02020603050405020304" pitchFamily="18" charset="0"/>
            </a:endParaRPr>
          </a:p>
          <a:p>
            <a:pPr marL="914400" lvl="1" indent="-304800" algn="l" rtl="0">
              <a:lnSpc>
                <a:spcPct val="115000"/>
              </a:lnSpc>
              <a:spcBef>
                <a:spcPts val="0"/>
              </a:spcBef>
              <a:spcAft>
                <a:spcPts val="0"/>
              </a:spcAft>
              <a:buClr>
                <a:schemeClr val="dk1"/>
              </a:buClr>
              <a:buSzPts val="1200"/>
              <a:buChar char="○"/>
            </a:pPr>
            <a:r>
              <a:rPr lang="en" sz="1200" dirty="0">
                <a:solidFill>
                  <a:schemeClr val="dk1"/>
                </a:solidFill>
                <a:latin typeface="Times New Roman" panose="02020603050405020304" pitchFamily="18" charset="0"/>
                <a:cs typeface="Times New Roman" panose="02020603050405020304" pitchFamily="18" charset="0"/>
              </a:rPr>
              <a:t>volcano plot portion in R (Figure 1)</a:t>
            </a:r>
            <a:endParaRPr sz="1200" dirty="0">
              <a:solidFill>
                <a:schemeClr val="dk1"/>
              </a:solidFill>
              <a:latin typeface="Times New Roman" panose="02020603050405020304" pitchFamily="18" charset="0"/>
              <a:cs typeface="Times New Roman" panose="02020603050405020304" pitchFamily="18" charset="0"/>
            </a:endParaRPr>
          </a:p>
          <a:p>
            <a:pPr marL="914400" lvl="1" indent="-317500" algn="l" rtl="0">
              <a:lnSpc>
                <a:spcPct val="115000"/>
              </a:lnSpc>
              <a:spcBef>
                <a:spcPts val="0"/>
              </a:spcBef>
              <a:spcAft>
                <a:spcPts val="0"/>
              </a:spcAft>
              <a:buClr>
                <a:schemeClr val="dk1"/>
              </a:buClr>
              <a:buSzPts val="1400"/>
              <a:buChar char="○"/>
            </a:pPr>
            <a:r>
              <a:rPr lang="en" sz="1200" dirty="0">
                <a:solidFill>
                  <a:srgbClr val="202020"/>
                </a:solidFill>
                <a:latin typeface="Times New Roman" panose="02020603050405020304" pitchFamily="18" charset="0"/>
                <a:cs typeface="Times New Roman" panose="02020603050405020304" pitchFamily="18" charset="0"/>
              </a:rPr>
              <a:t>Top (Q-value &lt;6E-10) differentially expressed genes [Table 1]</a:t>
            </a:r>
          </a:p>
          <a:p>
            <a:pPr marL="914400" lvl="1" indent="-317500" algn="l" rtl="0">
              <a:lnSpc>
                <a:spcPct val="115000"/>
              </a:lnSpc>
              <a:spcBef>
                <a:spcPts val="0"/>
              </a:spcBef>
              <a:spcAft>
                <a:spcPts val="0"/>
              </a:spcAft>
              <a:buClr>
                <a:schemeClr val="dk1"/>
              </a:buClr>
              <a:buSzPts val="1400"/>
              <a:buChar char="○"/>
            </a:pPr>
            <a:r>
              <a:rPr lang="en" sz="1200" dirty="0">
                <a:solidFill>
                  <a:srgbClr val="202020"/>
                </a:solidFill>
                <a:latin typeface="Times New Roman" panose="02020603050405020304" pitchFamily="18" charset="0"/>
                <a:cs typeface="Times New Roman" panose="02020603050405020304" pitchFamily="18" charset="0"/>
              </a:rPr>
              <a:t>Workflow of differential expression analysis in a separated documentation [more details]</a:t>
            </a:r>
            <a:endParaRPr sz="1200"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None/>
            </a:pPr>
            <a:r>
              <a:rPr lang="en" sz="1200" dirty="0">
                <a:solidFill>
                  <a:schemeClr val="dk1"/>
                </a:solidFill>
                <a:latin typeface="Times New Roman" panose="02020603050405020304" pitchFamily="18" charset="0"/>
                <a:cs typeface="Times New Roman" panose="02020603050405020304" pitchFamily="18" charset="0"/>
              </a:rPr>
              <a:t>The R pipeline covers:</a:t>
            </a:r>
          </a:p>
          <a:p>
            <a:pPr marL="0" lvl="0" indent="0" algn="l" rtl="0">
              <a:lnSpc>
                <a:spcPct val="115000"/>
              </a:lnSpc>
              <a:spcBef>
                <a:spcPts val="1200"/>
              </a:spcBef>
              <a:spcAft>
                <a:spcPts val="0"/>
              </a:spcAft>
              <a:buNone/>
            </a:pPr>
            <a:endParaRPr lang="en" sz="1200"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None/>
            </a:pPr>
            <a:endParaRPr lang="en" sz="1200" dirty="0">
              <a:solidFill>
                <a:schemeClr val="dk1"/>
              </a:solidFill>
              <a:latin typeface="Times New Roman" panose="02020603050405020304" pitchFamily="18" charset="0"/>
              <a:cs typeface="Times New Roman" panose="02020603050405020304" pitchFamily="18" charset="0"/>
            </a:endParaRPr>
          </a:p>
          <a:p>
            <a:pPr lvl="0" indent="-304800">
              <a:lnSpc>
                <a:spcPct val="100000"/>
              </a:lnSpc>
              <a:buClr>
                <a:schemeClr val="dk1"/>
              </a:buClr>
              <a:buSzPts val="1200"/>
            </a:pPr>
            <a:r>
              <a:rPr lang="en" sz="1200" dirty="0">
                <a:solidFill>
                  <a:schemeClr val="dk1"/>
                </a:solidFill>
                <a:latin typeface="Times New Roman" panose="02020603050405020304" pitchFamily="18" charset="0"/>
                <a:cs typeface="Times New Roman" panose="02020603050405020304" pitchFamily="18" charset="0"/>
              </a:rPr>
              <a:t>Obtain </a:t>
            </a:r>
            <a:r>
              <a:rPr lang="en-US" sz="1200" dirty="0">
                <a:solidFill>
                  <a:schemeClr val="dk1"/>
                </a:solidFill>
                <a:latin typeface="Times New Roman" panose="02020603050405020304" pitchFamily="18" charset="0"/>
                <a:cs typeface="Times New Roman" panose="02020603050405020304" pitchFamily="18" charset="0"/>
              </a:rPr>
              <a:t>GEO processed files</a:t>
            </a:r>
            <a:endParaRPr lang="en" sz="1200" dirty="0">
              <a:solidFill>
                <a:schemeClr val="dk1"/>
              </a:solidFill>
              <a:latin typeface="Times New Roman" panose="02020603050405020304" pitchFamily="18" charset="0"/>
              <a:cs typeface="Times New Roman" panose="02020603050405020304" pitchFamily="18" charset="0"/>
            </a:endParaRPr>
          </a:p>
          <a:p>
            <a:pPr lvl="0" indent="-304800">
              <a:lnSpc>
                <a:spcPct val="100000"/>
              </a:lnSpc>
              <a:buClr>
                <a:schemeClr val="dk1"/>
              </a:buClr>
              <a:buSzPts val="1200"/>
            </a:pPr>
            <a:r>
              <a:rPr lang="en" sz="1200" dirty="0">
                <a:solidFill>
                  <a:schemeClr val="dk1"/>
                </a:solidFill>
                <a:latin typeface="Times New Roman" panose="02020603050405020304" pitchFamily="18" charset="0"/>
                <a:cs typeface="Times New Roman" panose="02020603050405020304" pitchFamily="18" charset="0"/>
              </a:rPr>
              <a:t>Read the datasets</a:t>
            </a:r>
          </a:p>
          <a:p>
            <a:pPr lvl="0" indent="-304800">
              <a:lnSpc>
                <a:spcPct val="100000"/>
              </a:lnSpc>
              <a:buClr>
                <a:schemeClr val="dk1"/>
              </a:buClr>
              <a:buSzPts val="1200"/>
            </a:pPr>
            <a:r>
              <a:rPr lang="en" sz="1200" dirty="0">
                <a:solidFill>
                  <a:schemeClr val="dk1"/>
                </a:solidFill>
                <a:latin typeface="Times New Roman" panose="02020603050405020304" pitchFamily="18" charset="0"/>
                <a:cs typeface="Times New Roman" panose="02020603050405020304" pitchFamily="18" charset="0"/>
              </a:rPr>
              <a:t>Create variables to match column information</a:t>
            </a:r>
          </a:p>
          <a:p>
            <a:pPr lvl="0" indent="-304800">
              <a:lnSpc>
                <a:spcPct val="100000"/>
              </a:lnSpc>
              <a:buClr>
                <a:schemeClr val="dk1"/>
              </a:buClr>
              <a:buSzPts val="1200"/>
            </a:pPr>
            <a:r>
              <a:rPr lang="en-US" sz="1200" dirty="0">
                <a:solidFill>
                  <a:schemeClr val="dk1"/>
                </a:solidFill>
                <a:latin typeface="Times New Roman" panose="02020603050405020304" pitchFamily="18" charset="0"/>
                <a:cs typeface="Times New Roman" panose="02020603050405020304" pitchFamily="18" charset="0"/>
              </a:rPr>
              <a:t>Figure 1A: Volcano plot replication</a:t>
            </a:r>
          </a:p>
          <a:p>
            <a:pPr lvl="0" indent="-304800">
              <a:lnSpc>
                <a:spcPct val="100000"/>
              </a:lnSpc>
              <a:buClr>
                <a:schemeClr val="dk1"/>
              </a:buClr>
              <a:buSzPts val="1200"/>
            </a:pPr>
            <a:r>
              <a:rPr lang="en-US" sz="1200" dirty="0">
                <a:solidFill>
                  <a:schemeClr val="dk1"/>
                </a:solidFill>
                <a:latin typeface="Times New Roman" panose="02020603050405020304" pitchFamily="18" charset="0"/>
                <a:cs typeface="Times New Roman" panose="02020603050405020304" pitchFamily="18" charset="0"/>
              </a:rPr>
              <a:t>Table 1 replication</a:t>
            </a:r>
          </a:p>
        </p:txBody>
      </p:sp>
      <p:sp>
        <p:nvSpPr>
          <p:cNvPr id="2" name="TextBox 1">
            <a:extLst>
              <a:ext uri="{FF2B5EF4-FFF2-40B4-BE49-F238E27FC236}">
                <a16:creationId xmlns:a16="http://schemas.microsoft.com/office/drawing/2014/main" id="{7479189F-A160-29D0-7E26-9E44DB4CF465}"/>
              </a:ext>
            </a:extLst>
          </p:cNvPr>
          <p:cNvSpPr txBox="1"/>
          <p:nvPr/>
        </p:nvSpPr>
        <p:spPr>
          <a:xfrm>
            <a:off x="4993340" y="3147281"/>
            <a:ext cx="4392706" cy="1551194"/>
          </a:xfrm>
          <a:prstGeom prst="rect">
            <a:avLst/>
          </a:prstGeom>
          <a:noFill/>
        </p:spPr>
        <p:txBody>
          <a:bodyPr wrap="square" rtlCol="0">
            <a:spAutoFit/>
          </a:bodyPr>
          <a:lstStyle/>
          <a:p>
            <a:pPr marL="457200" lvl="0" indent="-304800">
              <a:lnSpc>
                <a:spcPct val="115000"/>
              </a:lnSpc>
              <a:spcBef>
                <a:spcPts val="1200"/>
              </a:spcBef>
              <a:buClr>
                <a:schemeClr val="dk1"/>
              </a:buClr>
              <a:buSzPts val="1200"/>
              <a:buChar char="●"/>
            </a:pPr>
            <a:r>
              <a:rPr lang="en-US" sz="1200" dirty="0">
                <a:solidFill>
                  <a:schemeClr val="dk1"/>
                </a:solidFill>
                <a:latin typeface="Times New Roman" panose="02020603050405020304" pitchFamily="18" charset="0"/>
                <a:cs typeface="Times New Roman" panose="02020603050405020304" pitchFamily="18" charset="0"/>
              </a:rPr>
              <a:t>Loading the prepared dataset</a:t>
            </a:r>
          </a:p>
          <a:p>
            <a:pPr marL="457200" lvl="0" indent="-304800">
              <a:lnSpc>
                <a:spcPct val="115000"/>
              </a:lnSpc>
              <a:buClr>
                <a:schemeClr val="dk1"/>
              </a:buClr>
              <a:buSzPts val="1200"/>
              <a:buChar char="●"/>
            </a:pPr>
            <a:r>
              <a:rPr lang="en-US" sz="1200" dirty="0">
                <a:solidFill>
                  <a:schemeClr val="dk1"/>
                </a:solidFill>
                <a:latin typeface="Times New Roman" panose="02020603050405020304" pitchFamily="18" charset="0"/>
                <a:cs typeface="Times New Roman" panose="02020603050405020304" pitchFamily="18" charset="0"/>
              </a:rPr>
              <a:t>Setting up the model ~ cell + </a:t>
            </a:r>
            <a:r>
              <a:rPr lang="en-US" sz="1200" dirty="0" err="1">
                <a:solidFill>
                  <a:schemeClr val="dk1"/>
                </a:solidFill>
                <a:latin typeface="Times New Roman" panose="02020603050405020304" pitchFamily="18" charset="0"/>
                <a:cs typeface="Times New Roman" panose="02020603050405020304" pitchFamily="18" charset="0"/>
              </a:rPr>
              <a:t>dex</a:t>
            </a:r>
            <a:r>
              <a:rPr lang="en-US" sz="1200" dirty="0">
                <a:solidFill>
                  <a:schemeClr val="dk1"/>
                </a:solidFill>
                <a:latin typeface="Times New Roman" panose="02020603050405020304" pitchFamily="18" charset="0"/>
                <a:cs typeface="Times New Roman" panose="02020603050405020304" pitchFamily="18" charset="0"/>
              </a:rPr>
              <a:t>,</a:t>
            </a:r>
          </a:p>
          <a:p>
            <a:pPr marL="457200" lvl="0" indent="-304800">
              <a:lnSpc>
                <a:spcPct val="115000"/>
              </a:lnSpc>
              <a:buClr>
                <a:schemeClr val="dk1"/>
              </a:buClr>
              <a:buSzPts val="1200"/>
              <a:buChar char="●"/>
            </a:pPr>
            <a:r>
              <a:rPr lang="en-US" sz="1200" dirty="0">
                <a:solidFill>
                  <a:schemeClr val="dk1"/>
                </a:solidFill>
                <a:latin typeface="Times New Roman" panose="02020603050405020304" pitchFamily="18" charset="0"/>
                <a:cs typeface="Times New Roman" panose="02020603050405020304" pitchFamily="18" charset="0"/>
              </a:rPr>
              <a:t>PCA and sample-distance visualization,</a:t>
            </a:r>
          </a:p>
          <a:p>
            <a:pPr marL="457200" lvl="0" indent="-304800">
              <a:lnSpc>
                <a:spcPct val="115000"/>
              </a:lnSpc>
              <a:buClr>
                <a:schemeClr val="dk1"/>
              </a:buClr>
              <a:buSzPts val="1200"/>
              <a:buChar char="●"/>
            </a:pPr>
            <a:r>
              <a:rPr lang="en-US" sz="1200" dirty="0">
                <a:solidFill>
                  <a:schemeClr val="dk1"/>
                </a:solidFill>
                <a:latin typeface="Times New Roman" panose="02020603050405020304" pitchFamily="18" charset="0"/>
                <a:cs typeface="Times New Roman" panose="02020603050405020304" pitchFamily="18" charset="0"/>
              </a:rPr>
              <a:t>Differential expression testing with DESeq2</a:t>
            </a:r>
          </a:p>
          <a:p>
            <a:pPr marL="457200" lvl="0" indent="-304800">
              <a:lnSpc>
                <a:spcPct val="115000"/>
              </a:lnSpc>
              <a:buClr>
                <a:schemeClr val="dk1"/>
              </a:buClr>
              <a:buSzPts val="1200"/>
              <a:buChar char="●"/>
            </a:pPr>
            <a:r>
              <a:rPr lang="en-US" sz="1200" dirty="0">
                <a:solidFill>
                  <a:schemeClr val="dk1"/>
                </a:solidFill>
                <a:latin typeface="Times New Roman" panose="02020603050405020304" pitchFamily="18" charset="0"/>
                <a:cs typeface="Times New Roman" panose="02020603050405020304" pitchFamily="18" charset="0"/>
              </a:rPr>
              <a:t>Significance filtering</a:t>
            </a:r>
          </a:p>
          <a:p>
            <a:pPr marL="457200" lvl="0" indent="-304800">
              <a:lnSpc>
                <a:spcPct val="115000"/>
              </a:lnSpc>
              <a:buClr>
                <a:schemeClr val="dk1"/>
              </a:buClr>
              <a:buSzPts val="1200"/>
              <a:buChar char="●"/>
            </a:pPr>
            <a:r>
              <a:rPr lang="en-US" sz="1200" dirty="0">
                <a:solidFill>
                  <a:schemeClr val="dk1"/>
                </a:solidFill>
                <a:latin typeface="Times New Roman" panose="02020603050405020304" pitchFamily="18" charset="0"/>
                <a:cs typeface="Times New Roman" panose="02020603050405020304" pitchFamily="18" charset="0"/>
              </a:rPr>
              <a:t>Annotation of the data</a:t>
            </a:r>
          </a:p>
          <a:p>
            <a:endParaRPr lang="en-US" sz="12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A341935-DC3D-B30D-8EA4-D3ED8AFFC1C3}"/>
              </a:ext>
            </a:extLst>
          </p:cNvPr>
          <p:cNvSpPr/>
          <p:nvPr/>
        </p:nvSpPr>
        <p:spPr>
          <a:xfrm>
            <a:off x="627529" y="2806622"/>
            <a:ext cx="1595717" cy="3406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Actual paper</a:t>
            </a:r>
          </a:p>
        </p:txBody>
      </p:sp>
      <p:sp>
        <p:nvSpPr>
          <p:cNvPr id="4" name="Rectangle 3">
            <a:extLst>
              <a:ext uri="{FF2B5EF4-FFF2-40B4-BE49-F238E27FC236}">
                <a16:creationId xmlns:a16="http://schemas.microsoft.com/office/drawing/2014/main" id="{FCACDCBF-3239-05E7-B2FD-0CF9378D3D7E}"/>
              </a:ext>
            </a:extLst>
          </p:cNvPr>
          <p:cNvSpPr/>
          <p:nvPr/>
        </p:nvSpPr>
        <p:spPr>
          <a:xfrm>
            <a:off x="5217458" y="2806622"/>
            <a:ext cx="1595717" cy="3406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Detailed workflow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Shape 60">
          <a:extLst>
            <a:ext uri="{FF2B5EF4-FFF2-40B4-BE49-F238E27FC236}">
              <a16:creationId xmlns:a16="http://schemas.microsoft.com/office/drawing/2014/main" id="{1A1869BF-1B7D-CCC0-D117-9CBD2C6C6A2F}"/>
            </a:ext>
          </a:extLst>
        </p:cNvPr>
        <p:cNvGrpSpPr/>
        <p:nvPr/>
      </p:nvGrpSpPr>
      <p:grpSpPr>
        <a:xfrm>
          <a:off x="0" y="0"/>
          <a:ext cx="0" cy="0"/>
          <a:chOff x="0" y="0"/>
          <a:chExt cx="0" cy="0"/>
        </a:xfrm>
      </p:grpSpPr>
      <p:sp>
        <p:nvSpPr>
          <p:cNvPr id="17" name="Oval 16">
            <a:extLst>
              <a:ext uri="{FF2B5EF4-FFF2-40B4-BE49-F238E27FC236}">
                <a16:creationId xmlns:a16="http://schemas.microsoft.com/office/drawing/2014/main" id="{ECFC1EFE-8DC7-032E-CF08-039F371EE9A3}"/>
              </a:ext>
            </a:extLst>
          </p:cNvPr>
          <p:cNvSpPr/>
          <p:nvPr/>
        </p:nvSpPr>
        <p:spPr>
          <a:xfrm>
            <a:off x="2338360" y="3297279"/>
            <a:ext cx="516524" cy="42934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3.</a:t>
            </a:r>
          </a:p>
        </p:txBody>
      </p:sp>
      <p:sp>
        <p:nvSpPr>
          <p:cNvPr id="12" name="Oval 11">
            <a:extLst>
              <a:ext uri="{FF2B5EF4-FFF2-40B4-BE49-F238E27FC236}">
                <a16:creationId xmlns:a16="http://schemas.microsoft.com/office/drawing/2014/main" id="{2CB19FA2-C76D-920A-85EB-95F03AB56464}"/>
              </a:ext>
            </a:extLst>
          </p:cNvPr>
          <p:cNvSpPr/>
          <p:nvPr/>
        </p:nvSpPr>
        <p:spPr>
          <a:xfrm>
            <a:off x="2338360" y="1439689"/>
            <a:ext cx="516524" cy="42934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a:t>
            </a:r>
          </a:p>
        </p:txBody>
      </p:sp>
      <p:sp>
        <p:nvSpPr>
          <p:cNvPr id="2" name="Rounded Rectangle 1">
            <a:extLst>
              <a:ext uri="{FF2B5EF4-FFF2-40B4-BE49-F238E27FC236}">
                <a16:creationId xmlns:a16="http://schemas.microsoft.com/office/drawing/2014/main" id="{1B262B39-C4EB-002A-81DC-22A6A4B99BAC}"/>
              </a:ext>
            </a:extLst>
          </p:cNvPr>
          <p:cNvSpPr/>
          <p:nvPr/>
        </p:nvSpPr>
        <p:spPr>
          <a:xfrm>
            <a:off x="2073105" y="445025"/>
            <a:ext cx="5395658" cy="643879"/>
          </a:xfrm>
          <a:prstGeom prst="roundRect">
            <a:avLst/>
          </a:prstGeom>
          <a:solidFill>
            <a:schemeClr val="bg1"/>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1" name="Google Shape;61;p14">
            <a:extLst>
              <a:ext uri="{FF2B5EF4-FFF2-40B4-BE49-F238E27FC236}">
                <a16:creationId xmlns:a16="http://schemas.microsoft.com/office/drawing/2014/main" id="{2E9D0478-8CAA-56E5-9138-2AD6909853D2}"/>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OUTLINE</a:t>
            </a:r>
            <a:endParaRPr dirty="0">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BAE6A14F-E8A0-8BAD-D51A-0CAAC418D210}"/>
              </a:ext>
            </a:extLst>
          </p:cNvPr>
          <p:cNvCxnSpPr>
            <a:cxnSpLocks/>
          </p:cNvCxnSpPr>
          <p:nvPr/>
        </p:nvCxnSpPr>
        <p:spPr>
          <a:xfrm>
            <a:off x="4572000" y="1088904"/>
            <a:ext cx="0" cy="3476116"/>
          </a:xfrm>
          <a:prstGeom prst="line">
            <a:avLst/>
          </a:prstGeom>
          <a:ln w="28575"/>
        </p:spPr>
        <p:style>
          <a:lnRef idx="1">
            <a:schemeClr val="dk1"/>
          </a:lnRef>
          <a:fillRef idx="0">
            <a:schemeClr val="dk1"/>
          </a:fillRef>
          <a:effectRef idx="0">
            <a:schemeClr val="dk1"/>
          </a:effectRef>
          <a:fontRef idx="minor">
            <a:schemeClr val="tx1"/>
          </a:fontRef>
        </p:style>
      </p:cxnSp>
      <p:sp>
        <p:nvSpPr>
          <p:cNvPr id="6" name="Rounded Rectangle 5">
            <a:extLst>
              <a:ext uri="{FF2B5EF4-FFF2-40B4-BE49-F238E27FC236}">
                <a16:creationId xmlns:a16="http://schemas.microsoft.com/office/drawing/2014/main" id="{EF3B8066-6B0C-D2DE-B49C-1275CE580B28}"/>
              </a:ext>
            </a:extLst>
          </p:cNvPr>
          <p:cNvSpPr/>
          <p:nvPr/>
        </p:nvSpPr>
        <p:spPr>
          <a:xfrm>
            <a:off x="2743204" y="1560125"/>
            <a:ext cx="3804175" cy="314107"/>
          </a:xfrm>
          <a:prstGeom prst="roundRect">
            <a:avLst/>
          </a:prstGeom>
          <a:solidFill>
            <a:schemeClr val="accent2">
              <a:lumMod val="10000"/>
              <a:lumOff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Background on the biological question being investigated</a:t>
            </a:r>
            <a:endParaRPr kumimoji="0" lang="en-US" sz="1200" b="0" i="0" u="none" strike="noStrike" kern="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7" name="Rounded Rectangle 6">
            <a:extLst>
              <a:ext uri="{FF2B5EF4-FFF2-40B4-BE49-F238E27FC236}">
                <a16:creationId xmlns:a16="http://schemas.microsoft.com/office/drawing/2014/main" id="{1827CDD4-0016-A1C5-EC24-EEBCAC2E6A3A}"/>
              </a:ext>
            </a:extLst>
          </p:cNvPr>
          <p:cNvSpPr/>
          <p:nvPr/>
        </p:nvSpPr>
        <p:spPr>
          <a:xfrm>
            <a:off x="2743204" y="2376925"/>
            <a:ext cx="3804175" cy="314107"/>
          </a:xfrm>
          <a:prstGeom prst="roundRect">
            <a:avLst/>
          </a:prstGeom>
          <a:solidFill>
            <a:srgbClr val="77CBE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An overview of the group's documentation</a:t>
            </a:r>
          </a:p>
        </p:txBody>
      </p:sp>
      <p:sp>
        <p:nvSpPr>
          <p:cNvPr id="8" name="Rounded Rectangle 7">
            <a:extLst>
              <a:ext uri="{FF2B5EF4-FFF2-40B4-BE49-F238E27FC236}">
                <a16:creationId xmlns:a16="http://schemas.microsoft.com/office/drawing/2014/main" id="{EBCEECE8-665C-FA79-2A3B-EEEBDFD87978}"/>
              </a:ext>
            </a:extLst>
          </p:cNvPr>
          <p:cNvSpPr/>
          <p:nvPr/>
        </p:nvSpPr>
        <p:spPr>
          <a:xfrm>
            <a:off x="2743203" y="3354896"/>
            <a:ext cx="3804175" cy="314107"/>
          </a:xfrm>
          <a:prstGeom prst="roundRect">
            <a:avLst/>
          </a:prstGeom>
          <a:solidFill>
            <a:schemeClr val="accent2">
              <a:lumMod val="10000"/>
              <a:lumOff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 description of the workflow carried out by the group</a:t>
            </a:r>
          </a:p>
        </p:txBody>
      </p:sp>
      <p:sp>
        <p:nvSpPr>
          <p:cNvPr id="9" name="Rounded Rectangle 8">
            <a:extLst>
              <a:ext uri="{FF2B5EF4-FFF2-40B4-BE49-F238E27FC236}">
                <a16:creationId xmlns:a16="http://schemas.microsoft.com/office/drawing/2014/main" id="{4FB5B2C7-0327-7330-0784-6B607D5CA991}"/>
              </a:ext>
            </a:extLst>
          </p:cNvPr>
          <p:cNvSpPr/>
          <p:nvPr/>
        </p:nvSpPr>
        <p:spPr>
          <a:xfrm>
            <a:off x="2743203" y="4379676"/>
            <a:ext cx="3804175" cy="314107"/>
          </a:xfrm>
          <a:prstGeom prst="roundRect">
            <a:avLst/>
          </a:prstGeom>
          <a:solidFill>
            <a:schemeClr val="accent2">
              <a:lumMod val="10000"/>
              <a:lumOff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Presentation of results including comparison to results</a:t>
            </a:r>
            <a:endParaRPr kumimoji="0" lang="en-US" sz="1200" b="0" i="0" u="none" strike="noStrike" kern="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15" name="Oval 14">
            <a:extLst>
              <a:ext uri="{FF2B5EF4-FFF2-40B4-BE49-F238E27FC236}">
                <a16:creationId xmlns:a16="http://schemas.microsoft.com/office/drawing/2014/main" id="{D315619B-4780-C4A5-5483-F09C19C2E424}"/>
              </a:ext>
            </a:extLst>
          </p:cNvPr>
          <p:cNvSpPr/>
          <p:nvPr/>
        </p:nvSpPr>
        <p:spPr>
          <a:xfrm>
            <a:off x="2338360" y="2183533"/>
            <a:ext cx="516524" cy="42934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a:t>
            </a:r>
          </a:p>
        </p:txBody>
      </p:sp>
      <p:sp>
        <p:nvSpPr>
          <p:cNvPr id="16" name="Oval 15">
            <a:extLst>
              <a:ext uri="{FF2B5EF4-FFF2-40B4-BE49-F238E27FC236}">
                <a16:creationId xmlns:a16="http://schemas.microsoft.com/office/drawing/2014/main" id="{09E0A92A-798C-4ADC-1BE6-700EB22FCC9C}"/>
              </a:ext>
            </a:extLst>
          </p:cNvPr>
          <p:cNvSpPr/>
          <p:nvPr/>
        </p:nvSpPr>
        <p:spPr>
          <a:xfrm>
            <a:off x="2338360" y="4165006"/>
            <a:ext cx="516524" cy="42934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4.</a:t>
            </a:r>
          </a:p>
        </p:txBody>
      </p:sp>
    </p:spTree>
    <p:extLst>
      <p:ext uri="{BB962C8B-B14F-4D97-AF65-F5344CB8AC3E}">
        <p14:creationId xmlns:p14="http://schemas.microsoft.com/office/powerpoint/2010/main" val="3644692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a:extLst>
            <a:ext uri="{FF2B5EF4-FFF2-40B4-BE49-F238E27FC236}">
              <a16:creationId xmlns:a16="http://schemas.microsoft.com/office/drawing/2014/main" id="{B35D353B-7BAB-EC5A-B26F-7F24B74EEB8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7D483DF-B42D-DBB6-7CCC-3430A115900E}"/>
              </a:ext>
            </a:extLst>
          </p:cNvPr>
          <p:cNvSpPr/>
          <p:nvPr/>
        </p:nvSpPr>
        <p:spPr>
          <a:xfrm>
            <a:off x="302736" y="268939"/>
            <a:ext cx="3112818" cy="657362"/>
          </a:xfrm>
          <a:prstGeom prst="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lumMod val="95000"/>
                    <a:lumOff val="5000"/>
                  </a:schemeClr>
                </a:solidFill>
                <a:latin typeface="Arial" panose="020B0604020202020204" pitchFamily="34" charset="0"/>
                <a:cs typeface="Arial" panose="020B0604020202020204" pitchFamily="34" charset="0"/>
              </a:rPr>
              <a:t>Journal Documentation</a:t>
            </a:r>
          </a:p>
        </p:txBody>
      </p:sp>
      <p:pic>
        <p:nvPicPr>
          <p:cNvPr id="10" name="Picture 9">
            <a:extLst>
              <a:ext uri="{FF2B5EF4-FFF2-40B4-BE49-F238E27FC236}">
                <a16:creationId xmlns:a16="http://schemas.microsoft.com/office/drawing/2014/main" id="{C5EE59AF-59FB-0344-42AC-8F604FA3E9DD}"/>
              </a:ext>
            </a:extLst>
          </p:cNvPr>
          <p:cNvPicPr>
            <a:picLocks noChangeAspect="1"/>
          </p:cNvPicPr>
          <p:nvPr/>
        </p:nvPicPr>
        <p:blipFill>
          <a:blip r:embed="rId3"/>
          <a:stretch>
            <a:fillRect/>
          </a:stretch>
        </p:blipFill>
        <p:spPr>
          <a:xfrm>
            <a:off x="352237" y="1258955"/>
            <a:ext cx="6212841" cy="3074505"/>
          </a:xfrm>
          <a:prstGeom prst="rect">
            <a:avLst/>
          </a:prstGeom>
        </p:spPr>
      </p:pic>
      <p:sp>
        <p:nvSpPr>
          <p:cNvPr id="13" name="Rectangle 12">
            <a:extLst>
              <a:ext uri="{FF2B5EF4-FFF2-40B4-BE49-F238E27FC236}">
                <a16:creationId xmlns:a16="http://schemas.microsoft.com/office/drawing/2014/main" id="{C5F9DA1C-DDDE-50C7-E7D0-008F29C47767}"/>
              </a:ext>
            </a:extLst>
          </p:cNvPr>
          <p:cNvSpPr/>
          <p:nvPr/>
        </p:nvSpPr>
        <p:spPr>
          <a:xfrm>
            <a:off x="2213113" y="1987826"/>
            <a:ext cx="1868557" cy="3975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5337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a:extLst>
            <a:ext uri="{FF2B5EF4-FFF2-40B4-BE49-F238E27FC236}">
              <a16:creationId xmlns:a16="http://schemas.microsoft.com/office/drawing/2014/main" id="{025AB9F5-D88B-49ED-9581-FB6DE3B83F50}"/>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587406A-43A2-CF58-CFEB-3304C0A0E70C}"/>
              </a:ext>
            </a:extLst>
          </p:cNvPr>
          <p:cNvSpPr/>
          <p:nvPr/>
        </p:nvSpPr>
        <p:spPr>
          <a:xfrm>
            <a:off x="302736" y="268939"/>
            <a:ext cx="3112818" cy="657362"/>
          </a:xfrm>
          <a:prstGeom prst="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lumMod val="95000"/>
                    <a:lumOff val="5000"/>
                  </a:schemeClr>
                </a:solidFill>
                <a:latin typeface="Arial" panose="020B0604020202020204" pitchFamily="34" charset="0"/>
                <a:cs typeface="Arial" panose="020B0604020202020204" pitchFamily="34" charset="0"/>
              </a:rPr>
              <a:t>Journal Documentation</a:t>
            </a:r>
          </a:p>
        </p:txBody>
      </p:sp>
      <p:pic>
        <p:nvPicPr>
          <p:cNvPr id="2" name="Picture 1">
            <a:extLst>
              <a:ext uri="{FF2B5EF4-FFF2-40B4-BE49-F238E27FC236}">
                <a16:creationId xmlns:a16="http://schemas.microsoft.com/office/drawing/2014/main" id="{713E798C-AE36-29EE-5915-D69F68F7402F}"/>
              </a:ext>
            </a:extLst>
          </p:cNvPr>
          <p:cNvPicPr>
            <a:picLocks noChangeAspect="1"/>
          </p:cNvPicPr>
          <p:nvPr/>
        </p:nvPicPr>
        <p:blipFill>
          <a:blip r:embed="rId3"/>
          <a:stretch>
            <a:fillRect/>
          </a:stretch>
        </p:blipFill>
        <p:spPr>
          <a:xfrm>
            <a:off x="181124" y="1192696"/>
            <a:ext cx="7279850" cy="3345790"/>
          </a:xfrm>
          <a:prstGeom prst="rect">
            <a:avLst/>
          </a:prstGeom>
        </p:spPr>
      </p:pic>
      <p:sp>
        <p:nvSpPr>
          <p:cNvPr id="4" name="Rectangle 3">
            <a:extLst>
              <a:ext uri="{FF2B5EF4-FFF2-40B4-BE49-F238E27FC236}">
                <a16:creationId xmlns:a16="http://schemas.microsoft.com/office/drawing/2014/main" id="{8026FD72-8593-BB2C-DC21-42867F56FE03}"/>
              </a:ext>
            </a:extLst>
          </p:cNvPr>
          <p:cNvSpPr/>
          <p:nvPr/>
        </p:nvSpPr>
        <p:spPr>
          <a:xfrm>
            <a:off x="3829878" y="1722783"/>
            <a:ext cx="1775792" cy="35780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5012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4" name="Rectangle 3">
            <a:extLst>
              <a:ext uri="{FF2B5EF4-FFF2-40B4-BE49-F238E27FC236}">
                <a16:creationId xmlns:a16="http://schemas.microsoft.com/office/drawing/2014/main" id="{A986100E-E212-7F40-9E67-E1E4E8FB5B98}"/>
              </a:ext>
            </a:extLst>
          </p:cNvPr>
          <p:cNvSpPr/>
          <p:nvPr/>
        </p:nvSpPr>
        <p:spPr>
          <a:xfrm>
            <a:off x="302736" y="268939"/>
            <a:ext cx="3112818" cy="657362"/>
          </a:xfrm>
          <a:prstGeom prst="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Google Shape;138;p22"/>
          <p:cNvSpPr txBox="1">
            <a:spLocks noGrp="1"/>
          </p:cNvSpPr>
          <p:nvPr>
            <p:ph type="title"/>
          </p:nvPr>
        </p:nvSpPr>
        <p:spPr>
          <a:xfrm>
            <a:off x="311700" y="1925"/>
            <a:ext cx="8520600" cy="572700"/>
          </a:xfrm>
          <a:prstGeom prst="rect">
            <a:avLst/>
          </a:prstGeom>
        </p:spPr>
        <p:txBody>
          <a:bodyPr spcFirstLastPara="1" wrap="square" lIns="91425" tIns="91425" rIns="91425" bIns="91425" anchor="t" anchorCtr="0">
            <a:noAutofit/>
          </a:bodyPr>
          <a:lstStyle/>
          <a:p>
            <a:pPr marL="0" lvl="0" indent="0" algn="l" rtl="0">
              <a:lnSpc>
                <a:spcPct val="200000"/>
              </a:lnSpc>
              <a:spcBef>
                <a:spcPts val="300"/>
              </a:spcBef>
              <a:spcAft>
                <a:spcPts val="1200"/>
              </a:spcAft>
              <a:buClr>
                <a:schemeClr val="dk1"/>
              </a:buClr>
              <a:buSzPts val="1100"/>
              <a:buFont typeface="Arial"/>
              <a:buNone/>
            </a:pPr>
            <a:r>
              <a:rPr lang="en" sz="2400" dirty="0">
                <a:latin typeface="Times New Roman" panose="02020603050405020304" pitchFamily="18" charset="0"/>
                <a:cs typeface="Times New Roman" panose="02020603050405020304" pitchFamily="18" charset="0"/>
              </a:rPr>
              <a:t>Group's documentation</a:t>
            </a:r>
            <a:endParaRPr sz="2400" dirty="0">
              <a:latin typeface="Times New Roman" panose="02020603050405020304" pitchFamily="18" charset="0"/>
              <a:cs typeface="Times New Roman" panose="02020603050405020304" pitchFamily="18" charset="0"/>
            </a:endParaRPr>
          </a:p>
        </p:txBody>
      </p:sp>
      <p:sp>
        <p:nvSpPr>
          <p:cNvPr id="139" name="Google Shape;139;p22"/>
          <p:cNvSpPr txBox="1">
            <a:spLocks noGrp="1"/>
          </p:cNvSpPr>
          <p:nvPr>
            <p:ph type="body" idx="1"/>
          </p:nvPr>
        </p:nvSpPr>
        <p:spPr>
          <a:xfrm>
            <a:off x="311700" y="1193315"/>
            <a:ext cx="8520600" cy="3416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1018"/>
              <a:buNone/>
            </a:pPr>
            <a:r>
              <a:rPr lang="en-US" sz="1400" dirty="0">
                <a:solidFill>
                  <a:schemeClr val="tx1"/>
                </a:solidFill>
                <a:latin typeface="Times New Roman" panose="02020603050405020304" pitchFamily="18" charset="0"/>
                <a:cs typeface="Times New Roman" panose="02020603050405020304" pitchFamily="18" charset="0"/>
              </a:rPr>
              <a:t>1. Types of Data, Samples, Software, and Other Materials</a:t>
            </a:r>
          </a:p>
          <a:p>
            <a:pPr marL="0" lvl="0" indent="0" algn="l" rtl="0">
              <a:lnSpc>
                <a:spcPct val="95000"/>
              </a:lnSpc>
              <a:spcBef>
                <a:spcPts val="0"/>
              </a:spcBef>
              <a:spcAft>
                <a:spcPts val="0"/>
              </a:spcAft>
              <a:buSzPts val="1018"/>
              <a:buNone/>
            </a:pPr>
            <a:r>
              <a:rPr lang="en-US" sz="1400" dirty="0">
                <a:solidFill>
                  <a:schemeClr val="tx1"/>
                </a:solidFill>
                <a:latin typeface="Times New Roman" panose="02020603050405020304" pitchFamily="18" charset="0"/>
                <a:cs typeface="Times New Roman" panose="02020603050405020304" pitchFamily="18" charset="0"/>
              </a:rPr>
              <a:t>This project will generate 5 data and research materials</a:t>
            </a:r>
          </a:p>
          <a:p>
            <a:pPr marL="400050" lvl="0" indent="-400050" algn="l" rtl="0">
              <a:lnSpc>
                <a:spcPct val="95000"/>
              </a:lnSpc>
              <a:spcBef>
                <a:spcPts val="0"/>
              </a:spcBef>
              <a:spcAft>
                <a:spcPts val="0"/>
              </a:spcAft>
              <a:buSzPts val="1018"/>
              <a:buFont typeface="+mj-lt"/>
              <a:buAutoNum type="romanUcPeriod"/>
            </a:pPr>
            <a:r>
              <a:rPr lang="en-US" sz="1400" dirty="0">
                <a:solidFill>
                  <a:schemeClr val="tx1"/>
                </a:solidFill>
                <a:latin typeface="Times New Roman" panose="02020603050405020304" pitchFamily="18" charset="0"/>
                <a:cs typeface="Times New Roman" panose="02020603050405020304" pitchFamily="18" charset="0"/>
              </a:rPr>
              <a:t>Plots and figures – PNG.</a:t>
            </a:r>
          </a:p>
          <a:p>
            <a:pPr marL="400050" lvl="0" indent="-400050" algn="l" rtl="0">
              <a:lnSpc>
                <a:spcPct val="95000"/>
              </a:lnSpc>
              <a:spcBef>
                <a:spcPts val="0"/>
              </a:spcBef>
              <a:spcAft>
                <a:spcPts val="0"/>
              </a:spcAft>
              <a:buSzPts val="1018"/>
              <a:buFont typeface="+mj-lt"/>
              <a:buAutoNum type="romanUcPeriod"/>
            </a:pPr>
            <a:r>
              <a:rPr lang="en-US" sz="1400" dirty="0">
                <a:solidFill>
                  <a:schemeClr val="tx1"/>
                </a:solidFill>
                <a:latin typeface="Times New Roman" panose="02020603050405020304" pitchFamily="18" charset="0"/>
                <a:cs typeface="Times New Roman" panose="02020603050405020304" pitchFamily="18" charset="0"/>
              </a:rPr>
              <a:t>Summary tables – CSV.</a:t>
            </a:r>
          </a:p>
          <a:p>
            <a:pPr marL="400050" indent="-400050">
              <a:lnSpc>
                <a:spcPct val="95000"/>
              </a:lnSpc>
              <a:buSzPts val="1018"/>
              <a:buFont typeface="+mj-lt"/>
              <a:buAutoNum type="romanUcPeriod"/>
            </a:pPr>
            <a:r>
              <a:rPr lang="en-US" sz="1400" dirty="0">
                <a:solidFill>
                  <a:schemeClr val="tx1"/>
                </a:solidFill>
                <a:latin typeface="Times New Roman" panose="02020603050405020304" pitchFamily="18" charset="0"/>
                <a:cs typeface="Times New Roman" panose="02020603050405020304" pitchFamily="18" charset="0"/>
              </a:rPr>
              <a:t>Software and code - .R</a:t>
            </a:r>
          </a:p>
          <a:p>
            <a:pPr marL="400050" lvl="0" indent="-400050" algn="l" rtl="0">
              <a:lnSpc>
                <a:spcPct val="95000"/>
              </a:lnSpc>
              <a:spcBef>
                <a:spcPts val="0"/>
              </a:spcBef>
              <a:spcAft>
                <a:spcPts val="0"/>
              </a:spcAft>
              <a:buSzPts val="1018"/>
              <a:buFont typeface="+mj-lt"/>
              <a:buAutoNum type="romanUcPeriod"/>
            </a:pPr>
            <a:r>
              <a:rPr lang="en-US" sz="1400" dirty="0">
                <a:solidFill>
                  <a:schemeClr val="tx1"/>
                </a:solidFill>
                <a:latin typeface="Times New Roman" panose="02020603050405020304" pitchFamily="18" charset="0"/>
                <a:cs typeface="Times New Roman" panose="02020603050405020304" pitchFamily="18" charset="0"/>
              </a:rPr>
              <a:t>Author-date - .md</a:t>
            </a:r>
          </a:p>
          <a:p>
            <a:pPr marL="400050" lvl="0" indent="-400050" algn="l" rtl="0">
              <a:lnSpc>
                <a:spcPct val="95000"/>
              </a:lnSpc>
              <a:spcBef>
                <a:spcPts val="0"/>
              </a:spcBef>
              <a:spcAft>
                <a:spcPts val="0"/>
              </a:spcAft>
              <a:buSzPts val="1018"/>
              <a:buFont typeface="+mj-lt"/>
              <a:buAutoNum type="romanUcPeriod"/>
            </a:pPr>
            <a:r>
              <a:rPr lang="en-US" sz="1400" dirty="0">
                <a:solidFill>
                  <a:schemeClr val="tx1"/>
                </a:solidFill>
                <a:latin typeface="Times New Roman" panose="02020603050405020304" pitchFamily="18" charset="0"/>
                <a:cs typeface="Times New Roman" panose="02020603050405020304" pitchFamily="18" charset="0"/>
              </a:rPr>
              <a:t>PowerPoint presentation - .pptx</a:t>
            </a:r>
          </a:p>
          <a:p>
            <a:pPr marL="342900">
              <a:lnSpc>
                <a:spcPct val="95000"/>
              </a:lnSpc>
              <a:buSzPts val="1018"/>
            </a:pPr>
            <a:r>
              <a:rPr lang="en-US" sz="1400" dirty="0">
                <a:solidFill>
                  <a:schemeClr val="tx1"/>
                </a:solidFill>
                <a:latin typeface="Times New Roman" panose="02020603050405020304" pitchFamily="18" charset="0"/>
                <a:cs typeface="Times New Roman" panose="02020603050405020304" pitchFamily="18" charset="0"/>
              </a:rPr>
              <a:t>All will be archived in </a:t>
            </a:r>
            <a:r>
              <a:rPr lang="en-US" sz="1400" u="sng" dirty="0">
                <a:solidFill>
                  <a:schemeClr val="tx1"/>
                </a:solidFill>
                <a:latin typeface="Times New Roman" panose="02020603050405020304" pitchFamily="18" charset="0"/>
                <a:cs typeface="Times New Roman" panose="02020603050405020304" pitchFamily="18" charset="0"/>
              </a:rPr>
              <a:t>GitHub</a:t>
            </a:r>
            <a:r>
              <a:rPr lang="en-US" sz="1400" dirty="0">
                <a:solidFill>
                  <a:schemeClr val="tx1"/>
                </a:solidFill>
                <a:latin typeface="Times New Roman" panose="02020603050405020304" pitchFamily="18" charset="0"/>
                <a:cs typeface="Times New Roman" panose="02020603050405020304" pitchFamily="18" charset="0"/>
              </a:rPr>
              <a:t> and workflow in </a:t>
            </a:r>
            <a:r>
              <a:rPr lang="en-US" sz="1400" u="sng" dirty="0">
                <a:solidFill>
                  <a:schemeClr val="tx1"/>
                </a:solidFill>
                <a:latin typeface="Times New Roman" panose="02020603050405020304" pitchFamily="18" charset="0"/>
                <a:cs typeface="Times New Roman" panose="02020603050405020304" pitchFamily="18" charset="0"/>
              </a:rPr>
              <a:t>shared google document </a:t>
            </a:r>
            <a:r>
              <a:rPr lang="en-US" sz="1400" dirty="0">
                <a:solidFill>
                  <a:schemeClr val="tx1"/>
                </a:solidFill>
                <a:latin typeface="Times New Roman" panose="02020603050405020304" pitchFamily="18" charset="0"/>
                <a:cs typeface="Times New Roman" panose="02020603050405020304" pitchFamily="18" charset="0"/>
              </a:rPr>
              <a:t>[for short term storage]</a:t>
            </a:r>
          </a:p>
          <a:p>
            <a:pPr marL="342900">
              <a:lnSpc>
                <a:spcPct val="95000"/>
              </a:lnSpc>
              <a:buSzPts val="1018"/>
            </a:pPr>
            <a:endParaRPr lang="en-US" sz="1400" dirty="0">
              <a:solidFill>
                <a:schemeClr val="tx1"/>
              </a:solidFill>
              <a:latin typeface="Times New Roman" panose="02020603050405020304" pitchFamily="18" charset="0"/>
              <a:cs typeface="Times New Roman" panose="02020603050405020304" pitchFamily="18" charset="0"/>
            </a:endParaRPr>
          </a:p>
          <a:p>
            <a:pPr marL="0" indent="0">
              <a:lnSpc>
                <a:spcPct val="95000"/>
              </a:lnSpc>
              <a:buSzPts val="1018"/>
              <a:buNone/>
            </a:pPr>
            <a:r>
              <a:rPr lang="en-US" sz="1400" dirty="0">
                <a:solidFill>
                  <a:schemeClr val="tx1"/>
                </a:solidFill>
                <a:latin typeface="Times New Roman" panose="02020603050405020304" pitchFamily="18" charset="0"/>
                <a:cs typeface="Times New Roman" panose="02020603050405020304" pitchFamily="18" charset="0"/>
              </a:rPr>
              <a:t>2. Standards for Data and Metadata Format and Content</a:t>
            </a:r>
          </a:p>
          <a:p>
            <a:pPr marL="342900">
              <a:lnSpc>
                <a:spcPct val="95000"/>
              </a:lnSpc>
              <a:buSzPts val="1018"/>
            </a:pPr>
            <a:r>
              <a:rPr lang="en-US" sz="1400" dirty="0">
                <a:solidFill>
                  <a:schemeClr val="tx1"/>
                </a:solidFill>
                <a:latin typeface="Times New Roman" panose="02020603050405020304" pitchFamily="18" charset="0"/>
                <a:cs typeface="Times New Roman" panose="02020603050405020304" pitchFamily="18" charset="0"/>
              </a:rPr>
              <a:t>Metadata will be recorded in project-level README files</a:t>
            </a:r>
          </a:p>
          <a:p>
            <a:pPr marL="0" indent="0">
              <a:lnSpc>
                <a:spcPct val="95000"/>
              </a:lnSpc>
              <a:buSzPts val="1018"/>
              <a:buNone/>
            </a:pPr>
            <a:endParaRPr lang="en-US" sz="1400" dirty="0">
              <a:solidFill>
                <a:schemeClr val="tx1"/>
              </a:solidFill>
              <a:latin typeface="Times New Roman" panose="02020603050405020304" pitchFamily="18" charset="0"/>
              <a:cs typeface="Times New Roman" panose="02020603050405020304" pitchFamily="18" charset="0"/>
            </a:endParaRPr>
          </a:p>
          <a:p>
            <a:pPr marL="0" indent="0">
              <a:lnSpc>
                <a:spcPct val="95000"/>
              </a:lnSpc>
              <a:buSzPts val="1018"/>
              <a:buNone/>
            </a:pPr>
            <a:r>
              <a:rPr lang="en-US" sz="1400" dirty="0">
                <a:solidFill>
                  <a:schemeClr val="tx1"/>
                </a:solidFill>
                <a:latin typeface="Times New Roman" panose="02020603050405020304" pitchFamily="18" charset="0"/>
                <a:cs typeface="Times New Roman" panose="02020603050405020304" pitchFamily="18" charset="0"/>
              </a:rPr>
              <a:t>Policies for Access and Sharing</a:t>
            </a:r>
          </a:p>
          <a:p>
            <a:pPr marL="285750" indent="-285750">
              <a:lnSpc>
                <a:spcPct val="95000"/>
              </a:lnSpc>
              <a:buSzPts val="1018"/>
            </a:pPr>
            <a:r>
              <a:rPr lang="en-US" sz="1400" dirty="0">
                <a:solidFill>
                  <a:schemeClr val="tx1"/>
                </a:solidFill>
                <a:latin typeface="Times New Roman" panose="02020603050405020304" pitchFamily="18" charset="0"/>
                <a:cs typeface="Times New Roman" panose="02020603050405020304" pitchFamily="18" charset="0"/>
              </a:rPr>
              <a:t>This project does involve human subjects, however no confidential information was shared</a:t>
            </a:r>
          </a:p>
          <a:p>
            <a:pPr marL="285750" indent="-285750">
              <a:lnSpc>
                <a:spcPct val="95000"/>
              </a:lnSpc>
              <a:buSzPts val="1018"/>
            </a:pPr>
            <a:r>
              <a:rPr lang="en-US" sz="1400" dirty="0">
                <a:solidFill>
                  <a:schemeClr val="tx1"/>
                </a:solidFill>
                <a:latin typeface="Times New Roman" panose="02020603050405020304" pitchFamily="18" charset="0"/>
                <a:cs typeface="Times New Roman" panose="02020603050405020304" pitchFamily="18" charset="0"/>
              </a:rPr>
              <a:t>Data will be shared after the presentation</a:t>
            </a:r>
          </a:p>
          <a:p>
            <a:pPr marL="0" lvl="0" indent="0" algn="l" rtl="0">
              <a:lnSpc>
                <a:spcPct val="95000"/>
              </a:lnSpc>
              <a:spcBef>
                <a:spcPts val="0"/>
              </a:spcBef>
              <a:spcAft>
                <a:spcPts val="0"/>
              </a:spcAft>
              <a:buSzPts val="1018"/>
              <a:buNone/>
            </a:pPr>
            <a:endParaRPr lang="en-US" sz="1400" u="sng" dirty="0">
              <a:solidFill>
                <a:schemeClr val="dk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7">
          <a:extLst>
            <a:ext uri="{FF2B5EF4-FFF2-40B4-BE49-F238E27FC236}">
              <a16:creationId xmlns:a16="http://schemas.microsoft.com/office/drawing/2014/main" id="{CCEA85A2-0D45-1F0F-73BD-54CE4EE7213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B9A46D8-A6C5-F321-C740-6890AF14CA45}"/>
              </a:ext>
            </a:extLst>
          </p:cNvPr>
          <p:cNvSpPr/>
          <p:nvPr/>
        </p:nvSpPr>
        <p:spPr>
          <a:xfrm>
            <a:off x="302736" y="268939"/>
            <a:ext cx="3112818" cy="657362"/>
          </a:xfrm>
          <a:prstGeom prst="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Google Shape;138;p22">
            <a:extLst>
              <a:ext uri="{FF2B5EF4-FFF2-40B4-BE49-F238E27FC236}">
                <a16:creationId xmlns:a16="http://schemas.microsoft.com/office/drawing/2014/main" id="{486132E1-C3D0-A70A-C086-3D03DA303C0B}"/>
              </a:ext>
            </a:extLst>
          </p:cNvPr>
          <p:cNvSpPr txBox="1">
            <a:spLocks noGrp="1"/>
          </p:cNvSpPr>
          <p:nvPr>
            <p:ph type="title"/>
          </p:nvPr>
        </p:nvSpPr>
        <p:spPr>
          <a:xfrm>
            <a:off x="311700" y="1925"/>
            <a:ext cx="8520600" cy="572700"/>
          </a:xfrm>
          <a:prstGeom prst="rect">
            <a:avLst/>
          </a:prstGeom>
        </p:spPr>
        <p:txBody>
          <a:bodyPr spcFirstLastPara="1" wrap="square" lIns="91425" tIns="91425" rIns="91425" bIns="91425" anchor="t" anchorCtr="0">
            <a:noAutofit/>
          </a:bodyPr>
          <a:lstStyle/>
          <a:p>
            <a:pPr marL="0" lvl="0" indent="0" algn="l" rtl="0">
              <a:lnSpc>
                <a:spcPct val="200000"/>
              </a:lnSpc>
              <a:spcBef>
                <a:spcPts val="300"/>
              </a:spcBef>
              <a:spcAft>
                <a:spcPts val="1200"/>
              </a:spcAft>
              <a:buClr>
                <a:schemeClr val="dk1"/>
              </a:buClr>
              <a:buSzPts val="1100"/>
              <a:buFont typeface="Arial"/>
              <a:buNone/>
            </a:pPr>
            <a:r>
              <a:rPr lang="en" sz="2400" dirty="0">
                <a:latin typeface="Times New Roman" panose="02020603050405020304" pitchFamily="18" charset="0"/>
                <a:cs typeface="Times New Roman" panose="02020603050405020304" pitchFamily="18" charset="0"/>
              </a:rPr>
              <a:t>Group's documentation</a:t>
            </a:r>
            <a:endParaRPr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D4ABE21-B085-876D-4009-E53B95694FC6}"/>
              </a:ext>
            </a:extLst>
          </p:cNvPr>
          <p:cNvPicPr>
            <a:picLocks noChangeAspect="1"/>
          </p:cNvPicPr>
          <p:nvPr/>
        </p:nvPicPr>
        <p:blipFill>
          <a:blip r:embed="rId3"/>
          <a:srcRect l="-1" r="52062"/>
          <a:stretch>
            <a:fillRect/>
          </a:stretch>
        </p:blipFill>
        <p:spPr>
          <a:xfrm>
            <a:off x="311700" y="1085059"/>
            <a:ext cx="3725925" cy="3789502"/>
          </a:xfrm>
          <a:prstGeom prst="rect">
            <a:avLst/>
          </a:prstGeom>
        </p:spPr>
      </p:pic>
      <p:pic>
        <p:nvPicPr>
          <p:cNvPr id="8" name="Picture 7">
            <a:extLst>
              <a:ext uri="{FF2B5EF4-FFF2-40B4-BE49-F238E27FC236}">
                <a16:creationId xmlns:a16="http://schemas.microsoft.com/office/drawing/2014/main" id="{2A12D27C-F806-AFF6-5719-18BEF9CB9540}"/>
              </a:ext>
            </a:extLst>
          </p:cNvPr>
          <p:cNvPicPr>
            <a:picLocks noChangeAspect="1"/>
          </p:cNvPicPr>
          <p:nvPr/>
        </p:nvPicPr>
        <p:blipFill>
          <a:blip r:embed="rId4"/>
          <a:srcRect l="1" r="60626"/>
          <a:stretch>
            <a:fillRect/>
          </a:stretch>
        </p:blipFill>
        <p:spPr>
          <a:xfrm>
            <a:off x="4162159" y="1085059"/>
            <a:ext cx="3725925" cy="2311765"/>
          </a:xfrm>
          <a:prstGeom prst="rect">
            <a:avLst/>
          </a:prstGeom>
        </p:spPr>
      </p:pic>
      <p:pic>
        <p:nvPicPr>
          <p:cNvPr id="10" name="Picture 9">
            <a:extLst>
              <a:ext uri="{FF2B5EF4-FFF2-40B4-BE49-F238E27FC236}">
                <a16:creationId xmlns:a16="http://schemas.microsoft.com/office/drawing/2014/main" id="{61E3E4F5-BECB-87BF-AC3B-ED60C1DE42D0}"/>
              </a:ext>
            </a:extLst>
          </p:cNvPr>
          <p:cNvPicPr>
            <a:picLocks noChangeAspect="1"/>
          </p:cNvPicPr>
          <p:nvPr/>
        </p:nvPicPr>
        <p:blipFill>
          <a:blip r:embed="rId5"/>
          <a:stretch>
            <a:fillRect/>
          </a:stretch>
        </p:blipFill>
        <p:spPr>
          <a:xfrm>
            <a:off x="4146592" y="3748500"/>
            <a:ext cx="4997408" cy="1126061"/>
          </a:xfrm>
          <a:prstGeom prst="rect">
            <a:avLst/>
          </a:prstGeom>
        </p:spPr>
      </p:pic>
    </p:spTree>
    <p:extLst>
      <p:ext uri="{BB962C8B-B14F-4D97-AF65-F5344CB8AC3E}">
        <p14:creationId xmlns:p14="http://schemas.microsoft.com/office/powerpoint/2010/main" val="4276894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Shape 60">
          <a:extLst>
            <a:ext uri="{FF2B5EF4-FFF2-40B4-BE49-F238E27FC236}">
              <a16:creationId xmlns:a16="http://schemas.microsoft.com/office/drawing/2014/main" id="{C9CCABAE-E569-A51F-9A22-62B229A715D7}"/>
            </a:ext>
          </a:extLst>
        </p:cNvPr>
        <p:cNvGrpSpPr/>
        <p:nvPr/>
      </p:nvGrpSpPr>
      <p:grpSpPr>
        <a:xfrm>
          <a:off x="0" y="0"/>
          <a:ext cx="0" cy="0"/>
          <a:chOff x="0" y="0"/>
          <a:chExt cx="0" cy="0"/>
        </a:xfrm>
      </p:grpSpPr>
      <p:sp>
        <p:nvSpPr>
          <p:cNvPr id="17" name="Oval 16">
            <a:extLst>
              <a:ext uri="{FF2B5EF4-FFF2-40B4-BE49-F238E27FC236}">
                <a16:creationId xmlns:a16="http://schemas.microsoft.com/office/drawing/2014/main" id="{0811B05E-20CB-CBCD-9A5E-32DC7745A564}"/>
              </a:ext>
            </a:extLst>
          </p:cNvPr>
          <p:cNvSpPr/>
          <p:nvPr/>
        </p:nvSpPr>
        <p:spPr>
          <a:xfrm>
            <a:off x="2338360" y="3297279"/>
            <a:ext cx="516524" cy="42934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3.</a:t>
            </a:r>
          </a:p>
        </p:txBody>
      </p:sp>
      <p:sp>
        <p:nvSpPr>
          <p:cNvPr id="12" name="Oval 11">
            <a:extLst>
              <a:ext uri="{FF2B5EF4-FFF2-40B4-BE49-F238E27FC236}">
                <a16:creationId xmlns:a16="http://schemas.microsoft.com/office/drawing/2014/main" id="{EFDA399F-B326-E898-2276-E72C2B03D643}"/>
              </a:ext>
            </a:extLst>
          </p:cNvPr>
          <p:cNvSpPr/>
          <p:nvPr/>
        </p:nvSpPr>
        <p:spPr>
          <a:xfrm>
            <a:off x="2338360" y="1439689"/>
            <a:ext cx="516524" cy="42934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a:t>
            </a:r>
          </a:p>
        </p:txBody>
      </p:sp>
      <p:sp>
        <p:nvSpPr>
          <p:cNvPr id="2" name="Rounded Rectangle 1">
            <a:extLst>
              <a:ext uri="{FF2B5EF4-FFF2-40B4-BE49-F238E27FC236}">
                <a16:creationId xmlns:a16="http://schemas.microsoft.com/office/drawing/2014/main" id="{3D182143-2690-EE73-B3BA-71EA833C4643}"/>
              </a:ext>
            </a:extLst>
          </p:cNvPr>
          <p:cNvSpPr/>
          <p:nvPr/>
        </p:nvSpPr>
        <p:spPr>
          <a:xfrm>
            <a:off x="2073105" y="445025"/>
            <a:ext cx="5395658" cy="643879"/>
          </a:xfrm>
          <a:prstGeom prst="roundRect">
            <a:avLst/>
          </a:prstGeom>
          <a:solidFill>
            <a:schemeClr val="bg1"/>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1" name="Google Shape;61;p14">
            <a:extLst>
              <a:ext uri="{FF2B5EF4-FFF2-40B4-BE49-F238E27FC236}">
                <a16:creationId xmlns:a16="http://schemas.microsoft.com/office/drawing/2014/main" id="{059072F9-F2DC-D1EB-82AB-0DEDC9F9A990}"/>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OUTLINE</a:t>
            </a:r>
            <a:endParaRPr dirty="0">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439BD4DD-99A3-AD5D-1137-829C8DABE619}"/>
              </a:ext>
            </a:extLst>
          </p:cNvPr>
          <p:cNvCxnSpPr>
            <a:cxnSpLocks/>
          </p:cNvCxnSpPr>
          <p:nvPr/>
        </p:nvCxnSpPr>
        <p:spPr>
          <a:xfrm>
            <a:off x="4572000" y="1088904"/>
            <a:ext cx="0" cy="3476116"/>
          </a:xfrm>
          <a:prstGeom prst="line">
            <a:avLst/>
          </a:prstGeom>
          <a:ln w="28575"/>
        </p:spPr>
        <p:style>
          <a:lnRef idx="1">
            <a:schemeClr val="dk1"/>
          </a:lnRef>
          <a:fillRef idx="0">
            <a:schemeClr val="dk1"/>
          </a:fillRef>
          <a:effectRef idx="0">
            <a:schemeClr val="dk1"/>
          </a:effectRef>
          <a:fontRef idx="minor">
            <a:schemeClr val="tx1"/>
          </a:fontRef>
        </p:style>
      </p:cxnSp>
      <p:sp>
        <p:nvSpPr>
          <p:cNvPr id="6" name="Rounded Rectangle 5">
            <a:extLst>
              <a:ext uri="{FF2B5EF4-FFF2-40B4-BE49-F238E27FC236}">
                <a16:creationId xmlns:a16="http://schemas.microsoft.com/office/drawing/2014/main" id="{4516A437-1FAC-F9FE-0F5B-0685061F5305}"/>
              </a:ext>
            </a:extLst>
          </p:cNvPr>
          <p:cNvSpPr/>
          <p:nvPr/>
        </p:nvSpPr>
        <p:spPr>
          <a:xfrm>
            <a:off x="2743204" y="1560125"/>
            <a:ext cx="3804175" cy="314107"/>
          </a:xfrm>
          <a:prstGeom prst="roundRect">
            <a:avLst/>
          </a:prstGeom>
          <a:solidFill>
            <a:schemeClr val="accent2">
              <a:lumMod val="10000"/>
              <a:lumOff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Background on the biological question being investigated</a:t>
            </a:r>
            <a:endParaRPr kumimoji="0" lang="en-US" sz="1200" b="0" i="0" u="none" strike="noStrike" kern="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7" name="Rounded Rectangle 6">
            <a:extLst>
              <a:ext uri="{FF2B5EF4-FFF2-40B4-BE49-F238E27FC236}">
                <a16:creationId xmlns:a16="http://schemas.microsoft.com/office/drawing/2014/main" id="{3ED06900-5081-2834-E6C1-87A73D272ADA}"/>
              </a:ext>
            </a:extLst>
          </p:cNvPr>
          <p:cNvSpPr/>
          <p:nvPr/>
        </p:nvSpPr>
        <p:spPr>
          <a:xfrm>
            <a:off x="2743204" y="2376925"/>
            <a:ext cx="3804175" cy="314107"/>
          </a:xfrm>
          <a:prstGeom prst="roundRect">
            <a:avLst/>
          </a:prstGeom>
          <a:solidFill>
            <a:schemeClr val="accent2">
              <a:lumMod val="10000"/>
              <a:lumOff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An overview of the group's documentation</a:t>
            </a:r>
          </a:p>
        </p:txBody>
      </p:sp>
      <p:sp>
        <p:nvSpPr>
          <p:cNvPr id="8" name="Rounded Rectangle 7">
            <a:extLst>
              <a:ext uri="{FF2B5EF4-FFF2-40B4-BE49-F238E27FC236}">
                <a16:creationId xmlns:a16="http://schemas.microsoft.com/office/drawing/2014/main" id="{E7ADB017-B4DA-40AE-E668-875F59DD3015}"/>
              </a:ext>
            </a:extLst>
          </p:cNvPr>
          <p:cNvSpPr/>
          <p:nvPr/>
        </p:nvSpPr>
        <p:spPr>
          <a:xfrm>
            <a:off x="2743203" y="3354896"/>
            <a:ext cx="3804175" cy="314107"/>
          </a:xfrm>
          <a:prstGeom prst="roundRect">
            <a:avLst/>
          </a:prstGeom>
          <a:solidFill>
            <a:srgbClr val="77CBE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 description of the workflow carried out by the group</a:t>
            </a:r>
          </a:p>
        </p:txBody>
      </p:sp>
      <p:sp>
        <p:nvSpPr>
          <p:cNvPr id="9" name="Rounded Rectangle 8">
            <a:extLst>
              <a:ext uri="{FF2B5EF4-FFF2-40B4-BE49-F238E27FC236}">
                <a16:creationId xmlns:a16="http://schemas.microsoft.com/office/drawing/2014/main" id="{1F58A33B-A702-4137-B422-E6099881D26C}"/>
              </a:ext>
            </a:extLst>
          </p:cNvPr>
          <p:cNvSpPr/>
          <p:nvPr/>
        </p:nvSpPr>
        <p:spPr>
          <a:xfrm>
            <a:off x="2743203" y="4379676"/>
            <a:ext cx="3804175" cy="314107"/>
          </a:xfrm>
          <a:prstGeom prst="roundRect">
            <a:avLst/>
          </a:prstGeom>
          <a:solidFill>
            <a:srgbClr val="77CBE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Presentation of results including comparison to results</a:t>
            </a:r>
            <a:endParaRPr kumimoji="0" lang="en-US" sz="1200" b="0" i="0" u="none" strike="noStrike" kern="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15" name="Oval 14">
            <a:extLst>
              <a:ext uri="{FF2B5EF4-FFF2-40B4-BE49-F238E27FC236}">
                <a16:creationId xmlns:a16="http://schemas.microsoft.com/office/drawing/2014/main" id="{D45B3F98-C1DE-7187-D6DE-B1F03F1B9F7B}"/>
              </a:ext>
            </a:extLst>
          </p:cNvPr>
          <p:cNvSpPr/>
          <p:nvPr/>
        </p:nvSpPr>
        <p:spPr>
          <a:xfrm>
            <a:off x="2338360" y="2183533"/>
            <a:ext cx="516524" cy="42934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a:t>
            </a:r>
          </a:p>
        </p:txBody>
      </p:sp>
      <p:sp>
        <p:nvSpPr>
          <p:cNvPr id="16" name="Oval 15">
            <a:extLst>
              <a:ext uri="{FF2B5EF4-FFF2-40B4-BE49-F238E27FC236}">
                <a16:creationId xmlns:a16="http://schemas.microsoft.com/office/drawing/2014/main" id="{DF82321D-35F7-AF21-7965-9A9B9352062F}"/>
              </a:ext>
            </a:extLst>
          </p:cNvPr>
          <p:cNvSpPr/>
          <p:nvPr/>
        </p:nvSpPr>
        <p:spPr>
          <a:xfrm>
            <a:off x="2338360" y="4165006"/>
            <a:ext cx="516524" cy="42934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4.</a:t>
            </a:r>
          </a:p>
        </p:txBody>
      </p:sp>
    </p:spTree>
    <p:extLst>
      <p:ext uri="{BB962C8B-B14F-4D97-AF65-F5344CB8AC3E}">
        <p14:creationId xmlns:p14="http://schemas.microsoft.com/office/powerpoint/2010/main" val="3534120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9"/>
          <p:cNvSpPr txBox="1">
            <a:spLocks noGrp="1"/>
          </p:cNvSpPr>
          <p:nvPr>
            <p:ph type="title"/>
          </p:nvPr>
        </p:nvSpPr>
        <p:spPr>
          <a:xfrm>
            <a:off x="311700" y="445025"/>
            <a:ext cx="8411768" cy="572700"/>
          </a:xfrm>
          <a:prstGeom prst="rect">
            <a:avLst/>
          </a:prstGeom>
          <a:solidFill>
            <a:schemeClr val="accent4">
              <a:lumMod val="20000"/>
              <a:lumOff val="80000"/>
            </a:schemeClr>
          </a:solidFill>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General Workflow</a:t>
            </a:r>
            <a:endParaRPr dirty="0">
              <a:latin typeface="Times New Roman" panose="02020603050405020304" pitchFamily="18" charset="0"/>
              <a:cs typeface="Times New Roman" panose="02020603050405020304" pitchFamily="18" charset="0"/>
            </a:endParaRPr>
          </a:p>
        </p:txBody>
      </p:sp>
      <p:sp>
        <p:nvSpPr>
          <p:cNvPr id="90" name="Google Shape;90;p19"/>
          <p:cNvSpPr/>
          <p:nvPr/>
        </p:nvSpPr>
        <p:spPr>
          <a:xfrm>
            <a:off x="3250568" y="1314920"/>
            <a:ext cx="2483400" cy="1012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 Read alignment and expression quantification</a:t>
            </a:r>
            <a:endParaRPr/>
          </a:p>
        </p:txBody>
      </p:sp>
      <p:sp>
        <p:nvSpPr>
          <p:cNvPr id="91" name="Google Shape;91;p19"/>
          <p:cNvSpPr/>
          <p:nvPr/>
        </p:nvSpPr>
        <p:spPr>
          <a:xfrm>
            <a:off x="6135368" y="1314920"/>
            <a:ext cx="2588100" cy="1012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3. Differential expression and functional enrichment</a:t>
            </a:r>
            <a:endParaRPr/>
          </a:p>
        </p:txBody>
      </p:sp>
      <p:sp>
        <p:nvSpPr>
          <p:cNvPr id="92" name="Google Shape;92;p19"/>
          <p:cNvSpPr/>
          <p:nvPr/>
        </p:nvSpPr>
        <p:spPr>
          <a:xfrm>
            <a:off x="355793" y="3259515"/>
            <a:ext cx="2588100" cy="1012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 dirty="0"/>
              <a:t>6. </a:t>
            </a:r>
            <a:r>
              <a:rPr lang="en-US" dirty="0"/>
              <a:t>Regulatory annotation and biological interpretation</a:t>
            </a:r>
            <a:endParaRPr dirty="0"/>
          </a:p>
        </p:txBody>
      </p:sp>
      <p:sp>
        <p:nvSpPr>
          <p:cNvPr id="93" name="Google Shape;93;p19"/>
          <p:cNvSpPr/>
          <p:nvPr/>
        </p:nvSpPr>
        <p:spPr>
          <a:xfrm>
            <a:off x="3193318" y="3251470"/>
            <a:ext cx="2588100" cy="1012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5.Public microarray re-analysis for replication/support</a:t>
            </a:r>
            <a:endParaRPr dirty="0"/>
          </a:p>
        </p:txBody>
      </p:sp>
      <p:sp>
        <p:nvSpPr>
          <p:cNvPr id="94" name="Google Shape;94;p19"/>
          <p:cNvSpPr/>
          <p:nvPr/>
        </p:nvSpPr>
        <p:spPr>
          <a:xfrm>
            <a:off x="6135368" y="3211295"/>
            <a:ext cx="2588100" cy="1012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 dirty="0"/>
              <a:t>4. </a:t>
            </a:r>
            <a:r>
              <a:rPr lang="en-US" dirty="0"/>
              <a:t>Pharmacogenetic GWAS comparison</a:t>
            </a:r>
            <a:endParaRPr dirty="0"/>
          </a:p>
        </p:txBody>
      </p:sp>
      <p:sp>
        <p:nvSpPr>
          <p:cNvPr id="95" name="Google Shape;95;p19"/>
          <p:cNvSpPr/>
          <p:nvPr/>
        </p:nvSpPr>
        <p:spPr>
          <a:xfrm>
            <a:off x="355793" y="1314920"/>
            <a:ext cx="2588100" cy="1012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317500" algn="ctr" rtl="0">
              <a:spcBef>
                <a:spcPts val="0"/>
              </a:spcBef>
              <a:spcAft>
                <a:spcPts val="0"/>
              </a:spcAft>
              <a:buSzPts val="1400"/>
              <a:buAutoNum type="arabicPeriod"/>
            </a:pPr>
            <a:r>
              <a:rPr lang="en"/>
              <a:t>RNA-seq preprocessing and quality control</a:t>
            </a:r>
            <a:endParaRPr/>
          </a:p>
        </p:txBody>
      </p:sp>
      <p:cxnSp>
        <p:nvCxnSpPr>
          <p:cNvPr id="96" name="Google Shape;96;p19"/>
          <p:cNvCxnSpPr>
            <a:stCxn id="95" idx="3"/>
            <a:endCxn id="90" idx="1"/>
          </p:cNvCxnSpPr>
          <p:nvPr/>
        </p:nvCxnSpPr>
        <p:spPr>
          <a:xfrm>
            <a:off x="2943893" y="1821170"/>
            <a:ext cx="306600" cy="0"/>
          </a:xfrm>
          <a:prstGeom prst="straightConnector1">
            <a:avLst/>
          </a:prstGeom>
          <a:noFill/>
          <a:ln w="9525" cap="flat" cmpd="sng">
            <a:solidFill>
              <a:schemeClr val="dk2"/>
            </a:solidFill>
            <a:prstDash val="solid"/>
            <a:round/>
            <a:headEnd type="none" w="med" len="med"/>
            <a:tailEnd type="triangle" w="med" len="med"/>
          </a:ln>
        </p:spPr>
      </p:cxnSp>
      <p:cxnSp>
        <p:nvCxnSpPr>
          <p:cNvPr id="97" name="Google Shape;97;p19"/>
          <p:cNvCxnSpPr/>
          <p:nvPr/>
        </p:nvCxnSpPr>
        <p:spPr>
          <a:xfrm>
            <a:off x="5781368" y="1821170"/>
            <a:ext cx="306600" cy="0"/>
          </a:xfrm>
          <a:prstGeom prst="straightConnector1">
            <a:avLst/>
          </a:prstGeom>
          <a:noFill/>
          <a:ln w="9525" cap="flat" cmpd="sng">
            <a:solidFill>
              <a:schemeClr val="dk2"/>
            </a:solidFill>
            <a:prstDash val="solid"/>
            <a:round/>
            <a:headEnd type="none" w="med" len="med"/>
            <a:tailEnd type="triangle" w="med" len="med"/>
          </a:ln>
        </p:spPr>
      </p:cxnSp>
      <p:cxnSp>
        <p:nvCxnSpPr>
          <p:cNvPr id="98" name="Google Shape;98;p19"/>
          <p:cNvCxnSpPr/>
          <p:nvPr/>
        </p:nvCxnSpPr>
        <p:spPr>
          <a:xfrm>
            <a:off x="7333218" y="2713304"/>
            <a:ext cx="7800" cy="417600"/>
          </a:xfrm>
          <a:prstGeom prst="straightConnector1">
            <a:avLst/>
          </a:prstGeom>
          <a:noFill/>
          <a:ln w="9525" cap="flat" cmpd="sng">
            <a:solidFill>
              <a:schemeClr val="dk2"/>
            </a:solidFill>
            <a:prstDash val="solid"/>
            <a:round/>
            <a:headEnd type="none" w="med" len="med"/>
            <a:tailEnd type="triangle" w="med" len="med"/>
          </a:ln>
        </p:spPr>
      </p:cxnSp>
      <p:cxnSp>
        <p:nvCxnSpPr>
          <p:cNvPr id="99" name="Google Shape;99;p19"/>
          <p:cNvCxnSpPr>
            <a:endCxn id="93" idx="3"/>
          </p:cNvCxnSpPr>
          <p:nvPr/>
        </p:nvCxnSpPr>
        <p:spPr>
          <a:xfrm flipH="1">
            <a:off x="5781418" y="3757420"/>
            <a:ext cx="354000" cy="300"/>
          </a:xfrm>
          <a:prstGeom prst="straightConnector1">
            <a:avLst/>
          </a:prstGeom>
          <a:noFill/>
          <a:ln w="9525" cap="flat" cmpd="sng">
            <a:solidFill>
              <a:schemeClr val="dk2"/>
            </a:solidFill>
            <a:prstDash val="solid"/>
            <a:round/>
            <a:headEnd type="none" w="med" len="med"/>
            <a:tailEnd type="triangle" w="med" len="med"/>
          </a:ln>
        </p:spPr>
      </p:cxnSp>
      <p:cxnSp>
        <p:nvCxnSpPr>
          <p:cNvPr id="100" name="Google Shape;100;p19"/>
          <p:cNvCxnSpPr/>
          <p:nvPr/>
        </p:nvCxnSpPr>
        <p:spPr>
          <a:xfrm flipH="1">
            <a:off x="2951906" y="3762320"/>
            <a:ext cx="274500" cy="6900"/>
          </a:xfrm>
          <a:prstGeom prst="straightConnector1">
            <a:avLst/>
          </a:prstGeom>
          <a:noFill/>
          <a:ln w="9525" cap="flat" cmpd="sng">
            <a:solidFill>
              <a:schemeClr val="dk2"/>
            </a:solidFill>
            <a:prstDash val="solid"/>
            <a:round/>
            <a:headEnd type="none" w="med" len="med"/>
            <a:tailEnd type="triangle" w="med" len="med"/>
          </a:ln>
        </p:spPr>
      </p:cxnSp>
      <p:sp>
        <p:nvSpPr>
          <p:cNvPr id="101" name="Google Shape;101;p19"/>
          <p:cNvSpPr txBox="1"/>
          <p:nvPr/>
        </p:nvSpPr>
        <p:spPr>
          <a:xfrm>
            <a:off x="311700" y="2396769"/>
            <a:ext cx="2531700" cy="3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dirty="0">
                <a:solidFill>
                  <a:schemeClr val="dk1"/>
                </a:solidFill>
              </a:rPr>
              <a:t>Checks whether the sequencing data are usable before</a:t>
            </a:r>
            <a:endParaRPr sz="900" dirty="0">
              <a:solidFill>
                <a:schemeClr val="dk2"/>
              </a:solidFill>
            </a:endParaRPr>
          </a:p>
        </p:txBody>
      </p:sp>
      <p:sp>
        <p:nvSpPr>
          <p:cNvPr id="102" name="Google Shape;102;p19"/>
          <p:cNvSpPr txBox="1"/>
          <p:nvPr/>
        </p:nvSpPr>
        <p:spPr>
          <a:xfrm>
            <a:off x="3226406" y="2396769"/>
            <a:ext cx="2531700" cy="3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dirty="0">
                <a:solidFill>
                  <a:schemeClr val="dk1"/>
                </a:solidFill>
              </a:rPr>
              <a:t>Maps reads to the reference genome/transcripts and computes expression levels as FPKM for genes and transcripts</a:t>
            </a:r>
            <a:endParaRPr sz="800" dirty="0">
              <a:solidFill>
                <a:schemeClr val="dk2"/>
              </a:solidFill>
            </a:endParaRPr>
          </a:p>
        </p:txBody>
      </p:sp>
      <p:sp>
        <p:nvSpPr>
          <p:cNvPr id="103" name="Google Shape;103;p19"/>
          <p:cNvSpPr txBox="1"/>
          <p:nvPr/>
        </p:nvSpPr>
        <p:spPr>
          <a:xfrm>
            <a:off x="6135368" y="2362595"/>
            <a:ext cx="2961832" cy="3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dirty="0">
                <a:solidFill>
                  <a:schemeClr val="dk1"/>
                </a:solidFill>
              </a:rPr>
              <a:t>Identifies genes that change with dexamethasone treatment</a:t>
            </a:r>
            <a:endParaRPr sz="900" dirty="0">
              <a:solidFill>
                <a:schemeClr val="dk2"/>
              </a:solidFill>
            </a:endParaRPr>
          </a:p>
        </p:txBody>
      </p:sp>
      <p:sp>
        <p:nvSpPr>
          <p:cNvPr id="104" name="Google Shape;104;p19"/>
          <p:cNvSpPr txBox="1"/>
          <p:nvPr/>
        </p:nvSpPr>
        <p:spPr>
          <a:xfrm>
            <a:off x="6220049" y="4304186"/>
            <a:ext cx="2531700" cy="3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dirty="0">
                <a:solidFill>
                  <a:schemeClr val="dk1"/>
                </a:solidFill>
              </a:rPr>
              <a:t>Tests whether genes highlighted by RNA-seq also sit near variants associated with asthma drug-response phenotypes</a:t>
            </a:r>
            <a:endParaRPr sz="900" dirty="0">
              <a:solidFill>
                <a:schemeClr val="dk2"/>
              </a:solidFill>
            </a:endParaRPr>
          </a:p>
        </p:txBody>
      </p:sp>
      <p:sp>
        <p:nvSpPr>
          <p:cNvPr id="105" name="Google Shape;105;p19"/>
          <p:cNvSpPr txBox="1"/>
          <p:nvPr/>
        </p:nvSpPr>
        <p:spPr>
          <a:xfrm>
            <a:off x="3193318" y="4272015"/>
            <a:ext cx="2531700" cy="3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dirty="0">
                <a:solidFill>
                  <a:schemeClr val="dk1"/>
                </a:solidFill>
              </a:rPr>
              <a:t>Checks whether the RNA-seq finding, especially for </a:t>
            </a:r>
            <a:r>
              <a:rPr lang="en" sz="700" b="1" dirty="0">
                <a:solidFill>
                  <a:schemeClr val="dk1"/>
                </a:solidFill>
              </a:rPr>
              <a:t>CRISPLD2</a:t>
            </a:r>
            <a:r>
              <a:rPr lang="en" sz="700" dirty="0">
                <a:solidFill>
                  <a:schemeClr val="dk1"/>
                </a:solidFill>
              </a:rPr>
              <a:t>, is also supported by older microarray studies of glucocorticoid-treated ASM cells.</a:t>
            </a:r>
            <a:endParaRPr sz="700" dirty="0">
              <a:solidFill>
                <a:schemeClr val="dk2"/>
              </a:solidFill>
            </a:endParaRPr>
          </a:p>
        </p:txBody>
      </p:sp>
      <p:sp>
        <p:nvSpPr>
          <p:cNvPr id="106" name="Google Shape;106;p19"/>
          <p:cNvSpPr txBox="1"/>
          <p:nvPr/>
        </p:nvSpPr>
        <p:spPr>
          <a:xfrm>
            <a:off x="355793" y="4279935"/>
            <a:ext cx="2531700" cy="3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dirty="0">
                <a:solidFill>
                  <a:schemeClr val="dk1"/>
                </a:solidFill>
              </a:rPr>
              <a:t>Interpretation step to see whether the RNA-seq signal overlaps plausible regulatory binding regions near CRISPLD2</a:t>
            </a:r>
            <a:endParaRPr sz="900" dirty="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A84FBEA3-A666-B5BF-0E8E-9E28182EE267}"/>
            </a:ext>
          </a:extLst>
        </p:cNvPr>
        <p:cNvGrpSpPr/>
        <p:nvPr/>
      </p:nvGrpSpPr>
      <p:grpSpPr>
        <a:xfrm>
          <a:off x="0" y="0"/>
          <a:ext cx="0" cy="0"/>
          <a:chOff x="0" y="0"/>
          <a:chExt cx="0" cy="0"/>
        </a:xfrm>
      </p:grpSpPr>
      <p:sp>
        <p:nvSpPr>
          <p:cNvPr id="6" name="Google Shape;89;p19">
            <a:extLst>
              <a:ext uri="{FF2B5EF4-FFF2-40B4-BE49-F238E27FC236}">
                <a16:creationId xmlns:a16="http://schemas.microsoft.com/office/drawing/2014/main" id="{4E95B2C4-F25C-6F05-667D-029AAC357394}"/>
              </a:ext>
            </a:extLst>
          </p:cNvPr>
          <p:cNvSpPr txBox="1">
            <a:spLocks noGrp="1"/>
          </p:cNvSpPr>
          <p:nvPr>
            <p:ph type="title"/>
          </p:nvPr>
        </p:nvSpPr>
        <p:spPr>
          <a:xfrm>
            <a:off x="311700" y="445025"/>
            <a:ext cx="8411768" cy="572700"/>
          </a:xfrm>
          <a:prstGeom prst="rect">
            <a:avLst/>
          </a:prstGeom>
          <a:solidFill>
            <a:schemeClr val="accent4">
              <a:lumMod val="20000"/>
              <a:lumOff val="80000"/>
            </a:schemeClr>
          </a:solidFill>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General Workflow</a:t>
            </a:r>
            <a:endParaRPr dirty="0">
              <a:latin typeface="Times New Roman" panose="02020603050405020304" pitchFamily="18" charset="0"/>
              <a:cs typeface="Times New Roman" panose="02020603050405020304" pitchFamily="18" charset="0"/>
            </a:endParaRPr>
          </a:p>
        </p:txBody>
      </p:sp>
      <p:sp>
        <p:nvSpPr>
          <p:cNvPr id="90" name="Google Shape;90;p19">
            <a:extLst>
              <a:ext uri="{FF2B5EF4-FFF2-40B4-BE49-F238E27FC236}">
                <a16:creationId xmlns:a16="http://schemas.microsoft.com/office/drawing/2014/main" id="{4D3726E1-A85D-8568-1918-5DA1AF5F9A22}"/>
              </a:ext>
            </a:extLst>
          </p:cNvPr>
          <p:cNvSpPr/>
          <p:nvPr/>
        </p:nvSpPr>
        <p:spPr>
          <a:xfrm>
            <a:off x="3250568" y="1314920"/>
            <a:ext cx="2483400" cy="1012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 Read alignment and expression quantification</a:t>
            </a:r>
            <a:endParaRPr/>
          </a:p>
        </p:txBody>
      </p:sp>
      <p:sp>
        <p:nvSpPr>
          <p:cNvPr id="92" name="Google Shape;92;p19">
            <a:extLst>
              <a:ext uri="{FF2B5EF4-FFF2-40B4-BE49-F238E27FC236}">
                <a16:creationId xmlns:a16="http://schemas.microsoft.com/office/drawing/2014/main" id="{A18200A1-084F-AD2E-EC9D-9CF2FAF0537A}"/>
              </a:ext>
            </a:extLst>
          </p:cNvPr>
          <p:cNvSpPr/>
          <p:nvPr/>
        </p:nvSpPr>
        <p:spPr>
          <a:xfrm>
            <a:off x="355793" y="3259515"/>
            <a:ext cx="2588100" cy="1012500"/>
          </a:xfrm>
          <a:prstGeom prst="rect">
            <a:avLst/>
          </a:prstGeom>
          <a:solidFill>
            <a:schemeClr val="accent2">
              <a:lumMod val="10000"/>
              <a:lumOff val="9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6. Integrative genome annotation / regulatory interpretation</a:t>
            </a:r>
            <a:endParaRPr/>
          </a:p>
        </p:txBody>
      </p:sp>
      <p:sp>
        <p:nvSpPr>
          <p:cNvPr id="93" name="Google Shape;93;p19">
            <a:extLst>
              <a:ext uri="{FF2B5EF4-FFF2-40B4-BE49-F238E27FC236}">
                <a16:creationId xmlns:a16="http://schemas.microsoft.com/office/drawing/2014/main" id="{D64B19F4-42A1-3EB0-F779-E28ABA7DF2BC}"/>
              </a:ext>
            </a:extLst>
          </p:cNvPr>
          <p:cNvSpPr/>
          <p:nvPr/>
        </p:nvSpPr>
        <p:spPr>
          <a:xfrm>
            <a:off x="3193318" y="3251470"/>
            <a:ext cx="2588100" cy="1012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5.Public microarray re-analysis for replication/support</a:t>
            </a:r>
            <a:endParaRPr/>
          </a:p>
        </p:txBody>
      </p:sp>
      <p:sp>
        <p:nvSpPr>
          <p:cNvPr id="94" name="Google Shape;94;p19">
            <a:extLst>
              <a:ext uri="{FF2B5EF4-FFF2-40B4-BE49-F238E27FC236}">
                <a16:creationId xmlns:a16="http://schemas.microsoft.com/office/drawing/2014/main" id="{018CD110-25EF-7A45-D65C-016847EE1C88}"/>
              </a:ext>
            </a:extLst>
          </p:cNvPr>
          <p:cNvSpPr/>
          <p:nvPr/>
        </p:nvSpPr>
        <p:spPr>
          <a:xfrm>
            <a:off x="6135368" y="3211295"/>
            <a:ext cx="2588100" cy="1012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4. Pharmacogenetic GWAS integration</a:t>
            </a:r>
            <a:endParaRPr/>
          </a:p>
        </p:txBody>
      </p:sp>
      <p:sp>
        <p:nvSpPr>
          <p:cNvPr id="95" name="Google Shape;95;p19">
            <a:extLst>
              <a:ext uri="{FF2B5EF4-FFF2-40B4-BE49-F238E27FC236}">
                <a16:creationId xmlns:a16="http://schemas.microsoft.com/office/drawing/2014/main" id="{55623F16-8BE9-6AEC-60A8-39266DA06812}"/>
              </a:ext>
            </a:extLst>
          </p:cNvPr>
          <p:cNvSpPr/>
          <p:nvPr/>
        </p:nvSpPr>
        <p:spPr>
          <a:xfrm>
            <a:off x="355793" y="1314920"/>
            <a:ext cx="2588100" cy="1012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317500" algn="ctr" rtl="0">
              <a:spcBef>
                <a:spcPts val="0"/>
              </a:spcBef>
              <a:spcAft>
                <a:spcPts val="0"/>
              </a:spcAft>
              <a:buSzPts val="1400"/>
              <a:buAutoNum type="arabicPeriod"/>
            </a:pPr>
            <a:r>
              <a:rPr lang="en"/>
              <a:t>RNA-seq preprocessing and quality control</a:t>
            </a:r>
            <a:endParaRPr/>
          </a:p>
        </p:txBody>
      </p:sp>
      <p:cxnSp>
        <p:nvCxnSpPr>
          <p:cNvPr id="96" name="Google Shape;96;p19">
            <a:extLst>
              <a:ext uri="{FF2B5EF4-FFF2-40B4-BE49-F238E27FC236}">
                <a16:creationId xmlns:a16="http://schemas.microsoft.com/office/drawing/2014/main" id="{F242E34F-0119-3671-9CBE-B771860CC838}"/>
              </a:ext>
            </a:extLst>
          </p:cNvPr>
          <p:cNvCxnSpPr>
            <a:stCxn id="95" idx="3"/>
            <a:endCxn id="90" idx="1"/>
          </p:cNvCxnSpPr>
          <p:nvPr/>
        </p:nvCxnSpPr>
        <p:spPr>
          <a:xfrm>
            <a:off x="2943893" y="1821170"/>
            <a:ext cx="306600" cy="0"/>
          </a:xfrm>
          <a:prstGeom prst="straightConnector1">
            <a:avLst/>
          </a:prstGeom>
          <a:noFill/>
          <a:ln w="9525" cap="flat" cmpd="sng">
            <a:solidFill>
              <a:schemeClr val="dk2"/>
            </a:solidFill>
            <a:prstDash val="solid"/>
            <a:round/>
            <a:headEnd type="none" w="med" len="med"/>
            <a:tailEnd type="triangle" w="med" len="med"/>
          </a:ln>
        </p:spPr>
      </p:cxnSp>
      <p:cxnSp>
        <p:nvCxnSpPr>
          <p:cNvPr id="97" name="Google Shape;97;p19">
            <a:extLst>
              <a:ext uri="{FF2B5EF4-FFF2-40B4-BE49-F238E27FC236}">
                <a16:creationId xmlns:a16="http://schemas.microsoft.com/office/drawing/2014/main" id="{80CD146D-CF16-D0E4-EE70-4A6D111C1AE8}"/>
              </a:ext>
            </a:extLst>
          </p:cNvPr>
          <p:cNvCxnSpPr/>
          <p:nvPr/>
        </p:nvCxnSpPr>
        <p:spPr>
          <a:xfrm>
            <a:off x="5781368" y="1821170"/>
            <a:ext cx="306600" cy="0"/>
          </a:xfrm>
          <a:prstGeom prst="straightConnector1">
            <a:avLst/>
          </a:prstGeom>
          <a:noFill/>
          <a:ln w="9525" cap="flat" cmpd="sng">
            <a:solidFill>
              <a:schemeClr val="dk2"/>
            </a:solidFill>
            <a:prstDash val="solid"/>
            <a:round/>
            <a:headEnd type="none" w="med" len="med"/>
            <a:tailEnd type="triangle" w="med" len="med"/>
          </a:ln>
        </p:spPr>
      </p:cxnSp>
      <p:cxnSp>
        <p:nvCxnSpPr>
          <p:cNvPr id="98" name="Google Shape;98;p19">
            <a:extLst>
              <a:ext uri="{FF2B5EF4-FFF2-40B4-BE49-F238E27FC236}">
                <a16:creationId xmlns:a16="http://schemas.microsoft.com/office/drawing/2014/main" id="{EC5ACCAD-BC36-B445-EADC-716F6B91584B}"/>
              </a:ext>
            </a:extLst>
          </p:cNvPr>
          <p:cNvCxnSpPr/>
          <p:nvPr/>
        </p:nvCxnSpPr>
        <p:spPr>
          <a:xfrm>
            <a:off x="7333218" y="2713304"/>
            <a:ext cx="7800" cy="417600"/>
          </a:xfrm>
          <a:prstGeom prst="straightConnector1">
            <a:avLst/>
          </a:prstGeom>
          <a:noFill/>
          <a:ln w="9525" cap="flat" cmpd="sng">
            <a:solidFill>
              <a:schemeClr val="dk2"/>
            </a:solidFill>
            <a:prstDash val="solid"/>
            <a:round/>
            <a:headEnd type="none" w="med" len="med"/>
            <a:tailEnd type="triangle" w="med" len="med"/>
          </a:ln>
        </p:spPr>
      </p:cxnSp>
      <p:cxnSp>
        <p:nvCxnSpPr>
          <p:cNvPr id="99" name="Google Shape;99;p19">
            <a:extLst>
              <a:ext uri="{FF2B5EF4-FFF2-40B4-BE49-F238E27FC236}">
                <a16:creationId xmlns:a16="http://schemas.microsoft.com/office/drawing/2014/main" id="{A56D2D6F-D183-0523-F98C-8926900387CD}"/>
              </a:ext>
            </a:extLst>
          </p:cNvPr>
          <p:cNvCxnSpPr>
            <a:endCxn id="93" idx="3"/>
          </p:cNvCxnSpPr>
          <p:nvPr/>
        </p:nvCxnSpPr>
        <p:spPr>
          <a:xfrm flipH="1">
            <a:off x="5781418" y="3757420"/>
            <a:ext cx="354000" cy="300"/>
          </a:xfrm>
          <a:prstGeom prst="straightConnector1">
            <a:avLst/>
          </a:prstGeom>
          <a:noFill/>
          <a:ln w="9525" cap="flat" cmpd="sng">
            <a:solidFill>
              <a:schemeClr val="dk2"/>
            </a:solidFill>
            <a:prstDash val="solid"/>
            <a:round/>
            <a:headEnd type="none" w="med" len="med"/>
            <a:tailEnd type="triangle" w="med" len="med"/>
          </a:ln>
        </p:spPr>
      </p:cxnSp>
      <p:cxnSp>
        <p:nvCxnSpPr>
          <p:cNvPr id="100" name="Google Shape;100;p19">
            <a:extLst>
              <a:ext uri="{FF2B5EF4-FFF2-40B4-BE49-F238E27FC236}">
                <a16:creationId xmlns:a16="http://schemas.microsoft.com/office/drawing/2014/main" id="{AD34A0E1-3D75-6149-7A21-B466227E6618}"/>
              </a:ext>
            </a:extLst>
          </p:cNvPr>
          <p:cNvCxnSpPr/>
          <p:nvPr/>
        </p:nvCxnSpPr>
        <p:spPr>
          <a:xfrm flipH="1">
            <a:off x="2951906" y="3762320"/>
            <a:ext cx="274500" cy="6900"/>
          </a:xfrm>
          <a:prstGeom prst="straightConnector1">
            <a:avLst/>
          </a:prstGeom>
          <a:noFill/>
          <a:ln w="9525" cap="flat" cmpd="sng">
            <a:solidFill>
              <a:schemeClr val="dk2"/>
            </a:solidFill>
            <a:prstDash val="solid"/>
            <a:round/>
            <a:headEnd type="none" w="med" len="med"/>
            <a:tailEnd type="triangle" w="med" len="med"/>
          </a:ln>
        </p:spPr>
      </p:cxnSp>
      <p:sp>
        <p:nvSpPr>
          <p:cNvPr id="101" name="Google Shape;101;p19">
            <a:extLst>
              <a:ext uri="{FF2B5EF4-FFF2-40B4-BE49-F238E27FC236}">
                <a16:creationId xmlns:a16="http://schemas.microsoft.com/office/drawing/2014/main" id="{8EC20C40-2DD0-989B-BAF1-AA7F4D01D288}"/>
              </a:ext>
            </a:extLst>
          </p:cNvPr>
          <p:cNvSpPr txBox="1"/>
          <p:nvPr/>
        </p:nvSpPr>
        <p:spPr>
          <a:xfrm>
            <a:off x="383993" y="2464170"/>
            <a:ext cx="2531700" cy="3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dk1"/>
                </a:solidFill>
              </a:rPr>
              <a:t>Checks whether the sequencing data are usable before</a:t>
            </a:r>
            <a:endParaRPr sz="900">
              <a:solidFill>
                <a:schemeClr val="dk2"/>
              </a:solidFill>
            </a:endParaRPr>
          </a:p>
        </p:txBody>
      </p:sp>
      <p:sp>
        <p:nvSpPr>
          <p:cNvPr id="102" name="Google Shape;102;p19">
            <a:extLst>
              <a:ext uri="{FF2B5EF4-FFF2-40B4-BE49-F238E27FC236}">
                <a16:creationId xmlns:a16="http://schemas.microsoft.com/office/drawing/2014/main" id="{709A7040-F622-DC8A-696A-E89517296B94}"/>
              </a:ext>
            </a:extLst>
          </p:cNvPr>
          <p:cNvSpPr txBox="1"/>
          <p:nvPr/>
        </p:nvSpPr>
        <p:spPr>
          <a:xfrm>
            <a:off x="3193318" y="2464170"/>
            <a:ext cx="2531700" cy="3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chemeClr val="dk1"/>
                </a:solidFill>
              </a:rPr>
              <a:t>Maps reads to the reference genome/transcripts and computes expression levels as FPKM for genes and transcripts</a:t>
            </a:r>
            <a:endParaRPr sz="800">
              <a:solidFill>
                <a:schemeClr val="dk2"/>
              </a:solidFill>
            </a:endParaRPr>
          </a:p>
        </p:txBody>
      </p:sp>
      <p:sp>
        <p:nvSpPr>
          <p:cNvPr id="103" name="Google Shape;103;p19">
            <a:extLst>
              <a:ext uri="{FF2B5EF4-FFF2-40B4-BE49-F238E27FC236}">
                <a16:creationId xmlns:a16="http://schemas.microsoft.com/office/drawing/2014/main" id="{C3C4D981-767C-64F3-5D09-FEF10EC779CC}"/>
              </a:ext>
            </a:extLst>
          </p:cNvPr>
          <p:cNvSpPr txBox="1"/>
          <p:nvPr/>
        </p:nvSpPr>
        <p:spPr>
          <a:xfrm>
            <a:off x="6135368" y="2362595"/>
            <a:ext cx="2531700" cy="3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dirty="0">
                <a:solidFill>
                  <a:schemeClr val="dk1"/>
                </a:solidFill>
              </a:rPr>
              <a:t>Identifies genes that change with dexamethasone treatment</a:t>
            </a:r>
            <a:endParaRPr sz="900" dirty="0">
              <a:solidFill>
                <a:schemeClr val="dk2"/>
              </a:solidFill>
            </a:endParaRPr>
          </a:p>
        </p:txBody>
      </p:sp>
      <p:sp>
        <p:nvSpPr>
          <p:cNvPr id="104" name="Google Shape;104;p19">
            <a:extLst>
              <a:ext uri="{FF2B5EF4-FFF2-40B4-BE49-F238E27FC236}">
                <a16:creationId xmlns:a16="http://schemas.microsoft.com/office/drawing/2014/main" id="{C54CBAD1-79BE-E606-6185-F062CD2831D5}"/>
              </a:ext>
            </a:extLst>
          </p:cNvPr>
          <p:cNvSpPr txBox="1"/>
          <p:nvPr/>
        </p:nvSpPr>
        <p:spPr>
          <a:xfrm>
            <a:off x="6220049" y="4304186"/>
            <a:ext cx="2531700" cy="3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dirty="0">
                <a:solidFill>
                  <a:schemeClr val="dk1"/>
                </a:solidFill>
              </a:rPr>
              <a:t>Tests whether genes highlighted by RNA-seq also sit near variants associated with asthma drug-response phenotypes</a:t>
            </a:r>
            <a:endParaRPr sz="900" dirty="0">
              <a:solidFill>
                <a:schemeClr val="dk2"/>
              </a:solidFill>
            </a:endParaRPr>
          </a:p>
        </p:txBody>
      </p:sp>
      <p:sp>
        <p:nvSpPr>
          <p:cNvPr id="105" name="Google Shape;105;p19">
            <a:extLst>
              <a:ext uri="{FF2B5EF4-FFF2-40B4-BE49-F238E27FC236}">
                <a16:creationId xmlns:a16="http://schemas.microsoft.com/office/drawing/2014/main" id="{C6BDA106-E2F1-38FB-36E8-08A24CDC3972}"/>
              </a:ext>
            </a:extLst>
          </p:cNvPr>
          <p:cNvSpPr txBox="1"/>
          <p:nvPr/>
        </p:nvSpPr>
        <p:spPr>
          <a:xfrm>
            <a:off x="3193318" y="4416195"/>
            <a:ext cx="2531700" cy="3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chemeClr val="dk1"/>
                </a:solidFill>
              </a:rPr>
              <a:t>Checks whether the RNA-seq finding, especially for </a:t>
            </a:r>
            <a:r>
              <a:rPr lang="en" sz="600" b="1">
                <a:solidFill>
                  <a:schemeClr val="dk1"/>
                </a:solidFill>
              </a:rPr>
              <a:t>CRISPLD2</a:t>
            </a:r>
            <a:r>
              <a:rPr lang="en" sz="600">
                <a:solidFill>
                  <a:schemeClr val="dk1"/>
                </a:solidFill>
              </a:rPr>
              <a:t>, is also supported by older microarray studies of glucocorticoid-treated ASM cells.</a:t>
            </a:r>
            <a:endParaRPr sz="600">
              <a:solidFill>
                <a:schemeClr val="dk2"/>
              </a:solidFill>
            </a:endParaRPr>
          </a:p>
        </p:txBody>
      </p:sp>
      <p:sp>
        <p:nvSpPr>
          <p:cNvPr id="106" name="Google Shape;106;p19">
            <a:extLst>
              <a:ext uri="{FF2B5EF4-FFF2-40B4-BE49-F238E27FC236}">
                <a16:creationId xmlns:a16="http://schemas.microsoft.com/office/drawing/2014/main" id="{AACFAC5A-9C25-B272-7F71-E562758491FE}"/>
              </a:ext>
            </a:extLst>
          </p:cNvPr>
          <p:cNvSpPr txBox="1"/>
          <p:nvPr/>
        </p:nvSpPr>
        <p:spPr>
          <a:xfrm>
            <a:off x="355793" y="4279935"/>
            <a:ext cx="2531700" cy="3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dirty="0">
                <a:solidFill>
                  <a:schemeClr val="dk1"/>
                </a:solidFill>
              </a:rPr>
              <a:t>Interpretation step to see whether the RNA-seq signal overlaps plausible regulatory binding regions near CRISPLD2</a:t>
            </a:r>
            <a:endParaRPr sz="900" dirty="0">
              <a:solidFill>
                <a:schemeClr val="dk2"/>
              </a:solidFill>
            </a:endParaRPr>
          </a:p>
        </p:txBody>
      </p:sp>
      <p:sp>
        <p:nvSpPr>
          <p:cNvPr id="91" name="Google Shape;91;p19">
            <a:extLst>
              <a:ext uri="{FF2B5EF4-FFF2-40B4-BE49-F238E27FC236}">
                <a16:creationId xmlns:a16="http://schemas.microsoft.com/office/drawing/2014/main" id="{AD39D8EF-CDC3-2892-0481-596C19AE4060}"/>
              </a:ext>
            </a:extLst>
          </p:cNvPr>
          <p:cNvSpPr/>
          <p:nvPr/>
        </p:nvSpPr>
        <p:spPr>
          <a:xfrm>
            <a:off x="6135368" y="1314920"/>
            <a:ext cx="2588100" cy="10125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 name="TextBox 1">
            <a:extLst>
              <a:ext uri="{FF2B5EF4-FFF2-40B4-BE49-F238E27FC236}">
                <a16:creationId xmlns:a16="http://schemas.microsoft.com/office/drawing/2014/main" id="{AB673A1D-9980-D4B4-6507-CF9E31AC2D16}"/>
              </a:ext>
            </a:extLst>
          </p:cNvPr>
          <p:cNvSpPr txBox="1"/>
          <p:nvPr/>
        </p:nvSpPr>
        <p:spPr>
          <a:xfrm>
            <a:off x="6220049" y="1540834"/>
            <a:ext cx="2703512" cy="738664"/>
          </a:xfrm>
          <a:prstGeom prst="rect">
            <a:avLst/>
          </a:prstGeom>
          <a:noFill/>
        </p:spPr>
        <p:txBody>
          <a:bodyPr wrap="square" rtlCol="0">
            <a:spAutoFit/>
          </a:bodyPr>
          <a:lstStyle/>
          <a:p>
            <a:r>
              <a:rPr lang="en-US" dirty="0"/>
              <a:t>3. Differential expression and functional enrichment</a:t>
            </a:r>
          </a:p>
          <a:p>
            <a:endParaRPr lang="en-US" dirty="0"/>
          </a:p>
        </p:txBody>
      </p:sp>
    </p:spTree>
    <p:extLst>
      <p:ext uri="{BB962C8B-B14F-4D97-AF65-F5344CB8AC3E}">
        <p14:creationId xmlns:p14="http://schemas.microsoft.com/office/powerpoint/2010/main" val="3638281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decel="50000" fill="hold" grpId="0" nodeType="clickEffect">
                                  <p:stCondLst>
                                    <p:cond delay="0"/>
                                  </p:stCondLst>
                                  <p:childTnLst>
                                    <p:animScale>
                                      <p:cBhvr>
                                        <p:cTn id="6" dur="1000" fill="hold"/>
                                        <p:tgtEl>
                                          <p:spTgt spid="91"/>
                                        </p:tgtEl>
                                      </p:cBhvr>
                                      <p:by x="625000" y="6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D788B2F0-D9C3-5922-CE7B-B9E8814733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0D021-059C-B7EE-031F-E5291B5DED16}"/>
              </a:ext>
            </a:extLst>
          </p:cNvPr>
          <p:cNvSpPr>
            <a:spLocks noGrp="1"/>
          </p:cNvSpPr>
          <p:nvPr>
            <p:ph type="title"/>
          </p:nvPr>
        </p:nvSpPr>
        <p:spPr>
          <a:solidFill>
            <a:schemeClr val="bg1"/>
          </a:solidFill>
          <a:ln>
            <a:solidFill>
              <a:schemeClr val="dk2"/>
            </a:solidFill>
          </a:ln>
        </p:spPr>
        <p:txBody>
          <a:bodyPr>
            <a:normAutofit fontScale="90000"/>
          </a:bodyPr>
          <a:lstStyle/>
          <a:p>
            <a:r>
              <a:rPr lang="en-US" dirty="0">
                <a:latin typeface="Times New Roman" panose="02020603050405020304" pitchFamily="18" charset="0"/>
                <a:cs typeface="Times New Roman" panose="02020603050405020304" pitchFamily="18" charset="0"/>
              </a:rPr>
              <a:t>DE replication workflow: from journal</a:t>
            </a:r>
          </a:p>
        </p:txBody>
      </p:sp>
      <p:sp>
        <p:nvSpPr>
          <p:cNvPr id="5" name="Google Shape;134;p21">
            <a:extLst>
              <a:ext uri="{FF2B5EF4-FFF2-40B4-BE49-F238E27FC236}">
                <a16:creationId xmlns:a16="http://schemas.microsoft.com/office/drawing/2014/main" id="{5434A3AD-115E-DCA0-4997-6235F2A2B750}"/>
              </a:ext>
            </a:extLst>
          </p:cNvPr>
          <p:cNvSpPr/>
          <p:nvPr/>
        </p:nvSpPr>
        <p:spPr>
          <a:xfrm>
            <a:off x="757047" y="1535155"/>
            <a:ext cx="19932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1. Download and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Processed GEO FPKM matrix + .diff file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6" name="Google Shape;134;p21">
            <a:extLst>
              <a:ext uri="{FF2B5EF4-FFF2-40B4-BE49-F238E27FC236}">
                <a16:creationId xmlns:a16="http://schemas.microsoft.com/office/drawing/2014/main" id="{46BBA8A2-6BA4-A03A-794F-F71762E0474A}"/>
              </a:ext>
            </a:extLst>
          </p:cNvPr>
          <p:cNvSpPr/>
          <p:nvPr/>
        </p:nvSpPr>
        <p:spPr>
          <a:xfrm>
            <a:off x="6320303" y="1535155"/>
            <a:ext cx="19932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3.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Clean differential-expression table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7" name="Google Shape;134;p21">
            <a:extLst>
              <a:ext uri="{FF2B5EF4-FFF2-40B4-BE49-F238E27FC236}">
                <a16:creationId xmlns:a16="http://schemas.microsoft.com/office/drawing/2014/main" id="{A5E793E5-0402-69BC-CF3D-FB2F2C5BF9A5}"/>
              </a:ext>
            </a:extLst>
          </p:cNvPr>
          <p:cNvSpPr/>
          <p:nvPr/>
        </p:nvSpPr>
        <p:spPr>
          <a:xfrm>
            <a:off x="5323703" y="3532333"/>
            <a:ext cx="19932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4.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DE result visualization</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[volcano plot replication]</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8" name="Google Shape;134;p21">
            <a:extLst>
              <a:ext uri="{FF2B5EF4-FFF2-40B4-BE49-F238E27FC236}">
                <a16:creationId xmlns:a16="http://schemas.microsoft.com/office/drawing/2014/main" id="{22E60476-BDF2-5C7B-721B-F4436316C021}"/>
              </a:ext>
            </a:extLst>
          </p:cNvPr>
          <p:cNvSpPr/>
          <p:nvPr/>
        </p:nvSpPr>
        <p:spPr>
          <a:xfrm>
            <a:off x="1871964" y="3532333"/>
            <a:ext cx="19932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5. Top differentially expressed genes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[table 1 replication]</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cxnSp>
        <p:nvCxnSpPr>
          <p:cNvPr id="9" name="Google Shape;96;p19">
            <a:extLst>
              <a:ext uri="{FF2B5EF4-FFF2-40B4-BE49-F238E27FC236}">
                <a16:creationId xmlns:a16="http://schemas.microsoft.com/office/drawing/2014/main" id="{66096160-45CC-51E6-3CA2-B2CFB2CEE67E}"/>
              </a:ext>
            </a:extLst>
          </p:cNvPr>
          <p:cNvCxnSpPr>
            <a:cxnSpLocks/>
          </p:cNvCxnSpPr>
          <p:nvPr/>
        </p:nvCxnSpPr>
        <p:spPr>
          <a:xfrm>
            <a:off x="3006646" y="2005255"/>
            <a:ext cx="421478" cy="0"/>
          </a:xfrm>
          <a:prstGeom prst="straightConnector1">
            <a:avLst/>
          </a:prstGeom>
          <a:noFill/>
          <a:ln w="9525" cap="flat" cmpd="sng">
            <a:solidFill>
              <a:schemeClr val="dk2"/>
            </a:solidFill>
            <a:prstDash val="solid"/>
            <a:round/>
            <a:headEnd type="none" w="med" len="med"/>
            <a:tailEnd type="triangle" w="med" len="med"/>
          </a:ln>
        </p:spPr>
      </p:cxnSp>
      <p:cxnSp>
        <p:nvCxnSpPr>
          <p:cNvPr id="10" name="Google Shape;96;p19">
            <a:extLst>
              <a:ext uri="{FF2B5EF4-FFF2-40B4-BE49-F238E27FC236}">
                <a16:creationId xmlns:a16="http://schemas.microsoft.com/office/drawing/2014/main" id="{12871DAC-935E-A85D-FB6B-C3450ABD1B42}"/>
              </a:ext>
            </a:extLst>
          </p:cNvPr>
          <p:cNvCxnSpPr>
            <a:cxnSpLocks/>
          </p:cNvCxnSpPr>
          <p:nvPr/>
        </p:nvCxnSpPr>
        <p:spPr>
          <a:xfrm>
            <a:off x="5716632" y="2005255"/>
            <a:ext cx="433156" cy="0"/>
          </a:xfrm>
          <a:prstGeom prst="straightConnector1">
            <a:avLst/>
          </a:prstGeom>
          <a:noFill/>
          <a:ln w="9525" cap="flat" cmpd="sng">
            <a:solidFill>
              <a:schemeClr val="dk2"/>
            </a:solidFill>
            <a:prstDash val="solid"/>
            <a:round/>
            <a:headEnd type="none" w="med" len="med"/>
            <a:tailEnd type="triangle" w="med" len="med"/>
          </a:ln>
        </p:spPr>
      </p:cxnSp>
      <p:sp>
        <p:nvSpPr>
          <p:cNvPr id="12" name="Google Shape;134;p21">
            <a:extLst>
              <a:ext uri="{FF2B5EF4-FFF2-40B4-BE49-F238E27FC236}">
                <a16:creationId xmlns:a16="http://schemas.microsoft.com/office/drawing/2014/main" id="{CDAAABB9-A645-F3F3-0D70-BEEAEBF40221}"/>
              </a:ext>
            </a:extLst>
          </p:cNvPr>
          <p:cNvSpPr/>
          <p:nvPr/>
        </p:nvSpPr>
        <p:spPr>
          <a:xfrm>
            <a:off x="3552917" y="1535155"/>
            <a:ext cx="19932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2.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Inspect the files</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cxnSp>
        <p:nvCxnSpPr>
          <p:cNvPr id="15" name="Google Shape;96;p19">
            <a:extLst>
              <a:ext uri="{FF2B5EF4-FFF2-40B4-BE49-F238E27FC236}">
                <a16:creationId xmlns:a16="http://schemas.microsoft.com/office/drawing/2014/main" id="{E0197369-C6AB-5659-CF70-C3844C5733F4}"/>
              </a:ext>
            </a:extLst>
          </p:cNvPr>
          <p:cNvCxnSpPr>
            <a:cxnSpLocks/>
          </p:cNvCxnSpPr>
          <p:nvPr/>
        </p:nvCxnSpPr>
        <p:spPr>
          <a:xfrm flipH="1">
            <a:off x="6768353" y="2571750"/>
            <a:ext cx="663388" cy="816909"/>
          </a:xfrm>
          <a:prstGeom prst="straightConnector1">
            <a:avLst/>
          </a:prstGeom>
          <a:noFill/>
          <a:ln w="9525" cap="flat" cmpd="sng">
            <a:solidFill>
              <a:schemeClr val="dk2"/>
            </a:solidFill>
            <a:prstDash val="solid"/>
            <a:round/>
            <a:headEnd type="none" w="med" len="med"/>
            <a:tailEnd type="triangle" w="med" len="med"/>
          </a:ln>
        </p:spPr>
      </p:cxnSp>
      <p:cxnSp>
        <p:nvCxnSpPr>
          <p:cNvPr id="19" name="Google Shape;96;p19">
            <a:extLst>
              <a:ext uri="{FF2B5EF4-FFF2-40B4-BE49-F238E27FC236}">
                <a16:creationId xmlns:a16="http://schemas.microsoft.com/office/drawing/2014/main" id="{DC5018CB-DDF5-10A2-EED4-9B011D87D283}"/>
              </a:ext>
            </a:extLst>
          </p:cNvPr>
          <p:cNvCxnSpPr>
            <a:cxnSpLocks/>
          </p:cNvCxnSpPr>
          <p:nvPr/>
        </p:nvCxnSpPr>
        <p:spPr>
          <a:xfrm flipH="1">
            <a:off x="4159624" y="3987570"/>
            <a:ext cx="1053281" cy="14863"/>
          </a:xfrm>
          <a:prstGeom prst="straightConnector1">
            <a:avLst/>
          </a:prstGeom>
          <a:noFill/>
          <a:ln w="9525" cap="flat" cmpd="sng">
            <a:solidFill>
              <a:schemeClr val="dk2"/>
            </a:solidFill>
            <a:prstDash val="solid"/>
            <a:round/>
            <a:headEnd type="none" w="med" len="med"/>
            <a:tailEnd type="triangle" w="med" len="med"/>
          </a:ln>
        </p:spPr>
      </p:cxnSp>
    </p:spTree>
    <p:extLst>
      <p:ext uri="{BB962C8B-B14F-4D97-AF65-F5344CB8AC3E}">
        <p14:creationId xmlns:p14="http://schemas.microsoft.com/office/powerpoint/2010/main" val="3199135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FCF2FFAF-2BB6-8CF1-D026-52F4DF51B506}"/>
            </a:ext>
          </a:extLst>
        </p:cNvPr>
        <p:cNvGrpSpPr/>
        <p:nvPr/>
      </p:nvGrpSpPr>
      <p:grpSpPr>
        <a:xfrm>
          <a:off x="0" y="0"/>
          <a:ext cx="0" cy="0"/>
          <a:chOff x="0" y="0"/>
          <a:chExt cx="0" cy="0"/>
        </a:xfrm>
      </p:grpSpPr>
      <p:sp>
        <p:nvSpPr>
          <p:cNvPr id="5" name="Google Shape;134;p21">
            <a:extLst>
              <a:ext uri="{FF2B5EF4-FFF2-40B4-BE49-F238E27FC236}">
                <a16:creationId xmlns:a16="http://schemas.microsoft.com/office/drawing/2014/main" id="{05657E33-A6D8-07C0-1F94-B9FC28039896}"/>
              </a:ext>
            </a:extLst>
          </p:cNvPr>
          <p:cNvSpPr/>
          <p:nvPr/>
        </p:nvSpPr>
        <p:spPr>
          <a:xfrm>
            <a:off x="757047" y="1535155"/>
            <a:ext cx="1993200" cy="940200"/>
          </a:xfrm>
          <a:prstGeom prst="rect">
            <a:avLst/>
          </a:prstGeom>
          <a:solidFill>
            <a:srgbClr val="E8BDD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1. Download and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Processed GEO FPKM matrix + .diff file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6" name="Google Shape;134;p21">
            <a:extLst>
              <a:ext uri="{FF2B5EF4-FFF2-40B4-BE49-F238E27FC236}">
                <a16:creationId xmlns:a16="http://schemas.microsoft.com/office/drawing/2014/main" id="{57D9A104-E2C3-8C5D-310F-5BBE08BB048B}"/>
              </a:ext>
            </a:extLst>
          </p:cNvPr>
          <p:cNvSpPr/>
          <p:nvPr/>
        </p:nvSpPr>
        <p:spPr>
          <a:xfrm>
            <a:off x="6320303" y="1535155"/>
            <a:ext cx="19932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3.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Clean differential-expression table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7" name="Google Shape;134;p21">
            <a:extLst>
              <a:ext uri="{FF2B5EF4-FFF2-40B4-BE49-F238E27FC236}">
                <a16:creationId xmlns:a16="http://schemas.microsoft.com/office/drawing/2014/main" id="{206D7167-D1B1-4EC2-0D30-46EC6F91415E}"/>
              </a:ext>
            </a:extLst>
          </p:cNvPr>
          <p:cNvSpPr/>
          <p:nvPr/>
        </p:nvSpPr>
        <p:spPr>
          <a:xfrm>
            <a:off x="5323703" y="3532333"/>
            <a:ext cx="19932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4.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DE result visualization</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[volcano plot replication]</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8" name="Google Shape;134;p21">
            <a:extLst>
              <a:ext uri="{FF2B5EF4-FFF2-40B4-BE49-F238E27FC236}">
                <a16:creationId xmlns:a16="http://schemas.microsoft.com/office/drawing/2014/main" id="{1ED950A5-66CD-9E41-483B-7A6AB3C832F5}"/>
              </a:ext>
            </a:extLst>
          </p:cNvPr>
          <p:cNvSpPr/>
          <p:nvPr/>
        </p:nvSpPr>
        <p:spPr>
          <a:xfrm>
            <a:off x="1871964" y="3532333"/>
            <a:ext cx="19932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5. Top differentially expressed genes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[table 1 replication]</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cxnSp>
        <p:nvCxnSpPr>
          <p:cNvPr id="9" name="Google Shape;96;p19">
            <a:extLst>
              <a:ext uri="{FF2B5EF4-FFF2-40B4-BE49-F238E27FC236}">
                <a16:creationId xmlns:a16="http://schemas.microsoft.com/office/drawing/2014/main" id="{E5C76C13-F058-37DA-DDBC-0765A9B9D77D}"/>
              </a:ext>
            </a:extLst>
          </p:cNvPr>
          <p:cNvCxnSpPr>
            <a:cxnSpLocks/>
          </p:cNvCxnSpPr>
          <p:nvPr/>
        </p:nvCxnSpPr>
        <p:spPr>
          <a:xfrm>
            <a:off x="3006646" y="2005255"/>
            <a:ext cx="421478" cy="0"/>
          </a:xfrm>
          <a:prstGeom prst="straightConnector1">
            <a:avLst/>
          </a:prstGeom>
          <a:noFill/>
          <a:ln w="9525" cap="flat" cmpd="sng">
            <a:solidFill>
              <a:schemeClr val="dk2"/>
            </a:solidFill>
            <a:prstDash val="solid"/>
            <a:round/>
            <a:headEnd type="none" w="med" len="med"/>
            <a:tailEnd type="triangle" w="med" len="med"/>
          </a:ln>
        </p:spPr>
      </p:cxnSp>
      <p:cxnSp>
        <p:nvCxnSpPr>
          <p:cNvPr id="10" name="Google Shape;96;p19">
            <a:extLst>
              <a:ext uri="{FF2B5EF4-FFF2-40B4-BE49-F238E27FC236}">
                <a16:creationId xmlns:a16="http://schemas.microsoft.com/office/drawing/2014/main" id="{ADDCC7E3-8A4E-E124-3603-C89A21FF943D}"/>
              </a:ext>
            </a:extLst>
          </p:cNvPr>
          <p:cNvCxnSpPr>
            <a:cxnSpLocks/>
          </p:cNvCxnSpPr>
          <p:nvPr/>
        </p:nvCxnSpPr>
        <p:spPr>
          <a:xfrm>
            <a:off x="5716632" y="2005255"/>
            <a:ext cx="433156" cy="0"/>
          </a:xfrm>
          <a:prstGeom prst="straightConnector1">
            <a:avLst/>
          </a:prstGeom>
          <a:noFill/>
          <a:ln w="9525" cap="flat" cmpd="sng">
            <a:solidFill>
              <a:schemeClr val="dk2"/>
            </a:solidFill>
            <a:prstDash val="solid"/>
            <a:round/>
            <a:headEnd type="none" w="med" len="med"/>
            <a:tailEnd type="triangle" w="med" len="med"/>
          </a:ln>
        </p:spPr>
      </p:cxnSp>
      <p:sp>
        <p:nvSpPr>
          <p:cNvPr id="12" name="Google Shape;134;p21">
            <a:extLst>
              <a:ext uri="{FF2B5EF4-FFF2-40B4-BE49-F238E27FC236}">
                <a16:creationId xmlns:a16="http://schemas.microsoft.com/office/drawing/2014/main" id="{1416A1FA-9D11-E091-571D-5B8CB8380F28}"/>
              </a:ext>
            </a:extLst>
          </p:cNvPr>
          <p:cNvSpPr/>
          <p:nvPr/>
        </p:nvSpPr>
        <p:spPr>
          <a:xfrm>
            <a:off x="3552917" y="1535155"/>
            <a:ext cx="19932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2.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Inspect the files</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cxnSp>
        <p:nvCxnSpPr>
          <p:cNvPr id="15" name="Google Shape;96;p19">
            <a:extLst>
              <a:ext uri="{FF2B5EF4-FFF2-40B4-BE49-F238E27FC236}">
                <a16:creationId xmlns:a16="http://schemas.microsoft.com/office/drawing/2014/main" id="{41412DE7-9B78-A455-1492-99A2FEBC3272}"/>
              </a:ext>
            </a:extLst>
          </p:cNvPr>
          <p:cNvCxnSpPr>
            <a:cxnSpLocks/>
          </p:cNvCxnSpPr>
          <p:nvPr/>
        </p:nvCxnSpPr>
        <p:spPr>
          <a:xfrm flipH="1">
            <a:off x="6768353" y="2571750"/>
            <a:ext cx="663388" cy="816909"/>
          </a:xfrm>
          <a:prstGeom prst="straightConnector1">
            <a:avLst/>
          </a:prstGeom>
          <a:noFill/>
          <a:ln w="9525" cap="flat" cmpd="sng">
            <a:solidFill>
              <a:schemeClr val="dk2"/>
            </a:solidFill>
            <a:prstDash val="solid"/>
            <a:round/>
            <a:headEnd type="none" w="med" len="med"/>
            <a:tailEnd type="triangle" w="med" len="med"/>
          </a:ln>
        </p:spPr>
      </p:cxnSp>
      <p:cxnSp>
        <p:nvCxnSpPr>
          <p:cNvPr id="19" name="Google Shape;96;p19">
            <a:extLst>
              <a:ext uri="{FF2B5EF4-FFF2-40B4-BE49-F238E27FC236}">
                <a16:creationId xmlns:a16="http://schemas.microsoft.com/office/drawing/2014/main" id="{72364BFA-59DD-63D1-FB0F-3B9A37255889}"/>
              </a:ext>
            </a:extLst>
          </p:cNvPr>
          <p:cNvCxnSpPr>
            <a:cxnSpLocks/>
          </p:cNvCxnSpPr>
          <p:nvPr/>
        </p:nvCxnSpPr>
        <p:spPr>
          <a:xfrm flipH="1">
            <a:off x="4159624" y="3987570"/>
            <a:ext cx="1053281" cy="14863"/>
          </a:xfrm>
          <a:prstGeom prst="straightConnector1">
            <a:avLst/>
          </a:prstGeom>
          <a:noFill/>
          <a:ln w="9525" cap="flat" cmpd="sng">
            <a:solidFill>
              <a:schemeClr val="dk2"/>
            </a:solidFill>
            <a:prstDash val="solid"/>
            <a:round/>
            <a:headEnd type="none" w="med" len="med"/>
            <a:tailEnd type="triangle" w="med" len="med"/>
          </a:ln>
        </p:spPr>
      </p:cxnSp>
      <p:sp>
        <p:nvSpPr>
          <p:cNvPr id="13" name="Title 1">
            <a:extLst>
              <a:ext uri="{FF2B5EF4-FFF2-40B4-BE49-F238E27FC236}">
                <a16:creationId xmlns:a16="http://schemas.microsoft.com/office/drawing/2014/main" id="{FE714870-A133-3815-939F-C12315194CC1}"/>
              </a:ext>
            </a:extLst>
          </p:cNvPr>
          <p:cNvSpPr>
            <a:spLocks noGrp="1"/>
          </p:cNvSpPr>
          <p:nvPr>
            <p:ph type="title"/>
          </p:nvPr>
        </p:nvSpPr>
        <p:spPr>
          <a:xfrm>
            <a:off x="311700" y="445025"/>
            <a:ext cx="8520600" cy="572700"/>
          </a:xfrm>
          <a:solidFill>
            <a:schemeClr val="bg1"/>
          </a:solidFill>
          <a:ln>
            <a:solidFill>
              <a:schemeClr val="dk2"/>
            </a:solidFill>
          </a:ln>
        </p:spPr>
        <p:txBody>
          <a:bodyPr>
            <a:normAutofit fontScale="90000"/>
          </a:bodyPr>
          <a:lstStyle/>
          <a:p>
            <a:r>
              <a:rPr lang="en-US" dirty="0">
                <a:latin typeface="Times New Roman" panose="02020603050405020304" pitchFamily="18" charset="0"/>
                <a:cs typeface="Times New Roman" panose="02020603050405020304" pitchFamily="18" charset="0"/>
              </a:rPr>
              <a:t>DE replication workflow: from journal</a:t>
            </a:r>
          </a:p>
        </p:txBody>
      </p:sp>
    </p:spTree>
    <p:extLst>
      <p:ext uri="{BB962C8B-B14F-4D97-AF65-F5344CB8AC3E}">
        <p14:creationId xmlns:p14="http://schemas.microsoft.com/office/powerpoint/2010/main" val="1720510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97802-C99C-86D2-E3BC-C6EC89387E9A}"/>
              </a:ext>
            </a:extLst>
          </p:cNvPr>
          <p:cNvSpPr>
            <a:spLocks noGrp="1"/>
          </p:cNvSpPr>
          <p:nvPr>
            <p:ph type="title"/>
          </p:nvPr>
        </p:nvSpPr>
        <p:spPr/>
        <p:txBody>
          <a:bodyPr>
            <a:normAutofit fontScale="90000"/>
          </a:bodyPr>
          <a:lstStyle/>
          <a:p>
            <a:r>
              <a:rPr lang="en" dirty="0">
                <a:solidFill>
                  <a:srgbClr val="000000"/>
                </a:solidFill>
                <a:latin typeface="Times New Roman" panose="02020603050405020304" pitchFamily="18" charset="0"/>
                <a:cs typeface="Times New Roman" panose="02020603050405020304" pitchFamily="18" charset="0"/>
              </a:rPr>
              <a:t>Download and </a:t>
            </a:r>
            <a:r>
              <a:rPr lang="en-US" dirty="0">
                <a:solidFill>
                  <a:srgbClr val="000000"/>
                </a:solidFill>
                <a:latin typeface="Times New Roman" panose="02020603050405020304" pitchFamily="18" charset="0"/>
                <a:cs typeface="Times New Roman" panose="02020603050405020304" pitchFamily="18" charset="0"/>
              </a:rPr>
              <a:t>Processed GEO FPKM matrix + .diff file</a:t>
            </a:r>
            <a:endParaRPr lang="en-US" dirty="0"/>
          </a:p>
        </p:txBody>
      </p:sp>
      <p:sp>
        <p:nvSpPr>
          <p:cNvPr id="3" name="Text Placeholder 2">
            <a:extLst>
              <a:ext uri="{FF2B5EF4-FFF2-40B4-BE49-F238E27FC236}">
                <a16:creationId xmlns:a16="http://schemas.microsoft.com/office/drawing/2014/main" id="{0889432A-7E17-4424-B2F1-7B1C2180A712}"/>
              </a:ext>
            </a:extLst>
          </p:cNvPr>
          <p:cNvSpPr>
            <a:spLocks noGrp="1"/>
          </p:cNvSpPr>
          <p:nvPr>
            <p:ph type="body" idx="1"/>
          </p:nvPr>
        </p:nvSpPr>
        <p:spPr>
          <a:xfrm>
            <a:off x="311700" y="1152475"/>
            <a:ext cx="6123682" cy="3416400"/>
          </a:xfrm>
        </p:spPr>
        <p:txBody>
          <a:bodyPr/>
          <a:lstStyle/>
          <a:p>
            <a:r>
              <a:rPr lang="en-US" dirty="0"/>
              <a:t>There is a brief materials and methods on the authors conduct DE analysis</a:t>
            </a:r>
          </a:p>
          <a:p>
            <a:r>
              <a:rPr lang="en-US" dirty="0"/>
              <a:t>We need to search to find processed package in the old version NCBI website</a:t>
            </a:r>
          </a:p>
          <a:p>
            <a:r>
              <a:rPr lang="en-US" dirty="0"/>
              <a:t>There is also no documentation on script </a:t>
            </a:r>
          </a:p>
        </p:txBody>
      </p:sp>
      <p:pic>
        <p:nvPicPr>
          <p:cNvPr id="6" name="Picture 5">
            <a:extLst>
              <a:ext uri="{FF2B5EF4-FFF2-40B4-BE49-F238E27FC236}">
                <a16:creationId xmlns:a16="http://schemas.microsoft.com/office/drawing/2014/main" id="{4965D2E2-3FE0-12FD-8859-218AD348EB49}"/>
              </a:ext>
            </a:extLst>
          </p:cNvPr>
          <p:cNvPicPr>
            <a:picLocks noChangeAspect="1"/>
          </p:cNvPicPr>
          <p:nvPr/>
        </p:nvPicPr>
        <p:blipFill>
          <a:blip r:embed="rId2"/>
          <a:srcRect b="47919"/>
          <a:stretch>
            <a:fillRect/>
          </a:stretch>
        </p:blipFill>
        <p:spPr>
          <a:xfrm>
            <a:off x="748553" y="3135511"/>
            <a:ext cx="6123683" cy="1500824"/>
          </a:xfrm>
          <a:prstGeom prst="rect">
            <a:avLst/>
          </a:prstGeom>
        </p:spPr>
      </p:pic>
    </p:spTree>
    <p:extLst>
      <p:ext uri="{BB962C8B-B14F-4D97-AF65-F5344CB8AC3E}">
        <p14:creationId xmlns:p14="http://schemas.microsoft.com/office/powerpoint/2010/main" val="1397315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21E6DB80-B75D-E72F-1B3B-A655450EFB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57BAC1-AC2F-07CA-63E6-598CF9BFD8C2}"/>
              </a:ext>
            </a:extLst>
          </p:cNvPr>
          <p:cNvSpPr>
            <a:spLocks noGrp="1"/>
          </p:cNvSpPr>
          <p:nvPr>
            <p:ph type="title"/>
          </p:nvPr>
        </p:nvSpPr>
        <p:spPr>
          <a:solidFill>
            <a:schemeClr val="bg1"/>
          </a:solidFill>
          <a:ln>
            <a:solidFill>
              <a:schemeClr val="dk2"/>
            </a:solidFill>
          </a:ln>
        </p:spPr>
        <p:txBody>
          <a:bodyPr>
            <a:normAutofit fontScale="90000"/>
          </a:bodyPr>
          <a:lstStyle/>
          <a:p>
            <a:r>
              <a:rPr lang="en-US" dirty="0">
                <a:latin typeface="Times New Roman" panose="02020603050405020304" pitchFamily="18" charset="0"/>
                <a:cs typeface="Times New Roman" panose="02020603050405020304" pitchFamily="18" charset="0"/>
              </a:rPr>
              <a:t>DE workflow</a:t>
            </a:r>
          </a:p>
        </p:txBody>
      </p:sp>
      <p:sp>
        <p:nvSpPr>
          <p:cNvPr id="5" name="Google Shape;134;p21">
            <a:extLst>
              <a:ext uri="{FF2B5EF4-FFF2-40B4-BE49-F238E27FC236}">
                <a16:creationId xmlns:a16="http://schemas.microsoft.com/office/drawing/2014/main" id="{C09A9817-B51A-2AA4-DF0A-D68AD4A307FB}"/>
              </a:ext>
            </a:extLst>
          </p:cNvPr>
          <p:cNvSpPr/>
          <p:nvPr/>
        </p:nvSpPr>
        <p:spPr>
          <a:xfrm>
            <a:off x="757047" y="1535155"/>
            <a:ext cx="19932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 dirty="0">
                <a:latin typeface="Times New Roman" panose="02020603050405020304" pitchFamily="18" charset="0"/>
                <a:cs typeface="Times New Roman" panose="02020603050405020304" pitchFamily="18" charset="0"/>
              </a:rPr>
              <a:t>1. Download and </a:t>
            </a:r>
            <a:r>
              <a:rPr lang="en-US" dirty="0">
                <a:latin typeface="Times New Roman" panose="02020603050405020304" pitchFamily="18" charset="0"/>
                <a:cs typeface="Times New Roman" panose="02020603050405020304" pitchFamily="18" charset="0"/>
              </a:rPr>
              <a:t>Processed GEO FPKM matrix + .diff file</a:t>
            </a:r>
            <a:endParaRPr dirty="0">
              <a:latin typeface="Times New Roman" panose="02020603050405020304" pitchFamily="18" charset="0"/>
              <a:cs typeface="Times New Roman" panose="02020603050405020304" pitchFamily="18" charset="0"/>
            </a:endParaRPr>
          </a:p>
        </p:txBody>
      </p:sp>
      <p:sp>
        <p:nvSpPr>
          <p:cNvPr id="6" name="Google Shape;134;p21">
            <a:extLst>
              <a:ext uri="{FF2B5EF4-FFF2-40B4-BE49-F238E27FC236}">
                <a16:creationId xmlns:a16="http://schemas.microsoft.com/office/drawing/2014/main" id="{009BE328-CCBB-B122-1B80-BE4B2AECD6CD}"/>
              </a:ext>
            </a:extLst>
          </p:cNvPr>
          <p:cNvSpPr/>
          <p:nvPr/>
        </p:nvSpPr>
        <p:spPr>
          <a:xfrm>
            <a:off x="6320303" y="1535155"/>
            <a:ext cx="1993200" cy="940200"/>
          </a:xfrm>
          <a:prstGeom prst="rect">
            <a:avLst/>
          </a:prstGeom>
          <a:solidFill>
            <a:srgbClr val="E8BDD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 dirty="0">
                <a:latin typeface="Times New Roman" panose="02020603050405020304" pitchFamily="18" charset="0"/>
                <a:cs typeface="Times New Roman" panose="02020603050405020304" pitchFamily="18" charset="0"/>
              </a:rPr>
              <a:t>3. </a:t>
            </a:r>
            <a:r>
              <a:rPr lang="en-US" dirty="0">
                <a:latin typeface="Times New Roman" panose="02020603050405020304" pitchFamily="18" charset="0"/>
                <a:cs typeface="Times New Roman" panose="02020603050405020304" pitchFamily="18" charset="0"/>
              </a:rPr>
              <a:t>Clean differential-expression table</a:t>
            </a:r>
            <a:endParaRPr dirty="0">
              <a:latin typeface="Times New Roman" panose="02020603050405020304" pitchFamily="18" charset="0"/>
              <a:cs typeface="Times New Roman" panose="02020603050405020304" pitchFamily="18" charset="0"/>
            </a:endParaRPr>
          </a:p>
        </p:txBody>
      </p:sp>
      <p:sp>
        <p:nvSpPr>
          <p:cNvPr id="7" name="Google Shape;134;p21">
            <a:extLst>
              <a:ext uri="{FF2B5EF4-FFF2-40B4-BE49-F238E27FC236}">
                <a16:creationId xmlns:a16="http://schemas.microsoft.com/office/drawing/2014/main" id="{8539C5AA-9DD5-F2CD-12B0-F803DBDAFCF6}"/>
              </a:ext>
            </a:extLst>
          </p:cNvPr>
          <p:cNvSpPr/>
          <p:nvPr/>
        </p:nvSpPr>
        <p:spPr>
          <a:xfrm>
            <a:off x="5323703" y="3532333"/>
            <a:ext cx="19932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en"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DE result visualization</a:t>
            </a:r>
          </a:p>
          <a:p>
            <a:pPr algn="ctr"/>
            <a:r>
              <a:rPr lang="en-US" dirty="0">
                <a:latin typeface="Times New Roman" panose="02020603050405020304" pitchFamily="18" charset="0"/>
                <a:cs typeface="Times New Roman" panose="02020603050405020304" pitchFamily="18" charset="0"/>
              </a:rPr>
              <a:t>[volcano plot replication]</a:t>
            </a:r>
            <a:endParaRPr dirty="0">
              <a:latin typeface="Times New Roman" panose="02020603050405020304" pitchFamily="18" charset="0"/>
              <a:cs typeface="Times New Roman" panose="02020603050405020304" pitchFamily="18" charset="0"/>
            </a:endParaRPr>
          </a:p>
        </p:txBody>
      </p:sp>
      <p:sp>
        <p:nvSpPr>
          <p:cNvPr id="8" name="Google Shape;134;p21">
            <a:extLst>
              <a:ext uri="{FF2B5EF4-FFF2-40B4-BE49-F238E27FC236}">
                <a16:creationId xmlns:a16="http://schemas.microsoft.com/office/drawing/2014/main" id="{17249D5A-5434-15B4-A21C-ACD5101A1003}"/>
              </a:ext>
            </a:extLst>
          </p:cNvPr>
          <p:cNvSpPr/>
          <p:nvPr/>
        </p:nvSpPr>
        <p:spPr>
          <a:xfrm>
            <a:off x="1871964" y="3532333"/>
            <a:ext cx="19932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en-US" dirty="0">
                <a:latin typeface="Times New Roman" panose="02020603050405020304" pitchFamily="18" charset="0"/>
                <a:cs typeface="Times New Roman" panose="02020603050405020304" pitchFamily="18" charset="0"/>
              </a:rPr>
              <a:t>5. Top differentially expressed genes </a:t>
            </a:r>
          </a:p>
          <a:p>
            <a:pPr algn="ctr"/>
            <a:r>
              <a:rPr lang="en-US" dirty="0">
                <a:latin typeface="Times New Roman" panose="02020603050405020304" pitchFamily="18" charset="0"/>
                <a:cs typeface="Times New Roman" panose="02020603050405020304" pitchFamily="18" charset="0"/>
              </a:rPr>
              <a:t>[table 1 replication]</a:t>
            </a:r>
            <a:endParaRPr dirty="0">
              <a:latin typeface="Times New Roman" panose="02020603050405020304" pitchFamily="18" charset="0"/>
              <a:cs typeface="Times New Roman" panose="02020603050405020304" pitchFamily="18" charset="0"/>
            </a:endParaRPr>
          </a:p>
        </p:txBody>
      </p:sp>
      <p:cxnSp>
        <p:nvCxnSpPr>
          <p:cNvPr id="9" name="Google Shape;96;p19">
            <a:extLst>
              <a:ext uri="{FF2B5EF4-FFF2-40B4-BE49-F238E27FC236}">
                <a16:creationId xmlns:a16="http://schemas.microsoft.com/office/drawing/2014/main" id="{9946838A-D71D-4EB0-DC48-18B9D4E9119E}"/>
              </a:ext>
            </a:extLst>
          </p:cNvPr>
          <p:cNvCxnSpPr>
            <a:cxnSpLocks/>
          </p:cNvCxnSpPr>
          <p:nvPr/>
        </p:nvCxnSpPr>
        <p:spPr>
          <a:xfrm>
            <a:off x="3006646" y="2005255"/>
            <a:ext cx="421478" cy="0"/>
          </a:xfrm>
          <a:prstGeom prst="straightConnector1">
            <a:avLst/>
          </a:prstGeom>
          <a:noFill/>
          <a:ln w="9525" cap="flat" cmpd="sng">
            <a:solidFill>
              <a:schemeClr val="dk2"/>
            </a:solidFill>
            <a:prstDash val="solid"/>
            <a:round/>
            <a:headEnd type="none" w="med" len="med"/>
            <a:tailEnd type="triangle" w="med" len="med"/>
          </a:ln>
        </p:spPr>
      </p:cxnSp>
      <p:cxnSp>
        <p:nvCxnSpPr>
          <p:cNvPr id="10" name="Google Shape;96;p19">
            <a:extLst>
              <a:ext uri="{FF2B5EF4-FFF2-40B4-BE49-F238E27FC236}">
                <a16:creationId xmlns:a16="http://schemas.microsoft.com/office/drawing/2014/main" id="{3E442901-7C6A-B277-CBE6-F2FCA9B57320}"/>
              </a:ext>
            </a:extLst>
          </p:cNvPr>
          <p:cNvCxnSpPr>
            <a:cxnSpLocks/>
          </p:cNvCxnSpPr>
          <p:nvPr/>
        </p:nvCxnSpPr>
        <p:spPr>
          <a:xfrm>
            <a:off x="5716632" y="2005255"/>
            <a:ext cx="433156" cy="0"/>
          </a:xfrm>
          <a:prstGeom prst="straightConnector1">
            <a:avLst/>
          </a:prstGeom>
          <a:noFill/>
          <a:ln w="9525" cap="flat" cmpd="sng">
            <a:solidFill>
              <a:schemeClr val="dk2"/>
            </a:solidFill>
            <a:prstDash val="solid"/>
            <a:round/>
            <a:headEnd type="none" w="med" len="med"/>
            <a:tailEnd type="triangle" w="med" len="med"/>
          </a:ln>
        </p:spPr>
      </p:cxnSp>
      <p:sp>
        <p:nvSpPr>
          <p:cNvPr id="12" name="Google Shape;134;p21">
            <a:extLst>
              <a:ext uri="{FF2B5EF4-FFF2-40B4-BE49-F238E27FC236}">
                <a16:creationId xmlns:a16="http://schemas.microsoft.com/office/drawing/2014/main" id="{27569ADC-9E8C-3709-4678-FF5CF01392C0}"/>
              </a:ext>
            </a:extLst>
          </p:cNvPr>
          <p:cNvSpPr/>
          <p:nvPr/>
        </p:nvSpPr>
        <p:spPr>
          <a:xfrm>
            <a:off x="3552917" y="1535155"/>
            <a:ext cx="1993200" cy="940200"/>
          </a:xfrm>
          <a:prstGeom prst="rect">
            <a:avLst/>
          </a:prstGeom>
          <a:solidFill>
            <a:srgbClr val="E8BDD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 dirty="0">
                <a:latin typeface="Times New Roman" panose="02020603050405020304" pitchFamily="18" charset="0"/>
                <a:cs typeface="Times New Roman" panose="02020603050405020304" pitchFamily="18" charset="0"/>
              </a:rPr>
              <a:t>2. </a:t>
            </a:r>
            <a:r>
              <a:rPr lang="en-US" dirty="0">
                <a:latin typeface="Times New Roman" panose="02020603050405020304" pitchFamily="18" charset="0"/>
                <a:cs typeface="Times New Roman" panose="02020603050405020304" pitchFamily="18" charset="0"/>
              </a:rPr>
              <a:t>Inspect the files</a:t>
            </a:r>
            <a:endParaRPr dirty="0">
              <a:latin typeface="Times New Roman" panose="02020603050405020304" pitchFamily="18" charset="0"/>
              <a:cs typeface="Times New Roman" panose="02020603050405020304" pitchFamily="18" charset="0"/>
            </a:endParaRPr>
          </a:p>
        </p:txBody>
      </p:sp>
      <p:cxnSp>
        <p:nvCxnSpPr>
          <p:cNvPr id="15" name="Google Shape;96;p19">
            <a:extLst>
              <a:ext uri="{FF2B5EF4-FFF2-40B4-BE49-F238E27FC236}">
                <a16:creationId xmlns:a16="http://schemas.microsoft.com/office/drawing/2014/main" id="{18484A47-7F8B-669C-6729-97406F17305B}"/>
              </a:ext>
            </a:extLst>
          </p:cNvPr>
          <p:cNvCxnSpPr>
            <a:cxnSpLocks/>
          </p:cNvCxnSpPr>
          <p:nvPr/>
        </p:nvCxnSpPr>
        <p:spPr>
          <a:xfrm flipH="1">
            <a:off x="6768353" y="2571750"/>
            <a:ext cx="663388" cy="816909"/>
          </a:xfrm>
          <a:prstGeom prst="straightConnector1">
            <a:avLst/>
          </a:prstGeom>
          <a:noFill/>
          <a:ln w="9525" cap="flat" cmpd="sng">
            <a:solidFill>
              <a:schemeClr val="dk2"/>
            </a:solidFill>
            <a:prstDash val="solid"/>
            <a:round/>
            <a:headEnd type="none" w="med" len="med"/>
            <a:tailEnd type="triangle" w="med" len="med"/>
          </a:ln>
        </p:spPr>
      </p:cxnSp>
      <p:cxnSp>
        <p:nvCxnSpPr>
          <p:cNvPr id="19" name="Google Shape;96;p19">
            <a:extLst>
              <a:ext uri="{FF2B5EF4-FFF2-40B4-BE49-F238E27FC236}">
                <a16:creationId xmlns:a16="http://schemas.microsoft.com/office/drawing/2014/main" id="{BF2CFC40-4FF8-9E1B-425C-1FB176D052B2}"/>
              </a:ext>
            </a:extLst>
          </p:cNvPr>
          <p:cNvCxnSpPr>
            <a:cxnSpLocks/>
          </p:cNvCxnSpPr>
          <p:nvPr/>
        </p:nvCxnSpPr>
        <p:spPr>
          <a:xfrm flipH="1">
            <a:off x="4159624" y="3987570"/>
            <a:ext cx="1053281" cy="14863"/>
          </a:xfrm>
          <a:prstGeom prst="straightConnector1">
            <a:avLst/>
          </a:prstGeom>
          <a:noFill/>
          <a:ln w="9525" cap="flat" cmpd="sng">
            <a:solidFill>
              <a:schemeClr val="dk2"/>
            </a:solidFill>
            <a:prstDash val="solid"/>
            <a:round/>
            <a:headEnd type="none" w="med" len="med"/>
            <a:tailEnd type="triangle" w="med" len="med"/>
          </a:ln>
        </p:spPr>
      </p:cxnSp>
    </p:spTree>
    <p:extLst>
      <p:ext uri="{BB962C8B-B14F-4D97-AF65-F5344CB8AC3E}">
        <p14:creationId xmlns:p14="http://schemas.microsoft.com/office/powerpoint/2010/main" val="18902318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D4F0D-0FFA-87F6-89B2-04760380D9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A72F3-C574-24D6-DF4D-ACBAA5141F4C}"/>
              </a:ext>
            </a:extLst>
          </p:cNvPr>
          <p:cNvSpPr>
            <a:spLocks noGrp="1"/>
          </p:cNvSpPr>
          <p:nvPr>
            <p:ph type="title"/>
          </p:nvPr>
        </p:nvSpPr>
        <p:spPr/>
        <p:txBody>
          <a:bodyPr>
            <a:normAutofit fontScale="90000"/>
          </a:bodyPr>
          <a:lstStyle/>
          <a:p>
            <a:r>
              <a:rPr lang="en-US" dirty="0">
                <a:solidFill>
                  <a:srgbClr val="000000"/>
                </a:solidFill>
                <a:latin typeface="Times New Roman" panose="02020603050405020304" pitchFamily="18" charset="0"/>
                <a:cs typeface="Times New Roman" panose="02020603050405020304" pitchFamily="18" charset="0"/>
              </a:rPr>
              <a:t>Inspection and clean the files</a:t>
            </a:r>
            <a:endParaRPr lang="en-US" dirty="0"/>
          </a:p>
        </p:txBody>
      </p:sp>
      <p:sp>
        <p:nvSpPr>
          <p:cNvPr id="7" name="Text Placeholder 2">
            <a:extLst>
              <a:ext uri="{FF2B5EF4-FFF2-40B4-BE49-F238E27FC236}">
                <a16:creationId xmlns:a16="http://schemas.microsoft.com/office/drawing/2014/main" id="{881E6B7B-B55F-F14C-F119-7ED3E114D93A}"/>
              </a:ext>
            </a:extLst>
          </p:cNvPr>
          <p:cNvSpPr>
            <a:spLocks noGrp="1"/>
          </p:cNvSpPr>
          <p:nvPr>
            <p:ph type="body" idx="1"/>
          </p:nvPr>
        </p:nvSpPr>
        <p:spPr>
          <a:xfrm>
            <a:off x="311699" y="1152475"/>
            <a:ext cx="7164865" cy="3416400"/>
          </a:xfrm>
        </p:spPr>
        <p:txBody>
          <a:bodyPr/>
          <a:lstStyle/>
          <a:p>
            <a:r>
              <a:rPr lang="en-US" dirty="0"/>
              <a:t>Use ’head(X)’ and ‘print(names(X))’ to inspect the files</a:t>
            </a:r>
          </a:p>
        </p:txBody>
      </p:sp>
      <p:pic>
        <p:nvPicPr>
          <p:cNvPr id="9" name="Picture 8">
            <a:extLst>
              <a:ext uri="{FF2B5EF4-FFF2-40B4-BE49-F238E27FC236}">
                <a16:creationId xmlns:a16="http://schemas.microsoft.com/office/drawing/2014/main" id="{1D395DA9-E0A4-8C88-3176-C2CC2A70C587}"/>
              </a:ext>
            </a:extLst>
          </p:cNvPr>
          <p:cNvPicPr>
            <a:picLocks noChangeAspect="1"/>
          </p:cNvPicPr>
          <p:nvPr/>
        </p:nvPicPr>
        <p:blipFill>
          <a:blip r:embed="rId2"/>
          <a:srcRect t="27516"/>
          <a:stretch>
            <a:fillRect/>
          </a:stretch>
        </p:blipFill>
        <p:spPr>
          <a:xfrm>
            <a:off x="905808" y="1559859"/>
            <a:ext cx="3274501" cy="1821702"/>
          </a:xfrm>
          <a:prstGeom prst="rect">
            <a:avLst/>
          </a:prstGeom>
        </p:spPr>
      </p:pic>
      <p:pic>
        <p:nvPicPr>
          <p:cNvPr id="11" name="Picture 10">
            <a:extLst>
              <a:ext uri="{FF2B5EF4-FFF2-40B4-BE49-F238E27FC236}">
                <a16:creationId xmlns:a16="http://schemas.microsoft.com/office/drawing/2014/main" id="{EC9664D3-AE07-7C04-C361-92D282BE3B31}"/>
              </a:ext>
            </a:extLst>
          </p:cNvPr>
          <p:cNvPicPr>
            <a:picLocks noChangeAspect="1"/>
          </p:cNvPicPr>
          <p:nvPr/>
        </p:nvPicPr>
        <p:blipFill>
          <a:blip r:embed="rId3"/>
          <a:stretch>
            <a:fillRect/>
          </a:stretch>
        </p:blipFill>
        <p:spPr>
          <a:xfrm>
            <a:off x="905808" y="3542021"/>
            <a:ext cx="6777690" cy="1601479"/>
          </a:xfrm>
          <a:prstGeom prst="rect">
            <a:avLst/>
          </a:prstGeom>
        </p:spPr>
      </p:pic>
      <p:sp>
        <p:nvSpPr>
          <p:cNvPr id="12" name="TextBox 11">
            <a:extLst>
              <a:ext uri="{FF2B5EF4-FFF2-40B4-BE49-F238E27FC236}">
                <a16:creationId xmlns:a16="http://schemas.microsoft.com/office/drawing/2014/main" id="{4071B8EB-A858-A6EB-29B6-3D7574C3F337}"/>
              </a:ext>
            </a:extLst>
          </p:cNvPr>
          <p:cNvSpPr txBox="1"/>
          <p:nvPr/>
        </p:nvSpPr>
        <p:spPr>
          <a:xfrm>
            <a:off x="4180309" y="2714766"/>
            <a:ext cx="3711388" cy="954107"/>
          </a:xfrm>
          <a:prstGeom prst="rect">
            <a:avLst/>
          </a:prstGeom>
          <a:noFill/>
        </p:spPr>
        <p:txBody>
          <a:bodyPr wrap="square" rtlCol="0">
            <a:spAutoFit/>
          </a:bodyPr>
          <a:lstStyle/>
          <a:p>
            <a:pPr marL="285750" indent="-285750">
              <a:buFont typeface="Arial" panose="020B0604020202020204" pitchFamily="34" charset="0"/>
              <a:buChar char="•"/>
            </a:pPr>
            <a:r>
              <a:rPr lang="en-US" dirty="0"/>
              <a:t>Now we know that the processed files contain the statistic value and log2fold change -&gt; we now can recreate the figures/tables</a:t>
            </a:r>
          </a:p>
        </p:txBody>
      </p:sp>
    </p:spTree>
    <p:extLst>
      <p:ext uri="{BB962C8B-B14F-4D97-AF65-F5344CB8AC3E}">
        <p14:creationId xmlns:p14="http://schemas.microsoft.com/office/powerpoint/2010/main" val="1714246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18953-6181-3EC5-BDBC-79165D37E7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D569DA-8452-1F15-6764-705D817F3B8B}"/>
              </a:ext>
            </a:extLst>
          </p:cNvPr>
          <p:cNvSpPr>
            <a:spLocks noGrp="1"/>
          </p:cNvSpPr>
          <p:nvPr>
            <p:ph type="title"/>
          </p:nvPr>
        </p:nvSpPr>
        <p:spPr/>
        <p:txBody>
          <a:bodyPr>
            <a:normAutofit fontScale="90000"/>
          </a:bodyPr>
          <a:lstStyle/>
          <a:p>
            <a:r>
              <a:rPr lang="en-US" dirty="0">
                <a:solidFill>
                  <a:srgbClr val="000000"/>
                </a:solidFill>
                <a:latin typeface="Times New Roman" panose="02020603050405020304" pitchFamily="18" charset="0"/>
                <a:cs typeface="Times New Roman" panose="02020603050405020304" pitchFamily="18" charset="0"/>
              </a:rPr>
              <a:t>Result comparison: volcano plot </a:t>
            </a:r>
            <a:endParaRPr lang="en-US" dirty="0"/>
          </a:p>
        </p:txBody>
      </p:sp>
      <p:sp>
        <p:nvSpPr>
          <p:cNvPr id="5" name="TextBox 4">
            <a:extLst>
              <a:ext uri="{FF2B5EF4-FFF2-40B4-BE49-F238E27FC236}">
                <a16:creationId xmlns:a16="http://schemas.microsoft.com/office/drawing/2014/main" id="{BE53AC6C-B5DC-E82E-FEA3-33FE3DD1A3E9}"/>
              </a:ext>
            </a:extLst>
          </p:cNvPr>
          <p:cNvSpPr txBox="1"/>
          <p:nvPr/>
        </p:nvSpPr>
        <p:spPr>
          <a:xfrm>
            <a:off x="770965" y="1264024"/>
            <a:ext cx="1783976" cy="307777"/>
          </a:xfrm>
          <a:prstGeom prst="rect">
            <a:avLst/>
          </a:prstGeom>
          <a:noFill/>
        </p:spPr>
        <p:txBody>
          <a:bodyPr wrap="square" rtlCol="0">
            <a:spAutoFit/>
          </a:bodyPr>
          <a:lstStyle/>
          <a:p>
            <a:r>
              <a:rPr lang="en-US" dirty="0"/>
              <a:t>Actual journal</a:t>
            </a:r>
          </a:p>
        </p:txBody>
      </p:sp>
      <p:sp>
        <p:nvSpPr>
          <p:cNvPr id="6" name="TextBox 5">
            <a:extLst>
              <a:ext uri="{FF2B5EF4-FFF2-40B4-BE49-F238E27FC236}">
                <a16:creationId xmlns:a16="http://schemas.microsoft.com/office/drawing/2014/main" id="{B9B51B7F-FC86-0DA1-96B7-00AA9551FCD3}"/>
              </a:ext>
            </a:extLst>
          </p:cNvPr>
          <p:cNvSpPr txBox="1"/>
          <p:nvPr/>
        </p:nvSpPr>
        <p:spPr>
          <a:xfrm>
            <a:off x="5934636" y="1264024"/>
            <a:ext cx="1783976" cy="307777"/>
          </a:xfrm>
          <a:prstGeom prst="rect">
            <a:avLst/>
          </a:prstGeom>
          <a:noFill/>
        </p:spPr>
        <p:txBody>
          <a:bodyPr wrap="square" rtlCol="0">
            <a:spAutoFit/>
          </a:bodyPr>
          <a:lstStyle/>
          <a:p>
            <a:r>
              <a:rPr lang="en-US" dirty="0"/>
              <a:t>Our result</a:t>
            </a:r>
          </a:p>
        </p:txBody>
      </p:sp>
      <p:pic>
        <p:nvPicPr>
          <p:cNvPr id="10" name="Picture 9">
            <a:extLst>
              <a:ext uri="{FF2B5EF4-FFF2-40B4-BE49-F238E27FC236}">
                <a16:creationId xmlns:a16="http://schemas.microsoft.com/office/drawing/2014/main" id="{7973491D-12BE-0BD1-F597-C5FCC8AC9FA9}"/>
              </a:ext>
            </a:extLst>
          </p:cNvPr>
          <p:cNvPicPr>
            <a:picLocks noChangeAspect="1"/>
          </p:cNvPicPr>
          <p:nvPr/>
        </p:nvPicPr>
        <p:blipFill>
          <a:blip r:embed="rId3"/>
          <a:srcRect l="872"/>
          <a:stretch>
            <a:fillRect/>
          </a:stretch>
        </p:blipFill>
        <p:spPr>
          <a:xfrm>
            <a:off x="555812" y="1699407"/>
            <a:ext cx="3726212" cy="2999068"/>
          </a:xfrm>
          <a:prstGeom prst="rect">
            <a:avLst/>
          </a:prstGeom>
        </p:spPr>
      </p:pic>
      <p:pic>
        <p:nvPicPr>
          <p:cNvPr id="14" name="Picture 13">
            <a:extLst>
              <a:ext uri="{FF2B5EF4-FFF2-40B4-BE49-F238E27FC236}">
                <a16:creationId xmlns:a16="http://schemas.microsoft.com/office/drawing/2014/main" id="{397CE27D-DFA0-D6FB-6D64-5A4478663224}"/>
              </a:ext>
            </a:extLst>
          </p:cNvPr>
          <p:cNvPicPr>
            <a:picLocks noChangeAspect="1"/>
          </p:cNvPicPr>
          <p:nvPr/>
        </p:nvPicPr>
        <p:blipFill>
          <a:blip r:embed="rId4"/>
          <a:stretch>
            <a:fillRect/>
          </a:stretch>
        </p:blipFill>
        <p:spPr>
          <a:xfrm>
            <a:off x="4701988" y="1571801"/>
            <a:ext cx="3298975" cy="2999068"/>
          </a:xfrm>
          <a:prstGeom prst="rect">
            <a:avLst/>
          </a:prstGeom>
        </p:spPr>
      </p:pic>
      <p:sp>
        <p:nvSpPr>
          <p:cNvPr id="15" name="TextBox 14">
            <a:extLst>
              <a:ext uri="{FF2B5EF4-FFF2-40B4-BE49-F238E27FC236}">
                <a16:creationId xmlns:a16="http://schemas.microsoft.com/office/drawing/2014/main" id="{F2573CC3-C082-3BC6-4DD2-0BF55CEDD909}"/>
              </a:ext>
            </a:extLst>
          </p:cNvPr>
          <p:cNvSpPr txBox="1"/>
          <p:nvPr/>
        </p:nvSpPr>
        <p:spPr>
          <a:xfrm>
            <a:off x="1455882" y="4724757"/>
            <a:ext cx="5652284" cy="307777"/>
          </a:xfrm>
          <a:prstGeom prst="rect">
            <a:avLst/>
          </a:prstGeom>
          <a:noFill/>
        </p:spPr>
        <p:txBody>
          <a:bodyPr wrap="square" rtlCol="0">
            <a:spAutoFit/>
          </a:bodyPr>
          <a:lstStyle/>
          <a:p>
            <a:r>
              <a:rPr lang="en-US" dirty="0"/>
              <a:t>log2 fold change = log2(expression in Dex / expression in Control)</a:t>
            </a:r>
          </a:p>
        </p:txBody>
      </p:sp>
      <p:cxnSp>
        <p:nvCxnSpPr>
          <p:cNvPr id="17" name="Straight Arrow Connector 16">
            <a:extLst>
              <a:ext uri="{FF2B5EF4-FFF2-40B4-BE49-F238E27FC236}">
                <a16:creationId xmlns:a16="http://schemas.microsoft.com/office/drawing/2014/main" id="{A80908DC-C34D-507F-F585-4EB51981D99C}"/>
              </a:ext>
            </a:extLst>
          </p:cNvPr>
          <p:cNvCxnSpPr>
            <a:cxnSpLocks/>
          </p:cNvCxnSpPr>
          <p:nvPr/>
        </p:nvCxnSpPr>
        <p:spPr>
          <a:xfrm flipV="1">
            <a:off x="7368791" y="1078122"/>
            <a:ext cx="215332" cy="6212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F5844AD8-3953-8BAB-4E1C-1D60487177A3}"/>
              </a:ext>
            </a:extLst>
          </p:cNvPr>
          <p:cNvSpPr txBox="1"/>
          <p:nvPr/>
        </p:nvSpPr>
        <p:spPr>
          <a:xfrm>
            <a:off x="4701988" y="572067"/>
            <a:ext cx="3639670" cy="461665"/>
          </a:xfrm>
          <a:prstGeom prst="rect">
            <a:avLst/>
          </a:prstGeom>
          <a:noFill/>
        </p:spPr>
        <p:txBody>
          <a:bodyPr wrap="square" rtlCol="0">
            <a:spAutoFit/>
          </a:bodyPr>
          <a:lstStyle/>
          <a:p>
            <a:r>
              <a:rPr lang="en-US" sz="1200" dirty="0"/>
              <a:t>We removes extreme placeholder log2 fold-change values</a:t>
            </a:r>
          </a:p>
        </p:txBody>
      </p:sp>
      <p:pic>
        <p:nvPicPr>
          <p:cNvPr id="20" name="Picture 19">
            <a:extLst>
              <a:ext uri="{FF2B5EF4-FFF2-40B4-BE49-F238E27FC236}">
                <a16:creationId xmlns:a16="http://schemas.microsoft.com/office/drawing/2014/main" id="{CA43A9B4-6DF3-2F06-0285-9D6D53D99FEF}"/>
              </a:ext>
            </a:extLst>
          </p:cNvPr>
          <p:cNvPicPr>
            <a:picLocks noChangeAspect="1"/>
          </p:cNvPicPr>
          <p:nvPr/>
        </p:nvPicPr>
        <p:blipFill>
          <a:blip r:embed="rId5"/>
          <a:stretch>
            <a:fillRect/>
          </a:stretch>
        </p:blipFill>
        <p:spPr>
          <a:xfrm>
            <a:off x="4745800" y="365138"/>
            <a:ext cx="4331821" cy="696614"/>
          </a:xfrm>
          <a:prstGeom prst="rect">
            <a:avLst/>
          </a:prstGeom>
        </p:spPr>
      </p:pic>
    </p:spTree>
    <p:extLst>
      <p:ext uri="{BB962C8B-B14F-4D97-AF65-F5344CB8AC3E}">
        <p14:creationId xmlns:p14="http://schemas.microsoft.com/office/powerpoint/2010/main" val="2911837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428ED-03F1-4965-CB8F-CB3093ECCB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8E362-C6CA-2D7C-1A84-F99B690C0527}"/>
              </a:ext>
            </a:extLst>
          </p:cNvPr>
          <p:cNvSpPr>
            <a:spLocks noGrp="1"/>
          </p:cNvSpPr>
          <p:nvPr>
            <p:ph type="title"/>
          </p:nvPr>
        </p:nvSpPr>
        <p:spPr/>
        <p:txBody>
          <a:bodyPr>
            <a:normAutofit fontScale="90000"/>
          </a:bodyPr>
          <a:lstStyle/>
          <a:p>
            <a:r>
              <a:rPr lang="en-US" dirty="0">
                <a:solidFill>
                  <a:srgbClr val="000000"/>
                </a:solidFill>
                <a:latin typeface="Times New Roman" panose="02020603050405020304" pitchFamily="18" charset="0"/>
                <a:cs typeface="Times New Roman" panose="02020603050405020304" pitchFamily="18" charset="0"/>
              </a:rPr>
              <a:t>Result comparison: Top differential expression genes </a:t>
            </a:r>
            <a:endParaRPr lang="en-US" dirty="0"/>
          </a:p>
        </p:txBody>
      </p:sp>
      <p:pic>
        <p:nvPicPr>
          <p:cNvPr id="4" name="Picture 3">
            <a:extLst>
              <a:ext uri="{FF2B5EF4-FFF2-40B4-BE49-F238E27FC236}">
                <a16:creationId xmlns:a16="http://schemas.microsoft.com/office/drawing/2014/main" id="{15BEF6D4-7602-66BB-DD6E-0EC8891664E8}"/>
              </a:ext>
            </a:extLst>
          </p:cNvPr>
          <p:cNvPicPr>
            <a:picLocks noChangeAspect="1"/>
          </p:cNvPicPr>
          <p:nvPr/>
        </p:nvPicPr>
        <p:blipFill>
          <a:blip r:embed="rId3"/>
          <a:stretch>
            <a:fillRect/>
          </a:stretch>
        </p:blipFill>
        <p:spPr>
          <a:xfrm>
            <a:off x="528918" y="1365047"/>
            <a:ext cx="7306236" cy="3672177"/>
          </a:xfrm>
          <a:prstGeom prst="rect">
            <a:avLst/>
          </a:prstGeom>
        </p:spPr>
      </p:pic>
      <p:sp>
        <p:nvSpPr>
          <p:cNvPr id="7" name="TextBox 6">
            <a:extLst>
              <a:ext uri="{FF2B5EF4-FFF2-40B4-BE49-F238E27FC236}">
                <a16:creationId xmlns:a16="http://schemas.microsoft.com/office/drawing/2014/main" id="{32070349-5F1F-0DBB-3590-27A72DEDB7AF}"/>
              </a:ext>
            </a:extLst>
          </p:cNvPr>
          <p:cNvSpPr txBox="1"/>
          <p:nvPr/>
        </p:nvSpPr>
        <p:spPr>
          <a:xfrm>
            <a:off x="428241" y="1057270"/>
            <a:ext cx="3516229" cy="307777"/>
          </a:xfrm>
          <a:prstGeom prst="rect">
            <a:avLst/>
          </a:prstGeom>
          <a:noFill/>
        </p:spPr>
        <p:txBody>
          <a:bodyPr wrap="square" rtlCol="0">
            <a:spAutoFit/>
          </a:bodyPr>
          <a:lstStyle/>
          <a:p>
            <a:r>
              <a:rPr lang="en-US" dirty="0"/>
              <a:t>top genes with Q-value &lt; 1E-10</a:t>
            </a:r>
          </a:p>
        </p:txBody>
      </p:sp>
      <p:sp>
        <p:nvSpPr>
          <p:cNvPr id="5" name="Rectangle 4">
            <a:extLst>
              <a:ext uri="{FF2B5EF4-FFF2-40B4-BE49-F238E27FC236}">
                <a16:creationId xmlns:a16="http://schemas.microsoft.com/office/drawing/2014/main" id="{F6C24D7D-0C9C-E5D0-2BAE-95093995017E}"/>
              </a:ext>
            </a:extLst>
          </p:cNvPr>
          <p:cNvSpPr/>
          <p:nvPr/>
        </p:nvSpPr>
        <p:spPr>
          <a:xfrm>
            <a:off x="6361043" y="1458567"/>
            <a:ext cx="1325218" cy="222636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60EF2EE3-3A4B-77C1-B52C-AE94B85C321F}"/>
              </a:ext>
            </a:extLst>
          </p:cNvPr>
          <p:cNvCxnSpPr/>
          <p:nvPr/>
        </p:nvCxnSpPr>
        <p:spPr>
          <a:xfrm flipV="1">
            <a:off x="7315200" y="834887"/>
            <a:ext cx="371061" cy="530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4AD7069B-2878-DA74-404E-048C6A184659}"/>
              </a:ext>
            </a:extLst>
          </p:cNvPr>
          <p:cNvSpPr txBox="1"/>
          <p:nvPr/>
        </p:nvSpPr>
        <p:spPr>
          <a:xfrm>
            <a:off x="7271272" y="541265"/>
            <a:ext cx="1444487" cy="523220"/>
          </a:xfrm>
          <a:prstGeom prst="rect">
            <a:avLst/>
          </a:prstGeom>
          <a:noFill/>
        </p:spPr>
        <p:txBody>
          <a:bodyPr wrap="square" rtlCol="0">
            <a:spAutoFit/>
          </a:bodyPr>
          <a:lstStyle/>
          <a:p>
            <a:r>
              <a:rPr lang="en-US" dirty="0"/>
              <a:t>In R = 0</a:t>
            </a:r>
          </a:p>
          <a:p>
            <a:endParaRPr lang="en-US" dirty="0"/>
          </a:p>
        </p:txBody>
      </p:sp>
    </p:spTree>
    <p:extLst>
      <p:ext uri="{BB962C8B-B14F-4D97-AF65-F5344CB8AC3E}">
        <p14:creationId xmlns:p14="http://schemas.microsoft.com/office/powerpoint/2010/main" val="1355544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7785E-A0AB-3C9B-6A01-169C510757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D25645-2FFC-9BD5-8615-462375D2E061}"/>
              </a:ext>
            </a:extLst>
          </p:cNvPr>
          <p:cNvSpPr>
            <a:spLocks noGrp="1"/>
          </p:cNvSpPr>
          <p:nvPr>
            <p:ph type="title"/>
          </p:nvPr>
        </p:nvSpPr>
        <p:spPr/>
        <p:txBody>
          <a:bodyPr>
            <a:normAutofit fontScale="90000"/>
          </a:bodyPr>
          <a:lstStyle/>
          <a:p>
            <a:r>
              <a:rPr lang="en-US" dirty="0">
                <a:solidFill>
                  <a:srgbClr val="000000"/>
                </a:solidFill>
                <a:latin typeface="Times New Roman" panose="02020603050405020304" pitchFamily="18" charset="0"/>
                <a:cs typeface="Times New Roman" panose="02020603050405020304" pitchFamily="18" charset="0"/>
              </a:rPr>
              <a:t>Result comparison: Top differential expression genes </a:t>
            </a:r>
            <a:endParaRPr lang="en-US" dirty="0"/>
          </a:p>
        </p:txBody>
      </p:sp>
      <p:sp>
        <p:nvSpPr>
          <p:cNvPr id="6" name="TextBox 5">
            <a:extLst>
              <a:ext uri="{FF2B5EF4-FFF2-40B4-BE49-F238E27FC236}">
                <a16:creationId xmlns:a16="http://schemas.microsoft.com/office/drawing/2014/main" id="{10EBE3D4-C7E0-391F-5003-3E7F40080E24}"/>
              </a:ext>
            </a:extLst>
          </p:cNvPr>
          <p:cNvSpPr txBox="1"/>
          <p:nvPr/>
        </p:nvSpPr>
        <p:spPr>
          <a:xfrm>
            <a:off x="311700" y="1335741"/>
            <a:ext cx="3516229" cy="307777"/>
          </a:xfrm>
          <a:prstGeom prst="rect">
            <a:avLst/>
          </a:prstGeom>
          <a:noFill/>
        </p:spPr>
        <p:txBody>
          <a:bodyPr wrap="square" rtlCol="0">
            <a:spAutoFit/>
          </a:bodyPr>
          <a:lstStyle/>
          <a:p>
            <a:r>
              <a:rPr lang="en-US" dirty="0"/>
              <a:t>top genes with Q-value &lt; 6E-10</a:t>
            </a:r>
          </a:p>
        </p:txBody>
      </p:sp>
      <p:pic>
        <p:nvPicPr>
          <p:cNvPr id="4" name="Picture 3">
            <a:extLst>
              <a:ext uri="{FF2B5EF4-FFF2-40B4-BE49-F238E27FC236}">
                <a16:creationId xmlns:a16="http://schemas.microsoft.com/office/drawing/2014/main" id="{44D4D42F-0F46-D4DA-E6BF-8F3E73DAB3E9}"/>
              </a:ext>
            </a:extLst>
          </p:cNvPr>
          <p:cNvPicPr>
            <a:picLocks noChangeAspect="1"/>
          </p:cNvPicPr>
          <p:nvPr/>
        </p:nvPicPr>
        <p:blipFill>
          <a:blip r:embed="rId3"/>
          <a:srcRect b="3111"/>
          <a:stretch>
            <a:fillRect/>
          </a:stretch>
        </p:blipFill>
        <p:spPr>
          <a:xfrm>
            <a:off x="424070" y="1834371"/>
            <a:ext cx="8520600" cy="1809977"/>
          </a:xfrm>
          <a:prstGeom prst="rect">
            <a:avLst/>
          </a:prstGeom>
        </p:spPr>
      </p:pic>
      <p:sp>
        <p:nvSpPr>
          <p:cNvPr id="8" name="Rectangle 7">
            <a:extLst>
              <a:ext uri="{FF2B5EF4-FFF2-40B4-BE49-F238E27FC236}">
                <a16:creationId xmlns:a16="http://schemas.microsoft.com/office/drawing/2014/main" id="{79392976-F2DF-8946-15BA-311AF61AA114}"/>
              </a:ext>
            </a:extLst>
          </p:cNvPr>
          <p:cNvSpPr/>
          <p:nvPr/>
        </p:nvSpPr>
        <p:spPr>
          <a:xfrm>
            <a:off x="424070" y="2768420"/>
            <a:ext cx="954156" cy="2000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04918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RNA-seq differential expression workflow</a:t>
            </a:r>
            <a:endParaRPr dirty="0"/>
          </a:p>
        </p:txBody>
      </p:sp>
      <p:sp>
        <p:nvSpPr>
          <p:cNvPr id="134" name="Google Shape;134;p21"/>
          <p:cNvSpPr/>
          <p:nvPr/>
        </p:nvSpPr>
        <p:spPr>
          <a:xfrm>
            <a:off x="96127" y="1318297"/>
            <a:ext cx="2474999"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panose="02020603050405020304" pitchFamily="18" charset="0"/>
                <a:cs typeface="Times New Roman" panose="02020603050405020304" pitchFamily="18" charset="0"/>
              </a:rPr>
              <a:t>1. Install and load analysis packages/ load a dataset</a:t>
            </a:r>
            <a:endParaRPr>
              <a:latin typeface="Times New Roman" panose="02020603050405020304" pitchFamily="18" charset="0"/>
              <a:cs typeface="Times New Roman" panose="02020603050405020304" pitchFamily="18" charset="0"/>
            </a:endParaRPr>
          </a:p>
        </p:txBody>
      </p:sp>
      <p:sp>
        <p:nvSpPr>
          <p:cNvPr id="135" name="Google Shape;135;p21"/>
          <p:cNvSpPr/>
          <p:nvPr/>
        </p:nvSpPr>
        <p:spPr>
          <a:xfrm>
            <a:off x="3412101" y="1353021"/>
            <a:ext cx="2366352"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panose="02020603050405020304" pitchFamily="18" charset="0"/>
                <a:cs typeface="Times New Roman" panose="02020603050405020304" pitchFamily="18" charset="0"/>
              </a:rPr>
              <a:t>2. Inspect the data/metadata</a:t>
            </a:r>
            <a:endParaRPr>
              <a:latin typeface="Times New Roman" panose="02020603050405020304" pitchFamily="18" charset="0"/>
              <a:cs typeface="Times New Roman" panose="02020603050405020304" pitchFamily="18" charset="0"/>
            </a:endParaRPr>
          </a:p>
        </p:txBody>
      </p:sp>
      <p:sp>
        <p:nvSpPr>
          <p:cNvPr id="136" name="Google Shape;136;p21"/>
          <p:cNvSpPr/>
          <p:nvPr/>
        </p:nvSpPr>
        <p:spPr>
          <a:xfrm>
            <a:off x="6696241" y="1353021"/>
            <a:ext cx="19932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panose="02020603050405020304" pitchFamily="18" charset="0"/>
                <a:cs typeface="Times New Roman" panose="02020603050405020304" pitchFamily="18" charset="0"/>
              </a:rPr>
              <a:t>3. Build the DESeq2 analysis object</a:t>
            </a:r>
            <a:endParaRPr>
              <a:latin typeface="Times New Roman" panose="02020603050405020304" pitchFamily="18" charset="0"/>
              <a:cs typeface="Times New Roman" panose="02020603050405020304" pitchFamily="18" charset="0"/>
            </a:endParaRPr>
          </a:p>
        </p:txBody>
      </p:sp>
      <p:sp>
        <p:nvSpPr>
          <p:cNvPr id="137" name="Google Shape;137;p21"/>
          <p:cNvSpPr/>
          <p:nvPr/>
        </p:nvSpPr>
        <p:spPr>
          <a:xfrm>
            <a:off x="96128" y="3308575"/>
            <a:ext cx="24750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panose="02020603050405020304" pitchFamily="18" charset="0"/>
                <a:cs typeface="Times New Roman" panose="02020603050405020304" pitchFamily="18" charset="0"/>
              </a:rPr>
              <a:t>7. Run differential expression analysis</a:t>
            </a:r>
            <a:endParaRPr>
              <a:latin typeface="Times New Roman" panose="02020603050405020304" pitchFamily="18" charset="0"/>
              <a:cs typeface="Times New Roman" panose="02020603050405020304" pitchFamily="18" charset="0"/>
            </a:endParaRPr>
          </a:p>
        </p:txBody>
      </p:sp>
      <p:sp>
        <p:nvSpPr>
          <p:cNvPr id="139" name="Google Shape;139;p21"/>
          <p:cNvSpPr/>
          <p:nvPr/>
        </p:nvSpPr>
        <p:spPr>
          <a:xfrm>
            <a:off x="3334353" y="3302365"/>
            <a:ext cx="24441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5. Exploratory sample-level QC</a:t>
            </a:r>
            <a:endParaRPr dirty="0">
              <a:latin typeface="Times New Roman" panose="02020603050405020304" pitchFamily="18" charset="0"/>
              <a:cs typeface="Times New Roman" panose="02020603050405020304" pitchFamily="18" charset="0"/>
            </a:endParaRPr>
          </a:p>
        </p:txBody>
      </p:sp>
      <p:sp>
        <p:nvSpPr>
          <p:cNvPr id="140" name="Google Shape;140;p21"/>
          <p:cNvSpPr/>
          <p:nvPr/>
        </p:nvSpPr>
        <p:spPr>
          <a:xfrm>
            <a:off x="6696241" y="3277595"/>
            <a:ext cx="19932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4. Variance-stabilizing transformation for visualization</a:t>
            </a:r>
            <a:endParaRPr dirty="0">
              <a:latin typeface="Times New Roman" panose="02020603050405020304" pitchFamily="18" charset="0"/>
              <a:cs typeface="Times New Roman" panose="02020603050405020304" pitchFamily="18" charset="0"/>
            </a:endParaRPr>
          </a:p>
        </p:txBody>
      </p:sp>
      <p:cxnSp>
        <p:nvCxnSpPr>
          <p:cNvPr id="2" name="Google Shape;96;p19">
            <a:extLst>
              <a:ext uri="{FF2B5EF4-FFF2-40B4-BE49-F238E27FC236}">
                <a16:creationId xmlns:a16="http://schemas.microsoft.com/office/drawing/2014/main" id="{DA6D32B2-D588-FC05-F453-BF08EB8B3FAD}"/>
              </a:ext>
            </a:extLst>
          </p:cNvPr>
          <p:cNvCxnSpPr>
            <a:cxnSpLocks/>
          </p:cNvCxnSpPr>
          <p:nvPr/>
        </p:nvCxnSpPr>
        <p:spPr>
          <a:xfrm>
            <a:off x="2791114" y="1844407"/>
            <a:ext cx="421478" cy="0"/>
          </a:xfrm>
          <a:prstGeom prst="straightConnector1">
            <a:avLst/>
          </a:prstGeom>
          <a:noFill/>
          <a:ln w="9525" cap="flat" cmpd="sng">
            <a:solidFill>
              <a:schemeClr val="dk2"/>
            </a:solidFill>
            <a:prstDash val="solid"/>
            <a:round/>
            <a:headEnd type="none" w="med" len="med"/>
            <a:tailEnd type="triangle" w="med" len="med"/>
          </a:ln>
        </p:spPr>
      </p:cxnSp>
      <p:cxnSp>
        <p:nvCxnSpPr>
          <p:cNvPr id="4" name="Google Shape;96;p19">
            <a:extLst>
              <a:ext uri="{FF2B5EF4-FFF2-40B4-BE49-F238E27FC236}">
                <a16:creationId xmlns:a16="http://schemas.microsoft.com/office/drawing/2014/main" id="{351F372C-2D90-36CA-3A83-512F96E7079F}"/>
              </a:ext>
            </a:extLst>
          </p:cNvPr>
          <p:cNvCxnSpPr>
            <a:cxnSpLocks/>
          </p:cNvCxnSpPr>
          <p:nvPr/>
        </p:nvCxnSpPr>
        <p:spPr>
          <a:xfrm>
            <a:off x="5933924" y="1788397"/>
            <a:ext cx="421478" cy="0"/>
          </a:xfrm>
          <a:prstGeom prst="straightConnector1">
            <a:avLst/>
          </a:prstGeom>
          <a:noFill/>
          <a:ln w="9525" cap="flat" cmpd="sng">
            <a:solidFill>
              <a:schemeClr val="dk2"/>
            </a:solidFill>
            <a:prstDash val="solid"/>
            <a:round/>
            <a:headEnd type="none" w="med" len="med"/>
            <a:tailEnd type="triangle" w="med" len="med"/>
          </a:ln>
        </p:spPr>
      </p:cxnSp>
      <p:cxnSp>
        <p:nvCxnSpPr>
          <p:cNvPr id="5" name="Google Shape;96;p19">
            <a:extLst>
              <a:ext uri="{FF2B5EF4-FFF2-40B4-BE49-F238E27FC236}">
                <a16:creationId xmlns:a16="http://schemas.microsoft.com/office/drawing/2014/main" id="{0C522C34-0216-5FBE-FF2F-A3B0F2A66190}"/>
              </a:ext>
            </a:extLst>
          </p:cNvPr>
          <p:cNvCxnSpPr>
            <a:cxnSpLocks/>
          </p:cNvCxnSpPr>
          <p:nvPr/>
        </p:nvCxnSpPr>
        <p:spPr>
          <a:xfrm>
            <a:off x="7802901" y="2644427"/>
            <a:ext cx="0" cy="400572"/>
          </a:xfrm>
          <a:prstGeom prst="straightConnector1">
            <a:avLst/>
          </a:prstGeom>
          <a:noFill/>
          <a:ln w="9525" cap="flat" cmpd="sng">
            <a:solidFill>
              <a:schemeClr val="dk2"/>
            </a:solidFill>
            <a:prstDash val="solid"/>
            <a:round/>
            <a:headEnd type="none" w="med" len="med"/>
            <a:tailEnd type="triangle" w="med" len="med"/>
          </a:ln>
        </p:spPr>
      </p:cxnSp>
      <p:cxnSp>
        <p:nvCxnSpPr>
          <p:cNvPr id="7" name="Google Shape;96;p19">
            <a:extLst>
              <a:ext uri="{FF2B5EF4-FFF2-40B4-BE49-F238E27FC236}">
                <a16:creationId xmlns:a16="http://schemas.microsoft.com/office/drawing/2014/main" id="{82E00317-077B-1EAD-5180-B7F7B63EAB57}"/>
              </a:ext>
            </a:extLst>
          </p:cNvPr>
          <p:cNvCxnSpPr>
            <a:cxnSpLocks/>
          </p:cNvCxnSpPr>
          <p:nvPr/>
        </p:nvCxnSpPr>
        <p:spPr>
          <a:xfrm flipH="1">
            <a:off x="5892844" y="3747695"/>
            <a:ext cx="462558" cy="0"/>
          </a:xfrm>
          <a:prstGeom prst="straightConnector1">
            <a:avLst/>
          </a:prstGeom>
          <a:noFill/>
          <a:ln w="9525" cap="flat" cmpd="sng">
            <a:solidFill>
              <a:schemeClr val="dk2"/>
            </a:solidFill>
            <a:prstDash val="solid"/>
            <a:round/>
            <a:headEnd type="none" w="med" len="med"/>
            <a:tailEnd type="triangle" w="med" len="med"/>
          </a:ln>
        </p:spPr>
      </p:cxnSp>
      <p:cxnSp>
        <p:nvCxnSpPr>
          <p:cNvPr id="10" name="Google Shape;96;p19">
            <a:extLst>
              <a:ext uri="{FF2B5EF4-FFF2-40B4-BE49-F238E27FC236}">
                <a16:creationId xmlns:a16="http://schemas.microsoft.com/office/drawing/2014/main" id="{B795F545-CB6F-7F70-608A-F15F77B98F76}"/>
              </a:ext>
            </a:extLst>
          </p:cNvPr>
          <p:cNvCxnSpPr>
            <a:cxnSpLocks/>
          </p:cNvCxnSpPr>
          <p:nvPr/>
        </p:nvCxnSpPr>
        <p:spPr>
          <a:xfrm flipH="1">
            <a:off x="2734778" y="3801221"/>
            <a:ext cx="462558" cy="0"/>
          </a:xfrm>
          <a:prstGeom prst="straightConnector1">
            <a:avLst/>
          </a:prstGeom>
          <a:noFill/>
          <a:ln w="9525" cap="flat" cmpd="sng">
            <a:solidFill>
              <a:schemeClr val="dk2"/>
            </a:solidFill>
            <a:prstDash val="solid"/>
            <a:round/>
            <a:headEnd type="none" w="med" len="med"/>
            <a:tailEnd type="triangle" w="med" len="med"/>
          </a:ln>
        </p:spPr>
      </p:cxnSp>
      <p:sp>
        <p:nvSpPr>
          <p:cNvPr id="11" name="TextBox 10">
            <a:extLst>
              <a:ext uri="{FF2B5EF4-FFF2-40B4-BE49-F238E27FC236}">
                <a16:creationId xmlns:a16="http://schemas.microsoft.com/office/drawing/2014/main" id="{F5F6669C-D66E-A99E-FC15-1B3B22D861CB}"/>
              </a:ext>
            </a:extLst>
          </p:cNvPr>
          <p:cNvSpPr txBox="1"/>
          <p:nvPr/>
        </p:nvSpPr>
        <p:spPr>
          <a:xfrm>
            <a:off x="241100" y="2331253"/>
            <a:ext cx="1910429" cy="553998"/>
          </a:xfrm>
          <a:prstGeom prst="rect">
            <a:avLst/>
          </a:prstGeom>
          <a:noFill/>
        </p:spPr>
        <p:txBody>
          <a:bodyPr wrap="square" rtlCol="0">
            <a:spAutoFit/>
          </a:bodyPr>
          <a:lstStyle/>
          <a:p>
            <a:r>
              <a:rPr lang="en-US" sz="1000" dirty="0">
                <a:solidFill>
                  <a:schemeClr val="dk1"/>
                </a:solidFill>
                <a:latin typeface="Times New Roman" panose="02020603050405020304" pitchFamily="18" charset="0"/>
                <a:cs typeface="Times New Roman" panose="02020603050405020304" pitchFamily="18" charset="0"/>
              </a:rPr>
              <a:t>e.g. </a:t>
            </a:r>
            <a:r>
              <a:rPr lang="en" sz="1000" dirty="0" err="1">
                <a:solidFill>
                  <a:schemeClr val="dk1"/>
                </a:solidFill>
                <a:latin typeface="Times New Roman" panose="02020603050405020304" pitchFamily="18" charset="0"/>
                <a:cs typeface="Times New Roman" panose="02020603050405020304" pitchFamily="18" charset="0"/>
              </a:rPr>
              <a:t>BiocManager</a:t>
            </a:r>
            <a:r>
              <a:rPr lang="en" sz="1000" dirty="0">
                <a:solidFill>
                  <a:schemeClr val="dk1"/>
                </a:solidFill>
                <a:latin typeface="Times New Roman" panose="02020603050405020304" pitchFamily="18" charset="0"/>
                <a:cs typeface="Times New Roman" panose="02020603050405020304" pitchFamily="18" charset="0"/>
              </a:rPr>
              <a:t>, airway, DESeq2, </a:t>
            </a:r>
            <a:r>
              <a:rPr lang="en" sz="1000" dirty="0" err="1">
                <a:solidFill>
                  <a:schemeClr val="dk1"/>
                </a:solidFill>
                <a:latin typeface="Times New Roman" panose="02020603050405020304" pitchFamily="18" charset="0"/>
                <a:cs typeface="Times New Roman" panose="02020603050405020304" pitchFamily="18" charset="0"/>
              </a:rPr>
              <a:t>SummarizedExperiment</a:t>
            </a:r>
            <a:r>
              <a:rPr lang="en" sz="1000" dirty="0">
                <a:solidFill>
                  <a:schemeClr val="dk1"/>
                </a:solidFill>
                <a:latin typeface="Times New Roman" panose="02020603050405020304" pitchFamily="18" charset="0"/>
                <a:cs typeface="Times New Roman" panose="02020603050405020304" pitchFamily="18" charset="0"/>
              </a:rPr>
              <a:t>, ggplot2</a:t>
            </a:r>
            <a:endParaRPr lang="en-US" sz="10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E91CF521-452C-BED1-ADC7-D0B6A38EC098}"/>
              </a:ext>
            </a:extLst>
          </p:cNvPr>
          <p:cNvSpPr txBox="1"/>
          <p:nvPr/>
        </p:nvSpPr>
        <p:spPr>
          <a:xfrm>
            <a:off x="3334353" y="2331253"/>
            <a:ext cx="1122331" cy="784830"/>
          </a:xfrm>
          <a:prstGeom prst="rect">
            <a:avLst/>
          </a:prstGeom>
          <a:noFill/>
        </p:spPr>
        <p:txBody>
          <a:bodyPr wrap="square" rtlCol="0">
            <a:spAutoFit/>
          </a:bodyPr>
          <a:lstStyle/>
          <a:p>
            <a:r>
              <a:rPr lang="en" sz="900" dirty="0">
                <a:solidFill>
                  <a:schemeClr val="dk1"/>
                </a:solidFill>
                <a:latin typeface="Times New Roman" panose="02020603050405020304" pitchFamily="18" charset="0"/>
                <a:cs typeface="Times New Roman" panose="02020603050405020304" pitchFamily="18" charset="0"/>
              </a:rPr>
              <a:t>assay(se), </a:t>
            </a:r>
            <a:r>
              <a:rPr lang="en" sz="900" dirty="0" err="1">
                <a:solidFill>
                  <a:schemeClr val="dk1"/>
                </a:solidFill>
                <a:latin typeface="Times New Roman" panose="02020603050405020304" pitchFamily="18" charset="0"/>
                <a:cs typeface="Times New Roman" panose="02020603050405020304" pitchFamily="18" charset="0"/>
              </a:rPr>
              <a:t>colSums</a:t>
            </a:r>
            <a:r>
              <a:rPr lang="en" sz="900" dirty="0">
                <a:solidFill>
                  <a:schemeClr val="dk1"/>
                </a:solidFill>
                <a:latin typeface="Times New Roman" panose="02020603050405020304" pitchFamily="18" charset="0"/>
                <a:cs typeface="Times New Roman" panose="02020603050405020304" pitchFamily="18" charset="0"/>
              </a:rPr>
              <a:t>(assay(se)), </a:t>
            </a:r>
            <a:r>
              <a:rPr lang="en" sz="900" dirty="0" err="1">
                <a:solidFill>
                  <a:schemeClr val="dk1"/>
                </a:solidFill>
                <a:latin typeface="Times New Roman" panose="02020603050405020304" pitchFamily="18" charset="0"/>
                <a:cs typeface="Times New Roman" panose="02020603050405020304" pitchFamily="18" charset="0"/>
              </a:rPr>
              <a:t>colData</a:t>
            </a:r>
            <a:r>
              <a:rPr lang="en" sz="900" dirty="0">
                <a:solidFill>
                  <a:schemeClr val="dk1"/>
                </a:solidFill>
                <a:latin typeface="Times New Roman" panose="02020603050405020304" pitchFamily="18" charset="0"/>
                <a:cs typeface="Times New Roman" panose="02020603050405020304" pitchFamily="18" charset="0"/>
              </a:rPr>
              <a:t>(se), </a:t>
            </a:r>
            <a:r>
              <a:rPr lang="en" sz="900" dirty="0" err="1">
                <a:solidFill>
                  <a:schemeClr val="dk1"/>
                </a:solidFill>
                <a:latin typeface="Times New Roman" panose="02020603050405020304" pitchFamily="18" charset="0"/>
                <a:cs typeface="Times New Roman" panose="02020603050405020304" pitchFamily="18" charset="0"/>
              </a:rPr>
              <a:t>rowRanges</a:t>
            </a:r>
            <a:r>
              <a:rPr lang="en" sz="900" dirty="0">
                <a:solidFill>
                  <a:schemeClr val="dk1"/>
                </a:solidFill>
                <a:latin typeface="Times New Roman" panose="02020603050405020304" pitchFamily="18" charset="0"/>
                <a:cs typeface="Times New Roman" panose="02020603050405020304" pitchFamily="18" charset="0"/>
              </a:rPr>
              <a:t>(se)</a:t>
            </a:r>
            <a:br>
              <a:rPr lang="en" sz="900" dirty="0">
                <a:solidFill>
                  <a:schemeClr val="dk1"/>
                </a:solidFill>
                <a:latin typeface="Times New Roman" panose="02020603050405020304" pitchFamily="18" charset="0"/>
                <a:cs typeface="Times New Roman" panose="02020603050405020304" pitchFamily="18" charset="0"/>
              </a:rPr>
            </a:br>
            <a:endParaRPr lang="en-US" sz="9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C0CE5E4E-627D-7F0E-4BEE-5DC496F4B60F}"/>
              </a:ext>
            </a:extLst>
          </p:cNvPr>
          <p:cNvSpPr txBox="1"/>
          <p:nvPr/>
        </p:nvSpPr>
        <p:spPr>
          <a:xfrm>
            <a:off x="6718034" y="4297663"/>
            <a:ext cx="4572000" cy="230832"/>
          </a:xfrm>
          <a:prstGeom prst="rect">
            <a:avLst/>
          </a:prstGeom>
          <a:noFill/>
        </p:spPr>
        <p:txBody>
          <a:bodyPr wrap="square">
            <a:spAutoFit/>
          </a:bodyPr>
          <a:lstStyle/>
          <a:p>
            <a:r>
              <a:rPr lang="en" sz="900" dirty="0" err="1">
                <a:solidFill>
                  <a:schemeClr val="dk1"/>
                </a:solidFill>
                <a:latin typeface="Times New Roman" panose="02020603050405020304" pitchFamily="18" charset="0"/>
                <a:cs typeface="Times New Roman" panose="02020603050405020304" pitchFamily="18" charset="0"/>
              </a:rPr>
              <a:t>rlog</a:t>
            </a:r>
            <a:r>
              <a:rPr lang="en" sz="900" dirty="0">
                <a:solidFill>
                  <a:schemeClr val="dk1"/>
                </a:solidFill>
                <a:latin typeface="Times New Roman" panose="02020603050405020304" pitchFamily="18" charset="0"/>
                <a:cs typeface="Times New Roman" panose="02020603050405020304" pitchFamily="18" charset="0"/>
              </a:rPr>
              <a:t>(</a:t>
            </a:r>
            <a:r>
              <a:rPr lang="en" sz="900" dirty="0" err="1">
                <a:solidFill>
                  <a:schemeClr val="dk1"/>
                </a:solidFill>
                <a:latin typeface="Times New Roman" panose="02020603050405020304" pitchFamily="18" charset="0"/>
                <a:cs typeface="Times New Roman" panose="02020603050405020304" pitchFamily="18" charset="0"/>
              </a:rPr>
              <a:t>dds</a:t>
            </a:r>
            <a:r>
              <a:rPr lang="en" sz="900" dirty="0">
                <a:solidFill>
                  <a:schemeClr val="dk1"/>
                </a:solidFill>
                <a:latin typeface="Times New Roman" panose="02020603050405020304" pitchFamily="18" charset="0"/>
                <a:cs typeface="Times New Roman" panose="02020603050405020304" pitchFamily="18" charset="0"/>
              </a:rPr>
              <a:t>), </a:t>
            </a:r>
            <a:r>
              <a:rPr lang="en" sz="900" dirty="0" err="1">
                <a:solidFill>
                  <a:schemeClr val="dk1"/>
                </a:solidFill>
                <a:latin typeface="Times New Roman" panose="02020603050405020304" pitchFamily="18" charset="0"/>
                <a:cs typeface="Times New Roman" panose="02020603050405020304" pitchFamily="18" charset="0"/>
              </a:rPr>
              <a:t>estimateSizeFactors</a:t>
            </a:r>
            <a:r>
              <a:rPr lang="en" sz="900" dirty="0">
                <a:solidFill>
                  <a:schemeClr val="dk1"/>
                </a:solidFill>
                <a:latin typeface="Times New Roman" panose="02020603050405020304" pitchFamily="18" charset="0"/>
                <a:cs typeface="Times New Roman" panose="02020603050405020304" pitchFamily="18" charset="0"/>
              </a:rPr>
              <a:t>(</a:t>
            </a:r>
            <a:r>
              <a:rPr lang="en" sz="900" dirty="0" err="1">
                <a:solidFill>
                  <a:schemeClr val="dk1"/>
                </a:solidFill>
                <a:latin typeface="Times New Roman" panose="02020603050405020304" pitchFamily="18" charset="0"/>
                <a:cs typeface="Times New Roman" panose="02020603050405020304" pitchFamily="18" charset="0"/>
              </a:rPr>
              <a:t>dds</a:t>
            </a:r>
            <a:r>
              <a:rPr lang="en" sz="900" dirty="0">
                <a:solidFill>
                  <a:schemeClr val="dk1"/>
                </a:solidFill>
                <a:latin typeface="Times New Roman" panose="02020603050405020304" pitchFamily="18" charset="0"/>
                <a:cs typeface="Times New Roman" panose="02020603050405020304" pitchFamily="18" charset="0"/>
              </a:rPr>
              <a:t>)</a:t>
            </a:r>
            <a:endParaRPr lang="en-US" sz="9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7285843B-5A04-A633-186B-0B29D74FDC59}"/>
              </a:ext>
            </a:extLst>
          </p:cNvPr>
          <p:cNvSpPr txBox="1"/>
          <p:nvPr/>
        </p:nvSpPr>
        <p:spPr>
          <a:xfrm>
            <a:off x="3275994" y="4242565"/>
            <a:ext cx="2592011" cy="830997"/>
          </a:xfrm>
          <a:prstGeom prst="rect">
            <a:avLst/>
          </a:prstGeom>
          <a:noFill/>
        </p:spPr>
        <p:txBody>
          <a:bodyPr wrap="square" rtlCol="0">
            <a:spAutoFit/>
          </a:bodyPr>
          <a:lstStyle/>
          <a:p>
            <a:r>
              <a:rPr lang="en-US" sz="800" dirty="0">
                <a:latin typeface="Times New Roman" panose="02020603050405020304" pitchFamily="18" charset="0"/>
                <a:cs typeface="Times New Roman" panose="02020603050405020304" pitchFamily="18" charset="0"/>
              </a:rPr>
              <a:t>Sample distance plot</a:t>
            </a:r>
          </a:p>
          <a:p>
            <a:r>
              <a:rPr lang="en-US" sz="800" dirty="0" err="1">
                <a:latin typeface="Times New Roman" panose="02020603050405020304" pitchFamily="18" charset="0"/>
                <a:cs typeface="Times New Roman" panose="02020603050405020304" pitchFamily="18" charset="0"/>
              </a:rPr>
              <a:t>sampleDists</a:t>
            </a:r>
            <a:r>
              <a:rPr lang="en-US" sz="800" dirty="0">
                <a:latin typeface="Times New Roman" panose="02020603050405020304" pitchFamily="18" charset="0"/>
                <a:cs typeface="Times New Roman" panose="02020603050405020304" pitchFamily="18" charset="0"/>
              </a:rPr>
              <a:t> &lt;- </a:t>
            </a:r>
            <a:r>
              <a:rPr lang="en-US" sz="800" dirty="0" err="1">
                <a:latin typeface="Times New Roman" panose="02020603050405020304" pitchFamily="18" charset="0"/>
                <a:cs typeface="Times New Roman" panose="02020603050405020304" pitchFamily="18" charset="0"/>
              </a:rPr>
              <a:t>dist</a:t>
            </a:r>
            <a:r>
              <a:rPr lang="en-US" sz="800" dirty="0">
                <a:latin typeface="Times New Roman" panose="02020603050405020304" pitchFamily="18" charset="0"/>
                <a:cs typeface="Times New Roman" panose="02020603050405020304" pitchFamily="18" charset="0"/>
              </a:rPr>
              <a:t>(t(assay(</a:t>
            </a:r>
            <a:r>
              <a:rPr lang="en-US" sz="800" dirty="0" err="1">
                <a:latin typeface="Times New Roman" panose="02020603050405020304" pitchFamily="18" charset="0"/>
                <a:cs typeface="Times New Roman" panose="02020603050405020304" pitchFamily="18" charset="0"/>
              </a:rPr>
              <a:t>rld</a:t>
            </a:r>
            <a:r>
              <a:rPr lang="en-US" sz="800" dirty="0">
                <a:latin typeface="Times New Roman" panose="02020603050405020304" pitchFamily="18" charset="0"/>
                <a:cs typeface="Times New Roman" panose="02020603050405020304" pitchFamily="18" charset="0"/>
              </a:rPr>
              <a:t>)))</a:t>
            </a:r>
          </a:p>
          <a:p>
            <a:r>
              <a:rPr lang="en-US" sz="800" dirty="0" err="1">
                <a:latin typeface="Times New Roman" panose="02020603050405020304" pitchFamily="18" charset="0"/>
                <a:cs typeface="Times New Roman" panose="02020603050405020304" pitchFamily="18" charset="0"/>
              </a:rPr>
              <a:t>sampleDistMatrix</a:t>
            </a:r>
            <a:r>
              <a:rPr lang="en-US" sz="800" dirty="0">
                <a:latin typeface="Times New Roman" panose="02020603050405020304" pitchFamily="18" charset="0"/>
                <a:cs typeface="Times New Roman" panose="02020603050405020304" pitchFamily="18" charset="0"/>
              </a:rPr>
              <a:t> &lt;- </a:t>
            </a:r>
            <a:r>
              <a:rPr lang="en-US" sz="800" dirty="0" err="1">
                <a:latin typeface="Times New Roman" panose="02020603050405020304" pitchFamily="18" charset="0"/>
                <a:cs typeface="Times New Roman" panose="02020603050405020304" pitchFamily="18" charset="0"/>
              </a:rPr>
              <a:t>as.matrix</a:t>
            </a:r>
            <a:r>
              <a:rPr lang="en-US" sz="800" dirty="0">
                <a:latin typeface="Times New Roman" panose="02020603050405020304" pitchFamily="18" charset="0"/>
                <a:cs typeface="Times New Roman" panose="02020603050405020304" pitchFamily="18" charset="0"/>
              </a:rPr>
              <a:t>(</a:t>
            </a:r>
            <a:r>
              <a:rPr lang="en-US" sz="800" dirty="0" err="1">
                <a:latin typeface="Times New Roman" panose="02020603050405020304" pitchFamily="18" charset="0"/>
                <a:cs typeface="Times New Roman" panose="02020603050405020304" pitchFamily="18" charset="0"/>
              </a:rPr>
              <a:t>sampleDists</a:t>
            </a:r>
            <a:r>
              <a:rPr lang="en-US" sz="800" dirty="0">
                <a:latin typeface="Times New Roman" panose="02020603050405020304" pitchFamily="18" charset="0"/>
                <a:cs typeface="Times New Roman" panose="02020603050405020304" pitchFamily="18" charset="0"/>
              </a:rPr>
              <a:t>)</a:t>
            </a:r>
          </a:p>
          <a:p>
            <a:r>
              <a:rPr lang="en-US" sz="800" dirty="0" err="1">
                <a:latin typeface="Times New Roman" panose="02020603050405020304" pitchFamily="18" charset="0"/>
                <a:cs typeface="Times New Roman" panose="02020603050405020304" pitchFamily="18" charset="0"/>
              </a:rPr>
              <a:t>hc</a:t>
            </a:r>
            <a:r>
              <a:rPr lang="en-US" sz="800" dirty="0">
                <a:latin typeface="Times New Roman" panose="02020603050405020304" pitchFamily="18" charset="0"/>
                <a:cs typeface="Times New Roman" panose="02020603050405020304" pitchFamily="18" charset="0"/>
              </a:rPr>
              <a:t> &lt;- </a:t>
            </a:r>
            <a:r>
              <a:rPr lang="en-US" sz="800" dirty="0" err="1">
                <a:latin typeface="Times New Roman" panose="02020603050405020304" pitchFamily="18" charset="0"/>
                <a:cs typeface="Times New Roman" panose="02020603050405020304" pitchFamily="18" charset="0"/>
              </a:rPr>
              <a:t>hclust</a:t>
            </a:r>
            <a:r>
              <a:rPr lang="en-US" sz="800" dirty="0">
                <a:latin typeface="Times New Roman" panose="02020603050405020304" pitchFamily="18" charset="0"/>
                <a:cs typeface="Times New Roman" panose="02020603050405020304" pitchFamily="18" charset="0"/>
              </a:rPr>
              <a:t>(</a:t>
            </a:r>
            <a:r>
              <a:rPr lang="en-US" sz="800" dirty="0" err="1">
                <a:latin typeface="Times New Roman" panose="02020603050405020304" pitchFamily="18" charset="0"/>
                <a:cs typeface="Times New Roman" panose="02020603050405020304" pitchFamily="18" charset="0"/>
              </a:rPr>
              <a:t>sampleDists</a:t>
            </a:r>
            <a:r>
              <a:rPr lang="en-US" sz="800" dirty="0">
                <a:latin typeface="Times New Roman" panose="02020603050405020304" pitchFamily="18" charset="0"/>
                <a:cs typeface="Times New Roman" panose="02020603050405020304" pitchFamily="18" charset="0"/>
              </a:rPr>
              <a:t>)</a:t>
            </a:r>
          </a:p>
          <a:p>
            <a:endParaRPr lang="en-US" sz="800" dirty="0">
              <a:latin typeface="Times New Roman" panose="02020603050405020304" pitchFamily="18" charset="0"/>
              <a:cs typeface="Times New Roman" panose="02020603050405020304" pitchFamily="18" charset="0"/>
            </a:endParaRPr>
          </a:p>
          <a:p>
            <a:r>
              <a:rPr lang="en-US" sz="800" dirty="0">
                <a:latin typeface="Times New Roman" panose="02020603050405020304" pitchFamily="18" charset="0"/>
                <a:cs typeface="Times New Roman" panose="02020603050405020304" pitchFamily="18" charset="0"/>
              </a:rPr>
              <a:t>PCA plot: </a:t>
            </a:r>
            <a:r>
              <a:rPr lang="en-US" sz="800" dirty="0" err="1">
                <a:latin typeface="Times New Roman" panose="02020603050405020304" pitchFamily="18" charset="0"/>
                <a:cs typeface="Times New Roman" panose="02020603050405020304" pitchFamily="18" charset="0"/>
              </a:rPr>
              <a:t>plotPCA</a:t>
            </a:r>
            <a:r>
              <a:rPr lang="en-US" sz="800" dirty="0">
                <a:latin typeface="Times New Roman" panose="02020603050405020304" pitchFamily="18" charset="0"/>
                <a:cs typeface="Times New Roman" panose="02020603050405020304" pitchFamily="18" charset="0"/>
              </a:rPr>
              <a:t>(</a:t>
            </a:r>
            <a:r>
              <a:rPr lang="en-US" sz="800" dirty="0" err="1">
                <a:latin typeface="Times New Roman" panose="02020603050405020304" pitchFamily="18" charset="0"/>
                <a:cs typeface="Times New Roman" panose="02020603050405020304" pitchFamily="18" charset="0"/>
              </a:rPr>
              <a:t>rld</a:t>
            </a:r>
            <a:r>
              <a:rPr lang="en-US" sz="800" dirty="0">
                <a:latin typeface="Times New Roman" panose="02020603050405020304" pitchFamily="18" charset="0"/>
                <a:cs typeface="Times New Roman" panose="02020603050405020304" pitchFamily="18" charset="0"/>
              </a:rPr>
              <a:t>, </a:t>
            </a:r>
            <a:r>
              <a:rPr lang="en-US" sz="800" dirty="0" err="1">
                <a:latin typeface="Times New Roman" panose="02020603050405020304" pitchFamily="18" charset="0"/>
                <a:cs typeface="Times New Roman" panose="02020603050405020304" pitchFamily="18" charset="0"/>
              </a:rPr>
              <a:t>intgroup</a:t>
            </a:r>
            <a:r>
              <a:rPr lang="en-US" sz="800" dirty="0">
                <a:latin typeface="Times New Roman" panose="02020603050405020304" pitchFamily="18" charset="0"/>
                <a:cs typeface="Times New Roman" panose="02020603050405020304" pitchFamily="18" charset="0"/>
              </a:rPr>
              <a:t> = c("</a:t>
            </a:r>
            <a:r>
              <a:rPr lang="en-US" sz="800" dirty="0" err="1">
                <a:latin typeface="Times New Roman" panose="02020603050405020304" pitchFamily="18" charset="0"/>
                <a:cs typeface="Times New Roman" panose="02020603050405020304" pitchFamily="18" charset="0"/>
              </a:rPr>
              <a:t>dex</a:t>
            </a:r>
            <a:r>
              <a:rPr lang="en-US" sz="800" dirty="0">
                <a:latin typeface="Times New Roman" panose="02020603050405020304" pitchFamily="18" charset="0"/>
                <a:cs typeface="Times New Roman" panose="02020603050405020304" pitchFamily="18" charset="0"/>
              </a:rPr>
              <a:t>", "cell"))</a:t>
            </a:r>
          </a:p>
        </p:txBody>
      </p:sp>
      <p:sp>
        <p:nvSpPr>
          <p:cNvPr id="17" name="TextBox 16">
            <a:extLst>
              <a:ext uri="{FF2B5EF4-FFF2-40B4-BE49-F238E27FC236}">
                <a16:creationId xmlns:a16="http://schemas.microsoft.com/office/drawing/2014/main" id="{8A2915A4-AC41-9089-89FF-42EA7B5DB76F}"/>
              </a:ext>
            </a:extLst>
          </p:cNvPr>
          <p:cNvSpPr txBox="1"/>
          <p:nvPr/>
        </p:nvSpPr>
        <p:spPr>
          <a:xfrm>
            <a:off x="6643004" y="2362497"/>
            <a:ext cx="2319793" cy="338554"/>
          </a:xfrm>
          <a:prstGeom prst="rect">
            <a:avLst/>
          </a:prstGeom>
          <a:noFill/>
        </p:spPr>
        <p:txBody>
          <a:bodyPr wrap="square" rtlCol="0">
            <a:spAutoFit/>
          </a:bodyPr>
          <a:lstStyle/>
          <a:p>
            <a:r>
              <a:rPr lang="en-US" sz="800" dirty="0" err="1">
                <a:latin typeface="Times New Roman" panose="02020603050405020304" pitchFamily="18" charset="0"/>
                <a:cs typeface="Times New Roman" panose="02020603050405020304" pitchFamily="18" charset="0"/>
              </a:rPr>
              <a:t>dds</a:t>
            </a:r>
            <a:r>
              <a:rPr lang="en-US" sz="800" dirty="0">
                <a:latin typeface="Times New Roman" panose="02020603050405020304" pitchFamily="18" charset="0"/>
                <a:cs typeface="Times New Roman" panose="02020603050405020304" pitchFamily="18" charset="0"/>
              </a:rPr>
              <a:t> &lt;- </a:t>
            </a:r>
            <a:r>
              <a:rPr lang="en-US" sz="800" dirty="0" err="1">
                <a:latin typeface="Times New Roman" panose="02020603050405020304" pitchFamily="18" charset="0"/>
                <a:cs typeface="Times New Roman" panose="02020603050405020304" pitchFamily="18" charset="0"/>
              </a:rPr>
              <a:t>DESeqDataSet</a:t>
            </a:r>
            <a:r>
              <a:rPr lang="en-US" sz="800" dirty="0">
                <a:latin typeface="Times New Roman" panose="02020603050405020304" pitchFamily="18" charset="0"/>
                <a:cs typeface="Times New Roman" panose="02020603050405020304" pitchFamily="18" charset="0"/>
              </a:rPr>
              <a:t>(se, design = ~ cell + </a:t>
            </a:r>
            <a:r>
              <a:rPr lang="en-US" sz="800" dirty="0" err="1">
                <a:latin typeface="Times New Roman" panose="02020603050405020304" pitchFamily="18" charset="0"/>
                <a:cs typeface="Times New Roman" panose="02020603050405020304" pitchFamily="18" charset="0"/>
              </a:rPr>
              <a:t>dex</a:t>
            </a:r>
            <a:r>
              <a:rPr lang="en-US" sz="800" dirty="0">
                <a:latin typeface="Times New Roman" panose="02020603050405020304" pitchFamily="18" charset="0"/>
                <a:cs typeface="Times New Roman" panose="02020603050405020304" pitchFamily="18" charset="0"/>
              </a:rPr>
              <a:t>)</a:t>
            </a:r>
          </a:p>
          <a:p>
            <a:r>
              <a:rPr lang="en-US" sz="800" dirty="0" err="1">
                <a:latin typeface="Times New Roman" panose="02020603050405020304" pitchFamily="18" charset="0"/>
                <a:cs typeface="Times New Roman" panose="02020603050405020304" pitchFamily="18" charset="0"/>
              </a:rPr>
              <a:t>dds$dex</a:t>
            </a:r>
            <a:r>
              <a:rPr lang="en-US" sz="800" dirty="0">
                <a:latin typeface="Times New Roman" panose="02020603050405020304" pitchFamily="18" charset="0"/>
                <a:cs typeface="Times New Roman" panose="02020603050405020304" pitchFamily="18" charset="0"/>
              </a:rPr>
              <a:t> &lt;- relevel(</a:t>
            </a:r>
            <a:r>
              <a:rPr lang="en-US" sz="800" dirty="0" err="1">
                <a:latin typeface="Times New Roman" panose="02020603050405020304" pitchFamily="18" charset="0"/>
                <a:cs typeface="Times New Roman" panose="02020603050405020304" pitchFamily="18" charset="0"/>
              </a:rPr>
              <a:t>dds$dex</a:t>
            </a:r>
            <a:r>
              <a:rPr lang="en-US" sz="800" dirty="0">
                <a:latin typeface="Times New Roman" panose="02020603050405020304" pitchFamily="18" charset="0"/>
                <a:cs typeface="Times New Roman" panose="02020603050405020304" pitchFamily="18" charset="0"/>
              </a:rPr>
              <a:t>, ref = "</a:t>
            </a:r>
            <a:r>
              <a:rPr lang="en-US" sz="800" dirty="0" err="1">
                <a:latin typeface="Times New Roman" panose="02020603050405020304" pitchFamily="18" charset="0"/>
                <a:cs typeface="Times New Roman" panose="02020603050405020304" pitchFamily="18" charset="0"/>
              </a:rPr>
              <a:t>untrt</a:t>
            </a:r>
            <a:r>
              <a:rPr lang="en-US" sz="800" dirty="0">
                <a:latin typeface="Times New Roman" panose="02020603050405020304" pitchFamily="18" charset="0"/>
                <a:cs typeface="Times New Roman" panose="02020603050405020304" pitchFamily="18" charset="0"/>
              </a:rPr>
              <a:t>")</a:t>
            </a:r>
          </a:p>
        </p:txBody>
      </p:sp>
      <p:sp>
        <p:nvSpPr>
          <p:cNvPr id="18" name="TextBox 17">
            <a:extLst>
              <a:ext uri="{FF2B5EF4-FFF2-40B4-BE49-F238E27FC236}">
                <a16:creationId xmlns:a16="http://schemas.microsoft.com/office/drawing/2014/main" id="{F8073F4E-3841-2664-E173-BF2E27190A91}"/>
              </a:ext>
            </a:extLst>
          </p:cNvPr>
          <p:cNvSpPr txBox="1"/>
          <p:nvPr/>
        </p:nvSpPr>
        <p:spPr>
          <a:xfrm>
            <a:off x="96128" y="4379172"/>
            <a:ext cx="2905725" cy="338554"/>
          </a:xfrm>
          <a:prstGeom prst="rect">
            <a:avLst/>
          </a:prstGeom>
          <a:noFill/>
        </p:spPr>
        <p:txBody>
          <a:bodyPr wrap="square" rtlCol="0">
            <a:spAutoFit/>
          </a:bodyPr>
          <a:lstStyle/>
          <a:p>
            <a:r>
              <a:rPr lang="en-US" sz="800" dirty="0" err="1">
                <a:latin typeface="Times New Roman" panose="02020603050405020304" pitchFamily="18" charset="0"/>
                <a:cs typeface="Times New Roman" panose="02020603050405020304" pitchFamily="18" charset="0"/>
              </a:rPr>
              <a:t>dds</a:t>
            </a:r>
            <a:r>
              <a:rPr lang="en-US" sz="800" dirty="0">
                <a:latin typeface="Times New Roman" panose="02020603050405020304" pitchFamily="18" charset="0"/>
                <a:cs typeface="Times New Roman" panose="02020603050405020304" pitchFamily="18" charset="0"/>
              </a:rPr>
              <a:t> &lt;- </a:t>
            </a:r>
            <a:r>
              <a:rPr lang="en-US" sz="800" dirty="0" err="1">
                <a:latin typeface="Times New Roman" panose="02020603050405020304" pitchFamily="18" charset="0"/>
                <a:cs typeface="Times New Roman" panose="02020603050405020304" pitchFamily="18" charset="0"/>
              </a:rPr>
              <a:t>DESeq</a:t>
            </a:r>
            <a:r>
              <a:rPr lang="en-US" sz="800" dirty="0">
                <a:latin typeface="Times New Roman" panose="02020603050405020304" pitchFamily="18" charset="0"/>
                <a:cs typeface="Times New Roman" panose="02020603050405020304" pitchFamily="18" charset="0"/>
              </a:rPr>
              <a:t>(</a:t>
            </a:r>
            <a:r>
              <a:rPr lang="en-US" sz="800" dirty="0" err="1">
                <a:latin typeface="Times New Roman" panose="02020603050405020304" pitchFamily="18" charset="0"/>
                <a:cs typeface="Times New Roman" panose="02020603050405020304" pitchFamily="18" charset="0"/>
              </a:rPr>
              <a:t>dds</a:t>
            </a:r>
            <a:r>
              <a:rPr lang="en-US" sz="800" dirty="0">
                <a:latin typeface="Times New Roman" panose="02020603050405020304" pitchFamily="18" charset="0"/>
                <a:cs typeface="Times New Roman" panose="02020603050405020304" pitchFamily="18" charset="0"/>
              </a:rPr>
              <a:t>)</a:t>
            </a:r>
          </a:p>
          <a:p>
            <a:r>
              <a:rPr lang="en-US" sz="800" dirty="0">
                <a:latin typeface="Times New Roman" panose="02020603050405020304" pitchFamily="18" charset="0"/>
                <a:cs typeface="Times New Roman" panose="02020603050405020304" pitchFamily="18" charset="0"/>
              </a:rPr>
              <a:t>res &lt;- results(</a:t>
            </a:r>
            <a:r>
              <a:rPr lang="en-US" sz="800" dirty="0" err="1">
                <a:latin typeface="Times New Roman" panose="02020603050405020304" pitchFamily="18" charset="0"/>
                <a:cs typeface="Times New Roman" panose="02020603050405020304" pitchFamily="18" charset="0"/>
              </a:rPr>
              <a:t>dds</a:t>
            </a:r>
            <a:r>
              <a:rPr lang="en-US" sz="800" dirty="0">
                <a:latin typeface="Times New Roman" panose="02020603050405020304" pitchFamily="18" charset="0"/>
                <a:cs typeface="Times New Roman" panose="02020603050405020304" pitchFamily="18" charset="0"/>
              </a:rPr>
              <a:t>, contrast = c("</a:t>
            </a:r>
            <a:r>
              <a:rPr lang="en-US" sz="800" dirty="0" err="1">
                <a:latin typeface="Times New Roman" panose="02020603050405020304" pitchFamily="18" charset="0"/>
                <a:cs typeface="Times New Roman" panose="02020603050405020304" pitchFamily="18" charset="0"/>
              </a:rPr>
              <a:t>dex</a:t>
            </a:r>
            <a:r>
              <a:rPr lang="en-US" sz="800" dirty="0">
                <a:latin typeface="Times New Roman" panose="02020603050405020304" pitchFamily="18" charset="0"/>
                <a:cs typeface="Times New Roman" panose="02020603050405020304" pitchFamily="18" charset="0"/>
              </a:rPr>
              <a:t>", "</a:t>
            </a:r>
            <a:r>
              <a:rPr lang="en-US" sz="800" dirty="0" err="1">
                <a:latin typeface="Times New Roman" panose="02020603050405020304" pitchFamily="18" charset="0"/>
                <a:cs typeface="Times New Roman" panose="02020603050405020304" pitchFamily="18" charset="0"/>
              </a:rPr>
              <a:t>trt</a:t>
            </a:r>
            <a:r>
              <a:rPr lang="en-US" sz="800" dirty="0">
                <a:latin typeface="Times New Roman" panose="02020603050405020304" pitchFamily="18" charset="0"/>
                <a:cs typeface="Times New Roman" panose="02020603050405020304" pitchFamily="18" charset="0"/>
              </a:rPr>
              <a:t>", "</a:t>
            </a:r>
            <a:r>
              <a:rPr lang="en-US" sz="800" dirty="0" err="1">
                <a:latin typeface="Times New Roman" panose="02020603050405020304" pitchFamily="18" charset="0"/>
                <a:cs typeface="Times New Roman" panose="02020603050405020304" pitchFamily="18" charset="0"/>
              </a:rPr>
              <a:t>untrt</a:t>
            </a:r>
            <a:r>
              <a:rPr lang="en-US" sz="8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C35F4927-4606-0E97-0665-364B1A016EF6}"/>
            </a:ext>
          </a:extLst>
        </p:cNvPr>
        <p:cNvGrpSpPr/>
        <p:nvPr/>
      </p:nvGrpSpPr>
      <p:grpSpPr>
        <a:xfrm>
          <a:off x="0" y="0"/>
          <a:ext cx="0" cy="0"/>
          <a:chOff x="0" y="0"/>
          <a:chExt cx="0" cy="0"/>
        </a:xfrm>
      </p:grpSpPr>
      <p:sp>
        <p:nvSpPr>
          <p:cNvPr id="133" name="Google Shape;133;p21">
            <a:extLst>
              <a:ext uri="{FF2B5EF4-FFF2-40B4-BE49-F238E27FC236}">
                <a16:creationId xmlns:a16="http://schemas.microsoft.com/office/drawing/2014/main" id="{0B194330-95F8-4915-9745-8BEA058A6EEE}"/>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RNA-seq differential expression workflow</a:t>
            </a:r>
            <a:endParaRPr dirty="0"/>
          </a:p>
        </p:txBody>
      </p:sp>
      <p:sp>
        <p:nvSpPr>
          <p:cNvPr id="134" name="Google Shape;134;p21">
            <a:extLst>
              <a:ext uri="{FF2B5EF4-FFF2-40B4-BE49-F238E27FC236}">
                <a16:creationId xmlns:a16="http://schemas.microsoft.com/office/drawing/2014/main" id="{0348B7FE-39E4-652A-38E2-0E0E669B6389}"/>
              </a:ext>
            </a:extLst>
          </p:cNvPr>
          <p:cNvSpPr/>
          <p:nvPr/>
        </p:nvSpPr>
        <p:spPr>
          <a:xfrm>
            <a:off x="96127" y="1318297"/>
            <a:ext cx="2474999"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panose="02020603050405020304" pitchFamily="18" charset="0"/>
                <a:cs typeface="Times New Roman" panose="02020603050405020304" pitchFamily="18" charset="0"/>
              </a:rPr>
              <a:t>1. Install and load analysis packages/ load a dataset</a:t>
            </a:r>
            <a:endParaRPr>
              <a:latin typeface="Times New Roman" panose="02020603050405020304" pitchFamily="18" charset="0"/>
              <a:cs typeface="Times New Roman" panose="02020603050405020304" pitchFamily="18" charset="0"/>
            </a:endParaRPr>
          </a:p>
        </p:txBody>
      </p:sp>
      <p:sp>
        <p:nvSpPr>
          <p:cNvPr id="135" name="Google Shape;135;p21">
            <a:extLst>
              <a:ext uri="{FF2B5EF4-FFF2-40B4-BE49-F238E27FC236}">
                <a16:creationId xmlns:a16="http://schemas.microsoft.com/office/drawing/2014/main" id="{38ED4DCA-2DCF-FD8C-DC0E-8D0DCD2FC86B}"/>
              </a:ext>
            </a:extLst>
          </p:cNvPr>
          <p:cNvSpPr/>
          <p:nvPr/>
        </p:nvSpPr>
        <p:spPr>
          <a:xfrm>
            <a:off x="3412101" y="1353021"/>
            <a:ext cx="2366352"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panose="02020603050405020304" pitchFamily="18" charset="0"/>
                <a:cs typeface="Times New Roman" panose="02020603050405020304" pitchFamily="18" charset="0"/>
              </a:rPr>
              <a:t>2. Inspect the data/metadata</a:t>
            </a:r>
            <a:endParaRPr>
              <a:latin typeface="Times New Roman" panose="02020603050405020304" pitchFamily="18" charset="0"/>
              <a:cs typeface="Times New Roman" panose="02020603050405020304" pitchFamily="18" charset="0"/>
            </a:endParaRPr>
          </a:p>
        </p:txBody>
      </p:sp>
      <p:sp>
        <p:nvSpPr>
          <p:cNvPr id="136" name="Google Shape;136;p21">
            <a:extLst>
              <a:ext uri="{FF2B5EF4-FFF2-40B4-BE49-F238E27FC236}">
                <a16:creationId xmlns:a16="http://schemas.microsoft.com/office/drawing/2014/main" id="{0AB9A4C8-C718-A0E9-3D7B-B3707B608FCE}"/>
              </a:ext>
            </a:extLst>
          </p:cNvPr>
          <p:cNvSpPr/>
          <p:nvPr/>
        </p:nvSpPr>
        <p:spPr>
          <a:xfrm>
            <a:off x="6696241" y="1353021"/>
            <a:ext cx="19932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panose="02020603050405020304" pitchFamily="18" charset="0"/>
                <a:cs typeface="Times New Roman" panose="02020603050405020304" pitchFamily="18" charset="0"/>
              </a:rPr>
              <a:t>3. Build the DESeq2 analysis object</a:t>
            </a:r>
            <a:endParaRPr>
              <a:latin typeface="Times New Roman" panose="02020603050405020304" pitchFamily="18" charset="0"/>
              <a:cs typeface="Times New Roman" panose="02020603050405020304" pitchFamily="18" charset="0"/>
            </a:endParaRPr>
          </a:p>
        </p:txBody>
      </p:sp>
      <p:sp>
        <p:nvSpPr>
          <p:cNvPr id="137" name="Google Shape;137;p21">
            <a:extLst>
              <a:ext uri="{FF2B5EF4-FFF2-40B4-BE49-F238E27FC236}">
                <a16:creationId xmlns:a16="http://schemas.microsoft.com/office/drawing/2014/main" id="{E3ED0974-7118-991A-F35B-7AEE150D9162}"/>
              </a:ext>
            </a:extLst>
          </p:cNvPr>
          <p:cNvSpPr/>
          <p:nvPr/>
        </p:nvSpPr>
        <p:spPr>
          <a:xfrm>
            <a:off x="96128" y="3308575"/>
            <a:ext cx="24750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panose="02020603050405020304" pitchFamily="18" charset="0"/>
                <a:cs typeface="Times New Roman" panose="02020603050405020304" pitchFamily="18" charset="0"/>
              </a:rPr>
              <a:t>7. Run differential expression analysis</a:t>
            </a:r>
            <a:endParaRPr>
              <a:latin typeface="Times New Roman" panose="02020603050405020304" pitchFamily="18" charset="0"/>
              <a:cs typeface="Times New Roman" panose="02020603050405020304" pitchFamily="18" charset="0"/>
            </a:endParaRPr>
          </a:p>
        </p:txBody>
      </p:sp>
      <p:sp>
        <p:nvSpPr>
          <p:cNvPr id="139" name="Google Shape;139;p21">
            <a:extLst>
              <a:ext uri="{FF2B5EF4-FFF2-40B4-BE49-F238E27FC236}">
                <a16:creationId xmlns:a16="http://schemas.microsoft.com/office/drawing/2014/main" id="{79BC02AF-D040-AC29-421E-C6CBB9DFF55D}"/>
              </a:ext>
            </a:extLst>
          </p:cNvPr>
          <p:cNvSpPr/>
          <p:nvPr/>
        </p:nvSpPr>
        <p:spPr>
          <a:xfrm>
            <a:off x="3334353" y="3302365"/>
            <a:ext cx="24441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5. Exploratory sample-level QC</a:t>
            </a:r>
            <a:endParaRPr dirty="0">
              <a:latin typeface="Times New Roman" panose="02020603050405020304" pitchFamily="18" charset="0"/>
              <a:cs typeface="Times New Roman" panose="02020603050405020304" pitchFamily="18" charset="0"/>
            </a:endParaRPr>
          </a:p>
        </p:txBody>
      </p:sp>
      <p:sp>
        <p:nvSpPr>
          <p:cNvPr id="140" name="Google Shape;140;p21">
            <a:extLst>
              <a:ext uri="{FF2B5EF4-FFF2-40B4-BE49-F238E27FC236}">
                <a16:creationId xmlns:a16="http://schemas.microsoft.com/office/drawing/2014/main" id="{66E42A26-CF7C-8594-80FD-C5ED132CE3CB}"/>
              </a:ext>
            </a:extLst>
          </p:cNvPr>
          <p:cNvSpPr/>
          <p:nvPr/>
        </p:nvSpPr>
        <p:spPr>
          <a:xfrm>
            <a:off x="6696241" y="3277595"/>
            <a:ext cx="19932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4. Variance-stabilizing transformation</a:t>
            </a:r>
            <a:endParaRPr dirty="0">
              <a:latin typeface="Times New Roman" panose="02020603050405020304" pitchFamily="18" charset="0"/>
              <a:cs typeface="Times New Roman" panose="02020603050405020304" pitchFamily="18" charset="0"/>
            </a:endParaRPr>
          </a:p>
        </p:txBody>
      </p:sp>
      <p:cxnSp>
        <p:nvCxnSpPr>
          <p:cNvPr id="2" name="Google Shape;96;p19">
            <a:extLst>
              <a:ext uri="{FF2B5EF4-FFF2-40B4-BE49-F238E27FC236}">
                <a16:creationId xmlns:a16="http://schemas.microsoft.com/office/drawing/2014/main" id="{BD2C7C79-6753-3A91-9291-0CDB50B8C9E9}"/>
              </a:ext>
            </a:extLst>
          </p:cNvPr>
          <p:cNvCxnSpPr>
            <a:cxnSpLocks/>
          </p:cNvCxnSpPr>
          <p:nvPr/>
        </p:nvCxnSpPr>
        <p:spPr>
          <a:xfrm>
            <a:off x="2791114" y="1844407"/>
            <a:ext cx="421478" cy="0"/>
          </a:xfrm>
          <a:prstGeom prst="straightConnector1">
            <a:avLst/>
          </a:prstGeom>
          <a:noFill/>
          <a:ln w="9525" cap="flat" cmpd="sng">
            <a:solidFill>
              <a:schemeClr val="dk2"/>
            </a:solidFill>
            <a:prstDash val="solid"/>
            <a:round/>
            <a:headEnd type="none" w="med" len="med"/>
            <a:tailEnd type="triangle" w="med" len="med"/>
          </a:ln>
        </p:spPr>
      </p:cxnSp>
      <p:cxnSp>
        <p:nvCxnSpPr>
          <p:cNvPr id="4" name="Google Shape;96;p19">
            <a:extLst>
              <a:ext uri="{FF2B5EF4-FFF2-40B4-BE49-F238E27FC236}">
                <a16:creationId xmlns:a16="http://schemas.microsoft.com/office/drawing/2014/main" id="{AE8D962C-2F2D-AE67-861C-EF0E87738A1E}"/>
              </a:ext>
            </a:extLst>
          </p:cNvPr>
          <p:cNvCxnSpPr>
            <a:cxnSpLocks/>
          </p:cNvCxnSpPr>
          <p:nvPr/>
        </p:nvCxnSpPr>
        <p:spPr>
          <a:xfrm>
            <a:off x="5933924" y="1788397"/>
            <a:ext cx="421478" cy="0"/>
          </a:xfrm>
          <a:prstGeom prst="straightConnector1">
            <a:avLst/>
          </a:prstGeom>
          <a:noFill/>
          <a:ln w="9525" cap="flat" cmpd="sng">
            <a:solidFill>
              <a:schemeClr val="dk2"/>
            </a:solidFill>
            <a:prstDash val="solid"/>
            <a:round/>
            <a:headEnd type="none" w="med" len="med"/>
            <a:tailEnd type="triangle" w="med" len="med"/>
          </a:ln>
        </p:spPr>
      </p:cxnSp>
      <p:cxnSp>
        <p:nvCxnSpPr>
          <p:cNvPr id="5" name="Google Shape;96;p19">
            <a:extLst>
              <a:ext uri="{FF2B5EF4-FFF2-40B4-BE49-F238E27FC236}">
                <a16:creationId xmlns:a16="http://schemas.microsoft.com/office/drawing/2014/main" id="{2D834CA8-6019-E3D4-A409-846A26657B0F}"/>
              </a:ext>
            </a:extLst>
          </p:cNvPr>
          <p:cNvCxnSpPr>
            <a:cxnSpLocks/>
          </p:cNvCxnSpPr>
          <p:nvPr/>
        </p:nvCxnSpPr>
        <p:spPr>
          <a:xfrm>
            <a:off x="7802901" y="2644427"/>
            <a:ext cx="0" cy="400572"/>
          </a:xfrm>
          <a:prstGeom prst="straightConnector1">
            <a:avLst/>
          </a:prstGeom>
          <a:noFill/>
          <a:ln w="9525" cap="flat" cmpd="sng">
            <a:solidFill>
              <a:schemeClr val="dk2"/>
            </a:solidFill>
            <a:prstDash val="solid"/>
            <a:round/>
            <a:headEnd type="none" w="med" len="med"/>
            <a:tailEnd type="triangle" w="med" len="med"/>
          </a:ln>
        </p:spPr>
      </p:cxnSp>
      <p:cxnSp>
        <p:nvCxnSpPr>
          <p:cNvPr id="7" name="Google Shape;96;p19">
            <a:extLst>
              <a:ext uri="{FF2B5EF4-FFF2-40B4-BE49-F238E27FC236}">
                <a16:creationId xmlns:a16="http://schemas.microsoft.com/office/drawing/2014/main" id="{18399F71-EC1B-3CD4-D203-1AF898CC02C9}"/>
              </a:ext>
            </a:extLst>
          </p:cNvPr>
          <p:cNvCxnSpPr>
            <a:cxnSpLocks/>
          </p:cNvCxnSpPr>
          <p:nvPr/>
        </p:nvCxnSpPr>
        <p:spPr>
          <a:xfrm flipH="1">
            <a:off x="5892844" y="3747695"/>
            <a:ext cx="462558" cy="0"/>
          </a:xfrm>
          <a:prstGeom prst="straightConnector1">
            <a:avLst/>
          </a:prstGeom>
          <a:noFill/>
          <a:ln w="9525" cap="flat" cmpd="sng">
            <a:solidFill>
              <a:schemeClr val="dk2"/>
            </a:solidFill>
            <a:prstDash val="solid"/>
            <a:round/>
            <a:headEnd type="none" w="med" len="med"/>
            <a:tailEnd type="triangle" w="med" len="med"/>
          </a:ln>
        </p:spPr>
      </p:cxnSp>
      <p:cxnSp>
        <p:nvCxnSpPr>
          <p:cNvPr id="10" name="Google Shape;96;p19">
            <a:extLst>
              <a:ext uri="{FF2B5EF4-FFF2-40B4-BE49-F238E27FC236}">
                <a16:creationId xmlns:a16="http://schemas.microsoft.com/office/drawing/2014/main" id="{B5107BE4-0CFF-64AF-F0B6-26DDDFBF3F89}"/>
              </a:ext>
            </a:extLst>
          </p:cNvPr>
          <p:cNvCxnSpPr>
            <a:cxnSpLocks/>
          </p:cNvCxnSpPr>
          <p:nvPr/>
        </p:nvCxnSpPr>
        <p:spPr>
          <a:xfrm flipH="1">
            <a:off x="2734778" y="3801221"/>
            <a:ext cx="462558" cy="0"/>
          </a:xfrm>
          <a:prstGeom prst="straightConnector1">
            <a:avLst/>
          </a:prstGeom>
          <a:noFill/>
          <a:ln w="9525" cap="flat" cmpd="sng">
            <a:solidFill>
              <a:schemeClr val="dk2"/>
            </a:solidFill>
            <a:prstDash val="solid"/>
            <a:round/>
            <a:headEnd type="none" w="med" len="med"/>
            <a:tailEnd type="triangle" w="med" len="med"/>
          </a:ln>
        </p:spPr>
      </p:cxnSp>
      <p:sp>
        <p:nvSpPr>
          <p:cNvPr id="6" name="TextBox 5">
            <a:extLst>
              <a:ext uri="{FF2B5EF4-FFF2-40B4-BE49-F238E27FC236}">
                <a16:creationId xmlns:a16="http://schemas.microsoft.com/office/drawing/2014/main" id="{DBBC009F-24FB-E896-5DDE-5E80BDB869B0}"/>
              </a:ext>
            </a:extLst>
          </p:cNvPr>
          <p:cNvSpPr txBox="1"/>
          <p:nvPr/>
        </p:nvSpPr>
        <p:spPr>
          <a:xfrm>
            <a:off x="3349950" y="2413594"/>
            <a:ext cx="2444099" cy="461665"/>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This is the first quality check Before running any model</a:t>
            </a:r>
          </a:p>
        </p:txBody>
      </p:sp>
      <p:sp>
        <p:nvSpPr>
          <p:cNvPr id="8" name="TextBox 7">
            <a:extLst>
              <a:ext uri="{FF2B5EF4-FFF2-40B4-BE49-F238E27FC236}">
                <a16:creationId xmlns:a16="http://schemas.microsoft.com/office/drawing/2014/main" id="{FB58C3D8-953A-45A4-AF1E-C554B5158BE1}"/>
              </a:ext>
            </a:extLst>
          </p:cNvPr>
          <p:cNvSpPr txBox="1"/>
          <p:nvPr/>
        </p:nvSpPr>
        <p:spPr>
          <a:xfrm>
            <a:off x="6696241" y="4344532"/>
            <a:ext cx="1908630" cy="707886"/>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Without normalization, some samples may look like it has higher expression only because it had more reads.</a:t>
            </a:r>
          </a:p>
        </p:txBody>
      </p:sp>
      <p:sp>
        <p:nvSpPr>
          <p:cNvPr id="9" name="TextBox 8">
            <a:extLst>
              <a:ext uri="{FF2B5EF4-FFF2-40B4-BE49-F238E27FC236}">
                <a16:creationId xmlns:a16="http://schemas.microsoft.com/office/drawing/2014/main" id="{DCB09EAF-72C2-6F6A-56F7-E9650B34B985}"/>
              </a:ext>
            </a:extLst>
          </p:cNvPr>
          <p:cNvSpPr txBox="1"/>
          <p:nvPr/>
        </p:nvSpPr>
        <p:spPr>
          <a:xfrm>
            <a:off x="3334353" y="4367373"/>
            <a:ext cx="2381948" cy="646331"/>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Sample distance heatmap and PCA plots</a:t>
            </a:r>
          </a:p>
          <a:p>
            <a:endParaRPr lang="en-US" sz="12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A0387822-F246-6FA0-2A8A-916F867D1C0C}"/>
              </a:ext>
            </a:extLst>
          </p:cNvPr>
          <p:cNvSpPr txBox="1"/>
          <p:nvPr/>
        </p:nvSpPr>
        <p:spPr>
          <a:xfrm>
            <a:off x="96127" y="4367373"/>
            <a:ext cx="2258286" cy="338554"/>
          </a:xfrm>
          <a:prstGeom prst="rect">
            <a:avLst/>
          </a:prstGeom>
          <a:noFill/>
        </p:spPr>
        <p:txBody>
          <a:bodyPr wrap="square" rtlCol="0">
            <a:spAutoFit/>
          </a:bodyPr>
          <a:lstStyle/>
          <a:p>
            <a:r>
              <a:rPr lang="en-US" sz="800" dirty="0">
                <a:latin typeface="Times New Roman" panose="02020603050405020304" pitchFamily="18" charset="0"/>
                <a:cs typeface="Times New Roman" panose="02020603050405020304" pitchFamily="18" charset="0"/>
              </a:rPr>
              <a:t>This is the main statistical analysis step by DEseq2</a:t>
            </a:r>
          </a:p>
        </p:txBody>
      </p:sp>
    </p:spTree>
    <p:extLst>
      <p:ext uri="{BB962C8B-B14F-4D97-AF65-F5344CB8AC3E}">
        <p14:creationId xmlns:p14="http://schemas.microsoft.com/office/powerpoint/2010/main" val="24113157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32">
          <a:extLst>
            <a:ext uri="{FF2B5EF4-FFF2-40B4-BE49-F238E27FC236}">
              <a16:creationId xmlns:a16="http://schemas.microsoft.com/office/drawing/2014/main" id="{E8293BBA-2E0E-0E9D-F74B-5212A192B358}"/>
            </a:ext>
          </a:extLst>
        </p:cNvPr>
        <p:cNvGrpSpPr/>
        <p:nvPr/>
      </p:nvGrpSpPr>
      <p:grpSpPr>
        <a:xfrm>
          <a:off x="0" y="0"/>
          <a:ext cx="0" cy="0"/>
          <a:chOff x="0" y="0"/>
          <a:chExt cx="0" cy="0"/>
        </a:xfrm>
      </p:grpSpPr>
      <p:sp>
        <p:nvSpPr>
          <p:cNvPr id="133" name="Google Shape;133;p21">
            <a:extLst>
              <a:ext uri="{FF2B5EF4-FFF2-40B4-BE49-F238E27FC236}">
                <a16:creationId xmlns:a16="http://schemas.microsoft.com/office/drawing/2014/main" id="{F01F5EC8-A8A1-7452-A44C-091D36F94AED}"/>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RNA-seq differential expression workflow: Results</a:t>
            </a:r>
            <a:endParaRPr dirty="0"/>
          </a:p>
        </p:txBody>
      </p:sp>
      <p:sp>
        <p:nvSpPr>
          <p:cNvPr id="134" name="Google Shape;134;p21">
            <a:extLst>
              <a:ext uri="{FF2B5EF4-FFF2-40B4-BE49-F238E27FC236}">
                <a16:creationId xmlns:a16="http://schemas.microsoft.com/office/drawing/2014/main" id="{7F4B4DC9-C81A-0CA9-C1D2-8672B3C4FE4F}"/>
              </a:ext>
            </a:extLst>
          </p:cNvPr>
          <p:cNvSpPr/>
          <p:nvPr/>
        </p:nvSpPr>
        <p:spPr>
          <a:xfrm>
            <a:off x="96127" y="1318297"/>
            <a:ext cx="2474999"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1. Install and load analysis packages/ load a dataset</a:t>
            </a:r>
            <a:endParaRPr dirty="0">
              <a:latin typeface="Times New Roman" panose="02020603050405020304" pitchFamily="18" charset="0"/>
              <a:cs typeface="Times New Roman" panose="02020603050405020304" pitchFamily="18" charset="0"/>
            </a:endParaRPr>
          </a:p>
        </p:txBody>
      </p:sp>
      <p:sp>
        <p:nvSpPr>
          <p:cNvPr id="135" name="Google Shape;135;p21">
            <a:extLst>
              <a:ext uri="{FF2B5EF4-FFF2-40B4-BE49-F238E27FC236}">
                <a16:creationId xmlns:a16="http://schemas.microsoft.com/office/drawing/2014/main" id="{EB0C2407-D0D7-D436-203A-DA58785C44C9}"/>
              </a:ext>
            </a:extLst>
          </p:cNvPr>
          <p:cNvSpPr/>
          <p:nvPr/>
        </p:nvSpPr>
        <p:spPr>
          <a:xfrm>
            <a:off x="3412101" y="1353021"/>
            <a:ext cx="2366352"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panose="02020603050405020304" pitchFamily="18" charset="0"/>
                <a:cs typeface="Times New Roman" panose="02020603050405020304" pitchFamily="18" charset="0"/>
              </a:rPr>
              <a:t>2. Inspect the data/metadata</a:t>
            </a:r>
            <a:endParaRPr>
              <a:latin typeface="Times New Roman" panose="02020603050405020304" pitchFamily="18" charset="0"/>
              <a:cs typeface="Times New Roman" panose="02020603050405020304" pitchFamily="18" charset="0"/>
            </a:endParaRPr>
          </a:p>
        </p:txBody>
      </p:sp>
      <p:sp>
        <p:nvSpPr>
          <p:cNvPr id="136" name="Google Shape;136;p21">
            <a:extLst>
              <a:ext uri="{FF2B5EF4-FFF2-40B4-BE49-F238E27FC236}">
                <a16:creationId xmlns:a16="http://schemas.microsoft.com/office/drawing/2014/main" id="{D6BA51C1-C64D-6A9C-66E7-1018B1F65E1A}"/>
              </a:ext>
            </a:extLst>
          </p:cNvPr>
          <p:cNvSpPr/>
          <p:nvPr/>
        </p:nvSpPr>
        <p:spPr>
          <a:xfrm>
            <a:off x="6696241" y="1353021"/>
            <a:ext cx="19932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panose="02020603050405020304" pitchFamily="18" charset="0"/>
                <a:cs typeface="Times New Roman" panose="02020603050405020304" pitchFamily="18" charset="0"/>
              </a:rPr>
              <a:t>3. Build the DESeq2 analysis object</a:t>
            </a:r>
            <a:endParaRPr>
              <a:latin typeface="Times New Roman" panose="02020603050405020304" pitchFamily="18" charset="0"/>
              <a:cs typeface="Times New Roman" panose="02020603050405020304" pitchFamily="18" charset="0"/>
            </a:endParaRPr>
          </a:p>
        </p:txBody>
      </p:sp>
      <p:sp>
        <p:nvSpPr>
          <p:cNvPr id="137" name="Google Shape;137;p21">
            <a:extLst>
              <a:ext uri="{FF2B5EF4-FFF2-40B4-BE49-F238E27FC236}">
                <a16:creationId xmlns:a16="http://schemas.microsoft.com/office/drawing/2014/main" id="{FCFA58A1-D5AA-35FD-D892-9AFF08B40733}"/>
              </a:ext>
            </a:extLst>
          </p:cNvPr>
          <p:cNvSpPr/>
          <p:nvPr/>
        </p:nvSpPr>
        <p:spPr>
          <a:xfrm>
            <a:off x="96128" y="3308575"/>
            <a:ext cx="24750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7. Run differential expression analysis</a:t>
            </a:r>
            <a:endParaRPr/>
          </a:p>
        </p:txBody>
      </p:sp>
      <p:sp>
        <p:nvSpPr>
          <p:cNvPr id="139" name="Google Shape;139;p21">
            <a:extLst>
              <a:ext uri="{FF2B5EF4-FFF2-40B4-BE49-F238E27FC236}">
                <a16:creationId xmlns:a16="http://schemas.microsoft.com/office/drawing/2014/main" id="{0C73FC9D-3737-F786-8F5D-C2DBD7074C8E}"/>
              </a:ext>
            </a:extLst>
          </p:cNvPr>
          <p:cNvSpPr/>
          <p:nvPr/>
        </p:nvSpPr>
        <p:spPr>
          <a:xfrm>
            <a:off x="3334353" y="3302365"/>
            <a:ext cx="24441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5. Exploratory sample-level QC</a:t>
            </a:r>
            <a:endParaRPr dirty="0"/>
          </a:p>
        </p:txBody>
      </p:sp>
      <p:sp>
        <p:nvSpPr>
          <p:cNvPr id="140" name="Google Shape;140;p21">
            <a:extLst>
              <a:ext uri="{FF2B5EF4-FFF2-40B4-BE49-F238E27FC236}">
                <a16:creationId xmlns:a16="http://schemas.microsoft.com/office/drawing/2014/main" id="{E8BF55BA-452E-C1FB-73E2-CC7D25790195}"/>
              </a:ext>
            </a:extLst>
          </p:cNvPr>
          <p:cNvSpPr/>
          <p:nvPr/>
        </p:nvSpPr>
        <p:spPr>
          <a:xfrm>
            <a:off x="6696241" y="3277595"/>
            <a:ext cx="1993200" cy="940200"/>
          </a:xfrm>
          <a:prstGeom prst="rect">
            <a:avLst/>
          </a:prstGeom>
          <a:solidFill>
            <a:srgbClr val="77CB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4. Variance-stabilizing transformation</a:t>
            </a:r>
            <a:endParaRPr dirty="0"/>
          </a:p>
        </p:txBody>
      </p:sp>
      <p:cxnSp>
        <p:nvCxnSpPr>
          <p:cNvPr id="2" name="Google Shape;96;p19">
            <a:extLst>
              <a:ext uri="{FF2B5EF4-FFF2-40B4-BE49-F238E27FC236}">
                <a16:creationId xmlns:a16="http://schemas.microsoft.com/office/drawing/2014/main" id="{0D3A3B58-3D41-0BD9-D8E0-B6B181433ADB}"/>
              </a:ext>
            </a:extLst>
          </p:cNvPr>
          <p:cNvCxnSpPr>
            <a:cxnSpLocks/>
          </p:cNvCxnSpPr>
          <p:nvPr/>
        </p:nvCxnSpPr>
        <p:spPr>
          <a:xfrm>
            <a:off x="2791114" y="1844407"/>
            <a:ext cx="421478" cy="0"/>
          </a:xfrm>
          <a:prstGeom prst="straightConnector1">
            <a:avLst/>
          </a:prstGeom>
          <a:noFill/>
          <a:ln w="9525" cap="flat" cmpd="sng">
            <a:solidFill>
              <a:schemeClr val="dk2"/>
            </a:solidFill>
            <a:prstDash val="solid"/>
            <a:round/>
            <a:headEnd type="none" w="med" len="med"/>
            <a:tailEnd type="triangle" w="med" len="med"/>
          </a:ln>
        </p:spPr>
      </p:cxnSp>
      <p:cxnSp>
        <p:nvCxnSpPr>
          <p:cNvPr id="4" name="Google Shape;96;p19">
            <a:extLst>
              <a:ext uri="{FF2B5EF4-FFF2-40B4-BE49-F238E27FC236}">
                <a16:creationId xmlns:a16="http://schemas.microsoft.com/office/drawing/2014/main" id="{C4DC6134-517E-281C-A550-1C53345168E5}"/>
              </a:ext>
            </a:extLst>
          </p:cNvPr>
          <p:cNvCxnSpPr>
            <a:cxnSpLocks/>
          </p:cNvCxnSpPr>
          <p:nvPr/>
        </p:nvCxnSpPr>
        <p:spPr>
          <a:xfrm>
            <a:off x="5933924" y="1788397"/>
            <a:ext cx="421478" cy="0"/>
          </a:xfrm>
          <a:prstGeom prst="straightConnector1">
            <a:avLst/>
          </a:prstGeom>
          <a:noFill/>
          <a:ln w="9525" cap="flat" cmpd="sng">
            <a:solidFill>
              <a:schemeClr val="dk2"/>
            </a:solidFill>
            <a:prstDash val="solid"/>
            <a:round/>
            <a:headEnd type="none" w="med" len="med"/>
            <a:tailEnd type="triangle" w="med" len="med"/>
          </a:ln>
        </p:spPr>
      </p:cxnSp>
      <p:cxnSp>
        <p:nvCxnSpPr>
          <p:cNvPr id="5" name="Google Shape;96;p19">
            <a:extLst>
              <a:ext uri="{FF2B5EF4-FFF2-40B4-BE49-F238E27FC236}">
                <a16:creationId xmlns:a16="http://schemas.microsoft.com/office/drawing/2014/main" id="{0321F98F-1BDA-9ED9-28C6-8217A1E34A95}"/>
              </a:ext>
            </a:extLst>
          </p:cNvPr>
          <p:cNvCxnSpPr>
            <a:cxnSpLocks/>
          </p:cNvCxnSpPr>
          <p:nvPr/>
        </p:nvCxnSpPr>
        <p:spPr>
          <a:xfrm>
            <a:off x="7802901" y="2644427"/>
            <a:ext cx="0" cy="400572"/>
          </a:xfrm>
          <a:prstGeom prst="straightConnector1">
            <a:avLst/>
          </a:prstGeom>
          <a:noFill/>
          <a:ln w="9525" cap="flat" cmpd="sng">
            <a:solidFill>
              <a:schemeClr val="dk2"/>
            </a:solidFill>
            <a:prstDash val="solid"/>
            <a:round/>
            <a:headEnd type="none" w="med" len="med"/>
            <a:tailEnd type="triangle" w="med" len="med"/>
          </a:ln>
        </p:spPr>
      </p:cxnSp>
      <p:cxnSp>
        <p:nvCxnSpPr>
          <p:cNvPr id="7" name="Google Shape;96;p19">
            <a:extLst>
              <a:ext uri="{FF2B5EF4-FFF2-40B4-BE49-F238E27FC236}">
                <a16:creationId xmlns:a16="http://schemas.microsoft.com/office/drawing/2014/main" id="{2414C59C-DED6-331D-8EEA-0B72E4F857CD}"/>
              </a:ext>
            </a:extLst>
          </p:cNvPr>
          <p:cNvCxnSpPr>
            <a:cxnSpLocks/>
          </p:cNvCxnSpPr>
          <p:nvPr/>
        </p:nvCxnSpPr>
        <p:spPr>
          <a:xfrm flipH="1">
            <a:off x="5892844" y="3747695"/>
            <a:ext cx="462558" cy="0"/>
          </a:xfrm>
          <a:prstGeom prst="straightConnector1">
            <a:avLst/>
          </a:prstGeom>
          <a:noFill/>
          <a:ln w="9525" cap="flat" cmpd="sng">
            <a:solidFill>
              <a:schemeClr val="dk2"/>
            </a:solidFill>
            <a:prstDash val="solid"/>
            <a:round/>
            <a:headEnd type="none" w="med" len="med"/>
            <a:tailEnd type="triangle" w="med" len="med"/>
          </a:ln>
        </p:spPr>
      </p:cxnSp>
      <p:cxnSp>
        <p:nvCxnSpPr>
          <p:cNvPr id="10" name="Google Shape;96;p19">
            <a:extLst>
              <a:ext uri="{FF2B5EF4-FFF2-40B4-BE49-F238E27FC236}">
                <a16:creationId xmlns:a16="http://schemas.microsoft.com/office/drawing/2014/main" id="{F39A60B3-A1A5-5F71-0B6A-E55AE55D4029}"/>
              </a:ext>
            </a:extLst>
          </p:cNvPr>
          <p:cNvCxnSpPr>
            <a:cxnSpLocks/>
          </p:cNvCxnSpPr>
          <p:nvPr/>
        </p:nvCxnSpPr>
        <p:spPr>
          <a:xfrm flipH="1">
            <a:off x="2734778" y="3801221"/>
            <a:ext cx="462558" cy="0"/>
          </a:xfrm>
          <a:prstGeom prst="straightConnector1">
            <a:avLst/>
          </a:prstGeom>
          <a:noFill/>
          <a:ln w="9525" cap="flat" cmpd="sng">
            <a:solidFill>
              <a:schemeClr val="dk2"/>
            </a:solidFill>
            <a:prstDash val="solid"/>
            <a:round/>
            <a:headEnd type="none" w="med" len="med"/>
            <a:tailEnd type="triangle" w="med" len="med"/>
          </a:ln>
        </p:spPr>
      </p:cxnSp>
      <p:sp>
        <p:nvSpPr>
          <p:cNvPr id="6" name="TextBox 5">
            <a:extLst>
              <a:ext uri="{FF2B5EF4-FFF2-40B4-BE49-F238E27FC236}">
                <a16:creationId xmlns:a16="http://schemas.microsoft.com/office/drawing/2014/main" id="{AD90D181-12E1-2C47-C6B7-5E82754C5247}"/>
              </a:ext>
            </a:extLst>
          </p:cNvPr>
          <p:cNvSpPr txBox="1"/>
          <p:nvPr/>
        </p:nvSpPr>
        <p:spPr>
          <a:xfrm>
            <a:off x="3349950" y="2413594"/>
            <a:ext cx="2444099" cy="461665"/>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This is the first quality check Before running any model</a:t>
            </a:r>
          </a:p>
        </p:txBody>
      </p:sp>
      <p:sp>
        <p:nvSpPr>
          <p:cNvPr id="8" name="TextBox 7">
            <a:extLst>
              <a:ext uri="{FF2B5EF4-FFF2-40B4-BE49-F238E27FC236}">
                <a16:creationId xmlns:a16="http://schemas.microsoft.com/office/drawing/2014/main" id="{1B2C1FE0-EE7C-658B-AF99-5C0CF16EAF19}"/>
              </a:ext>
            </a:extLst>
          </p:cNvPr>
          <p:cNvSpPr txBox="1"/>
          <p:nvPr/>
        </p:nvSpPr>
        <p:spPr>
          <a:xfrm>
            <a:off x="6696241" y="4305818"/>
            <a:ext cx="1908630" cy="707886"/>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Without normalization, some samples may look like it has higher expression only because it had more reads.</a:t>
            </a:r>
          </a:p>
        </p:txBody>
      </p:sp>
      <p:sp>
        <p:nvSpPr>
          <p:cNvPr id="13" name="TextBox 12">
            <a:extLst>
              <a:ext uri="{FF2B5EF4-FFF2-40B4-BE49-F238E27FC236}">
                <a16:creationId xmlns:a16="http://schemas.microsoft.com/office/drawing/2014/main" id="{7D5819E2-76DB-4167-B33D-0BEE5B48F7AB}"/>
              </a:ext>
            </a:extLst>
          </p:cNvPr>
          <p:cNvSpPr txBox="1"/>
          <p:nvPr/>
        </p:nvSpPr>
        <p:spPr>
          <a:xfrm>
            <a:off x="96127" y="4367373"/>
            <a:ext cx="2258286" cy="338554"/>
          </a:xfrm>
          <a:prstGeom prst="rect">
            <a:avLst/>
          </a:prstGeom>
          <a:noFill/>
        </p:spPr>
        <p:txBody>
          <a:bodyPr wrap="square" rtlCol="0">
            <a:spAutoFit/>
          </a:bodyPr>
          <a:lstStyle/>
          <a:p>
            <a:r>
              <a:rPr lang="en-US" sz="800" dirty="0">
                <a:latin typeface="Times New Roman" panose="02020603050405020304" pitchFamily="18" charset="0"/>
                <a:cs typeface="Times New Roman" panose="02020603050405020304" pitchFamily="18" charset="0"/>
              </a:rPr>
              <a:t>This is the main statistical analysis step by DEseq2</a:t>
            </a:r>
          </a:p>
        </p:txBody>
      </p:sp>
      <p:sp>
        <p:nvSpPr>
          <p:cNvPr id="15" name="TextBox 14">
            <a:extLst>
              <a:ext uri="{FF2B5EF4-FFF2-40B4-BE49-F238E27FC236}">
                <a16:creationId xmlns:a16="http://schemas.microsoft.com/office/drawing/2014/main" id="{C493A765-923D-C82C-D801-A6A70C270386}"/>
              </a:ext>
            </a:extLst>
          </p:cNvPr>
          <p:cNvSpPr txBox="1"/>
          <p:nvPr/>
        </p:nvSpPr>
        <p:spPr>
          <a:xfrm>
            <a:off x="3334353" y="4367373"/>
            <a:ext cx="2381948" cy="646331"/>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Sample distance heatmap and PCA plots</a:t>
            </a:r>
          </a:p>
          <a:p>
            <a:endParaRPr lang="en-US" sz="1200" dirty="0">
              <a:latin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C285A85C-6560-0830-4500-82946257EE74}"/>
              </a:ext>
            </a:extLst>
          </p:cNvPr>
          <p:cNvPicPr>
            <a:picLocks noChangeAspect="1"/>
          </p:cNvPicPr>
          <p:nvPr/>
        </p:nvPicPr>
        <p:blipFill>
          <a:blip r:embed="rId3"/>
          <a:stretch>
            <a:fillRect/>
          </a:stretch>
        </p:blipFill>
        <p:spPr>
          <a:xfrm>
            <a:off x="3219961" y="2604480"/>
            <a:ext cx="2672873" cy="2405586"/>
          </a:xfrm>
          <a:prstGeom prst="rect">
            <a:avLst/>
          </a:prstGeom>
        </p:spPr>
      </p:pic>
      <p:pic>
        <p:nvPicPr>
          <p:cNvPr id="20" name="Picture 19">
            <a:extLst>
              <a:ext uri="{FF2B5EF4-FFF2-40B4-BE49-F238E27FC236}">
                <a16:creationId xmlns:a16="http://schemas.microsoft.com/office/drawing/2014/main" id="{9B5254E3-FEC3-3DB5-17E5-F8CDE33CCE77}"/>
              </a:ext>
            </a:extLst>
          </p:cNvPr>
          <p:cNvPicPr>
            <a:picLocks noChangeAspect="1"/>
          </p:cNvPicPr>
          <p:nvPr/>
        </p:nvPicPr>
        <p:blipFill>
          <a:blip r:embed="rId4"/>
          <a:stretch>
            <a:fillRect/>
          </a:stretch>
        </p:blipFill>
        <p:spPr>
          <a:xfrm>
            <a:off x="5997875" y="3133022"/>
            <a:ext cx="3146125" cy="1573063"/>
          </a:xfrm>
          <a:prstGeom prst="rect">
            <a:avLst/>
          </a:prstGeom>
        </p:spPr>
      </p:pic>
      <p:pic>
        <p:nvPicPr>
          <p:cNvPr id="22" name="Picture 21">
            <a:extLst>
              <a:ext uri="{FF2B5EF4-FFF2-40B4-BE49-F238E27FC236}">
                <a16:creationId xmlns:a16="http://schemas.microsoft.com/office/drawing/2014/main" id="{9A80C007-C3B5-59CB-A7D5-678A93CA26A9}"/>
              </a:ext>
            </a:extLst>
          </p:cNvPr>
          <p:cNvPicPr>
            <a:picLocks noChangeAspect="1"/>
          </p:cNvPicPr>
          <p:nvPr/>
        </p:nvPicPr>
        <p:blipFill>
          <a:blip r:embed="rId5"/>
          <a:stretch>
            <a:fillRect/>
          </a:stretch>
        </p:blipFill>
        <p:spPr>
          <a:xfrm>
            <a:off x="110394" y="2887050"/>
            <a:ext cx="2655008" cy="2065006"/>
          </a:xfrm>
          <a:prstGeom prst="rect">
            <a:avLst/>
          </a:prstGeom>
        </p:spPr>
      </p:pic>
    </p:spTree>
    <p:extLst>
      <p:ext uri="{BB962C8B-B14F-4D97-AF65-F5344CB8AC3E}">
        <p14:creationId xmlns:p14="http://schemas.microsoft.com/office/powerpoint/2010/main" val="1108849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4"/>
          <p:cNvSpPr txBox="1">
            <a:spLocks noGrp="1"/>
          </p:cNvSpPr>
          <p:nvPr>
            <p:ph type="title"/>
          </p:nvPr>
        </p:nvSpPr>
        <p:spPr>
          <a:xfrm>
            <a:off x="311700" y="445025"/>
            <a:ext cx="8520600" cy="572700"/>
          </a:xfrm>
          <a:prstGeom prst="rect">
            <a:avLst/>
          </a:prstGeom>
          <a:solidFill>
            <a:schemeClr val="accent4">
              <a:lumMod val="20000"/>
              <a:lumOff val="80000"/>
            </a:schemeClr>
          </a:solidFill>
          <a:ln w="15875">
            <a:solidFill>
              <a:schemeClr val="dk2"/>
            </a:solidFill>
            <a:prstDash val="lgDash"/>
            <a:extLst>
              <a:ext uri="{C807C97D-BFC1-408E-A445-0C87EB9F89A2}">
                <ask:lineSketchStyleProps xmlns:ask="http://schemas.microsoft.com/office/drawing/2018/sketchyshapes" sd="1219033472">
                  <a:custGeom>
                    <a:avLst/>
                    <a:gdLst>
                      <a:gd name="csX0" fmla="*/ 0 w 8520600"/>
                      <a:gd name="csY0" fmla="*/ 0 h 572700"/>
                      <a:gd name="csX1" fmla="*/ 738452 w 8520600"/>
                      <a:gd name="csY1" fmla="*/ 0 h 572700"/>
                      <a:gd name="csX2" fmla="*/ 1136080 w 8520600"/>
                      <a:gd name="csY2" fmla="*/ 0 h 572700"/>
                      <a:gd name="csX3" fmla="*/ 1789326 w 8520600"/>
                      <a:gd name="csY3" fmla="*/ 0 h 572700"/>
                      <a:gd name="csX4" fmla="*/ 2186954 w 8520600"/>
                      <a:gd name="csY4" fmla="*/ 0 h 572700"/>
                      <a:gd name="csX5" fmla="*/ 2754994 w 8520600"/>
                      <a:gd name="csY5" fmla="*/ 0 h 572700"/>
                      <a:gd name="csX6" fmla="*/ 3408240 w 8520600"/>
                      <a:gd name="csY6" fmla="*/ 0 h 572700"/>
                      <a:gd name="csX7" fmla="*/ 3720662 w 8520600"/>
                      <a:gd name="csY7" fmla="*/ 0 h 572700"/>
                      <a:gd name="csX8" fmla="*/ 4033084 w 8520600"/>
                      <a:gd name="csY8" fmla="*/ 0 h 572700"/>
                      <a:gd name="csX9" fmla="*/ 4771536 w 8520600"/>
                      <a:gd name="csY9" fmla="*/ 0 h 572700"/>
                      <a:gd name="csX10" fmla="*/ 5339576 w 8520600"/>
                      <a:gd name="csY10" fmla="*/ 0 h 572700"/>
                      <a:gd name="csX11" fmla="*/ 5651998 w 8520600"/>
                      <a:gd name="csY11" fmla="*/ 0 h 572700"/>
                      <a:gd name="csX12" fmla="*/ 6220038 w 8520600"/>
                      <a:gd name="csY12" fmla="*/ 0 h 572700"/>
                      <a:gd name="csX13" fmla="*/ 6958490 w 8520600"/>
                      <a:gd name="csY13" fmla="*/ 0 h 572700"/>
                      <a:gd name="csX14" fmla="*/ 7441324 w 8520600"/>
                      <a:gd name="csY14" fmla="*/ 0 h 572700"/>
                      <a:gd name="csX15" fmla="*/ 7924158 w 8520600"/>
                      <a:gd name="csY15" fmla="*/ 0 h 572700"/>
                      <a:gd name="csX16" fmla="*/ 8520600 w 8520600"/>
                      <a:gd name="csY16" fmla="*/ 0 h 572700"/>
                      <a:gd name="csX17" fmla="*/ 8520600 w 8520600"/>
                      <a:gd name="csY17" fmla="*/ 572700 h 572700"/>
                      <a:gd name="csX18" fmla="*/ 7952560 w 8520600"/>
                      <a:gd name="csY18" fmla="*/ 572700 h 572700"/>
                      <a:gd name="csX19" fmla="*/ 7299314 w 8520600"/>
                      <a:gd name="csY19" fmla="*/ 572700 h 572700"/>
                      <a:gd name="csX20" fmla="*/ 6646068 w 8520600"/>
                      <a:gd name="csY20" fmla="*/ 572700 h 572700"/>
                      <a:gd name="csX21" fmla="*/ 6248440 w 8520600"/>
                      <a:gd name="csY21" fmla="*/ 572700 h 572700"/>
                      <a:gd name="csX22" fmla="*/ 5509988 w 8520600"/>
                      <a:gd name="csY22" fmla="*/ 572700 h 572700"/>
                      <a:gd name="csX23" fmla="*/ 4941948 w 8520600"/>
                      <a:gd name="csY23" fmla="*/ 572700 h 572700"/>
                      <a:gd name="csX24" fmla="*/ 4629526 w 8520600"/>
                      <a:gd name="csY24" fmla="*/ 572700 h 572700"/>
                      <a:gd name="csX25" fmla="*/ 4061486 w 8520600"/>
                      <a:gd name="csY25" fmla="*/ 572700 h 572700"/>
                      <a:gd name="csX26" fmla="*/ 3578652 w 8520600"/>
                      <a:gd name="csY26" fmla="*/ 572700 h 572700"/>
                      <a:gd name="csX27" fmla="*/ 3095818 w 8520600"/>
                      <a:gd name="csY27" fmla="*/ 572700 h 572700"/>
                      <a:gd name="csX28" fmla="*/ 2612984 w 8520600"/>
                      <a:gd name="csY28" fmla="*/ 572700 h 572700"/>
                      <a:gd name="csX29" fmla="*/ 2130150 w 8520600"/>
                      <a:gd name="csY29" fmla="*/ 572700 h 572700"/>
                      <a:gd name="csX30" fmla="*/ 1476904 w 8520600"/>
                      <a:gd name="csY30" fmla="*/ 572700 h 572700"/>
                      <a:gd name="csX31" fmla="*/ 908864 w 8520600"/>
                      <a:gd name="csY31" fmla="*/ 572700 h 572700"/>
                      <a:gd name="csX32" fmla="*/ 596442 w 8520600"/>
                      <a:gd name="csY32" fmla="*/ 572700 h 572700"/>
                      <a:gd name="csX33" fmla="*/ 0 w 8520600"/>
                      <a:gd name="csY33" fmla="*/ 572700 h 572700"/>
                      <a:gd name="csX34" fmla="*/ 0 w 8520600"/>
                      <a:gd name="csY34" fmla="*/ 0 h 5727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8520600" h="572700" fill="none" extrusionOk="0">
                        <a:moveTo>
                          <a:pt x="0" y="0"/>
                        </a:moveTo>
                        <a:cubicBezTo>
                          <a:pt x="296057" y="-15384"/>
                          <a:pt x="458599" y="23967"/>
                          <a:pt x="738452" y="0"/>
                        </a:cubicBezTo>
                        <a:cubicBezTo>
                          <a:pt x="1018305" y="-23967"/>
                          <a:pt x="966860" y="4137"/>
                          <a:pt x="1136080" y="0"/>
                        </a:cubicBezTo>
                        <a:cubicBezTo>
                          <a:pt x="1305300" y="-4137"/>
                          <a:pt x="1519888" y="14195"/>
                          <a:pt x="1789326" y="0"/>
                        </a:cubicBezTo>
                        <a:cubicBezTo>
                          <a:pt x="2058764" y="-14195"/>
                          <a:pt x="2096962" y="8674"/>
                          <a:pt x="2186954" y="0"/>
                        </a:cubicBezTo>
                        <a:cubicBezTo>
                          <a:pt x="2276946" y="-8674"/>
                          <a:pt x="2619343" y="5095"/>
                          <a:pt x="2754994" y="0"/>
                        </a:cubicBezTo>
                        <a:cubicBezTo>
                          <a:pt x="2890645" y="-5095"/>
                          <a:pt x="3210270" y="16745"/>
                          <a:pt x="3408240" y="0"/>
                        </a:cubicBezTo>
                        <a:cubicBezTo>
                          <a:pt x="3606210" y="-16745"/>
                          <a:pt x="3585315" y="22208"/>
                          <a:pt x="3720662" y="0"/>
                        </a:cubicBezTo>
                        <a:cubicBezTo>
                          <a:pt x="3856009" y="-22208"/>
                          <a:pt x="3920614" y="34419"/>
                          <a:pt x="4033084" y="0"/>
                        </a:cubicBezTo>
                        <a:cubicBezTo>
                          <a:pt x="4145554" y="-34419"/>
                          <a:pt x="4471885" y="5075"/>
                          <a:pt x="4771536" y="0"/>
                        </a:cubicBezTo>
                        <a:cubicBezTo>
                          <a:pt x="5071187" y="-5075"/>
                          <a:pt x="5098202" y="38525"/>
                          <a:pt x="5339576" y="0"/>
                        </a:cubicBezTo>
                        <a:cubicBezTo>
                          <a:pt x="5580950" y="-38525"/>
                          <a:pt x="5502592" y="12657"/>
                          <a:pt x="5651998" y="0"/>
                        </a:cubicBezTo>
                        <a:cubicBezTo>
                          <a:pt x="5801404" y="-12657"/>
                          <a:pt x="6076317" y="7768"/>
                          <a:pt x="6220038" y="0"/>
                        </a:cubicBezTo>
                        <a:cubicBezTo>
                          <a:pt x="6363759" y="-7768"/>
                          <a:pt x="6608335" y="78885"/>
                          <a:pt x="6958490" y="0"/>
                        </a:cubicBezTo>
                        <a:cubicBezTo>
                          <a:pt x="7308645" y="-78885"/>
                          <a:pt x="7209464" y="33824"/>
                          <a:pt x="7441324" y="0"/>
                        </a:cubicBezTo>
                        <a:cubicBezTo>
                          <a:pt x="7673184" y="-33824"/>
                          <a:pt x="7798713" y="9676"/>
                          <a:pt x="7924158" y="0"/>
                        </a:cubicBezTo>
                        <a:cubicBezTo>
                          <a:pt x="8049603" y="-9676"/>
                          <a:pt x="8287884" y="63156"/>
                          <a:pt x="8520600" y="0"/>
                        </a:cubicBezTo>
                        <a:cubicBezTo>
                          <a:pt x="8553331" y="188305"/>
                          <a:pt x="8471629" y="387681"/>
                          <a:pt x="8520600" y="572700"/>
                        </a:cubicBezTo>
                        <a:cubicBezTo>
                          <a:pt x="8403932" y="612991"/>
                          <a:pt x="8101623" y="539939"/>
                          <a:pt x="7952560" y="572700"/>
                        </a:cubicBezTo>
                        <a:cubicBezTo>
                          <a:pt x="7803497" y="605461"/>
                          <a:pt x="7534268" y="559064"/>
                          <a:pt x="7299314" y="572700"/>
                        </a:cubicBezTo>
                        <a:cubicBezTo>
                          <a:pt x="7064360" y="586336"/>
                          <a:pt x="6884445" y="535708"/>
                          <a:pt x="6646068" y="572700"/>
                        </a:cubicBezTo>
                        <a:cubicBezTo>
                          <a:pt x="6407691" y="609692"/>
                          <a:pt x="6422356" y="537665"/>
                          <a:pt x="6248440" y="572700"/>
                        </a:cubicBezTo>
                        <a:cubicBezTo>
                          <a:pt x="6074524" y="607735"/>
                          <a:pt x="5873912" y="503175"/>
                          <a:pt x="5509988" y="572700"/>
                        </a:cubicBezTo>
                        <a:cubicBezTo>
                          <a:pt x="5146064" y="642225"/>
                          <a:pt x="5082562" y="539217"/>
                          <a:pt x="4941948" y="572700"/>
                        </a:cubicBezTo>
                        <a:cubicBezTo>
                          <a:pt x="4801334" y="606183"/>
                          <a:pt x="4713781" y="537178"/>
                          <a:pt x="4629526" y="572700"/>
                        </a:cubicBezTo>
                        <a:cubicBezTo>
                          <a:pt x="4545271" y="608222"/>
                          <a:pt x="4221963" y="512790"/>
                          <a:pt x="4061486" y="572700"/>
                        </a:cubicBezTo>
                        <a:cubicBezTo>
                          <a:pt x="3901009" y="632610"/>
                          <a:pt x="3806421" y="540149"/>
                          <a:pt x="3578652" y="572700"/>
                        </a:cubicBezTo>
                        <a:cubicBezTo>
                          <a:pt x="3350883" y="605251"/>
                          <a:pt x="3332469" y="515288"/>
                          <a:pt x="3095818" y="572700"/>
                        </a:cubicBezTo>
                        <a:cubicBezTo>
                          <a:pt x="2859167" y="630112"/>
                          <a:pt x="2715487" y="534608"/>
                          <a:pt x="2612984" y="572700"/>
                        </a:cubicBezTo>
                        <a:cubicBezTo>
                          <a:pt x="2510481" y="610792"/>
                          <a:pt x="2298456" y="541687"/>
                          <a:pt x="2130150" y="572700"/>
                        </a:cubicBezTo>
                        <a:cubicBezTo>
                          <a:pt x="1961844" y="603713"/>
                          <a:pt x="1770127" y="498640"/>
                          <a:pt x="1476904" y="572700"/>
                        </a:cubicBezTo>
                        <a:cubicBezTo>
                          <a:pt x="1183681" y="646760"/>
                          <a:pt x="1051364" y="527544"/>
                          <a:pt x="908864" y="572700"/>
                        </a:cubicBezTo>
                        <a:cubicBezTo>
                          <a:pt x="766364" y="617856"/>
                          <a:pt x="691903" y="546732"/>
                          <a:pt x="596442" y="572700"/>
                        </a:cubicBezTo>
                        <a:cubicBezTo>
                          <a:pt x="500981" y="598668"/>
                          <a:pt x="282163" y="501603"/>
                          <a:pt x="0" y="572700"/>
                        </a:cubicBezTo>
                        <a:cubicBezTo>
                          <a:pt x="-45536" y="435344"/>
                          <a:pt x="34497" y="161474"/>
                          <a:pt x="0" y="0"/>
                        </a:cubicBezTo>
                        <a:close/>
                      </a:path>
                      <a:path w="8520600" h="572700" stroke="0" extrusionOk="0">
                        <a:moveTo>
                          <a:pt x="0" y="0"/>
                        </a:moveTo>
                        <a:cubicBezTo>
                          <a:pt x="96975" y="-51355"/>
                          <a:pt x="309823" y="7505"/>
                          <a:pt x="482834" y="0"/>
                        </a:cubicBezTo>
                        <a:cubicBezTo>
                          <a:pt x="655845" y="-7505"/>
                          <a:pt x="705048" y="15580"/>
                          <a:pt x="795256" y="0"/>
                        </a:cubicBezTo>
                        <a:cubicBezTo>
                          <a:pt x="885464" y="-15580"/>
                          <a:pt x="1283513" y="60272"/>
                          <a:pt x="1533708" y="0"/>
                        </a:cubicBezTo>
                        <a:cubicBezTo>
                          <a:pt x="1783903" y="-60272"/>
                          <a:pt x="1837883" y="28838"/>
                          <a:pt x="2016542" y="0"/>
                        </a:cubicBezTo>
                        <a:cubicBezTo>
                          <a:pt x="2195201" y="-28838"/>
                          <a:pt x="2289668" y="37734"/>
                          <a:pt x="2499376" y="0"/>
                        </a:cubicBezTo>
                        <a:cubicBezTo>
                          <a:pt x="2709084" y="-37734"/>
                          <a:pt x="3065740" y="6544"/>
                          <a:pt x="3237828" y="0"/>
                        </a:cubicBezTo>
                        <a:cubicBezTo>
                          <a:pt x="3409916" y="-6544"/>
                          <a:pt x="3505616" y="26618"/>
                          <a:pt x="3635456" y="0"/>
                        </a:cubicBezTo>
                        <a:cubicBezTo>
                          <a:pt x="3765296" y="-26618"/>
                          <a:pt x="4040991" y="60250"/>
                          <a:pt x="4373908" y="0"/>
                        </a:cubicBezTo>
                        <a:cubicBezTo>
                          <a:pt x="4706825" y="-60250"/>
                          <a:pt x="4804348" y="3309"/>
                          <a:pt x="5112360" y="0"/>
                        </a:cubicBezTo>
                        <a:cubicBezTo>
                          <a:pt x="5420372" y="-3309"/>
                          <a:pt x="5459863" y="47499"/>
                          <a:pt x="5680400" y="0"/>
                        </a:cubicBezTo>
                        <a:cubicBezTo>
                          <a:pt x="5900937" y="-47499"/>
                          <a:pt x="6143625" y="13630"/>
                          <a:pt x="6418852" y="0"/>
                        </a:cubicBezTo>
                        <a:cubicBezTo>
                          <a:pt x="6694079" y="-13630"/>
                          <a:pt x="6755768" y="39856"/>
                          <a:pt x="6901686" y="0"/>
                        </a:cubicBezTo>
                        <a:cubicBezTo>
                          <a:pt x="7047604" y="-39856"/>
                          <a:pt x="7178847" y="47972"/>
                          <a:pt x="7384520" y="0"/>
                        </a:cubicBezTo>
                        <a:cubicBezTo>
                          <a:pt x="7590193" y="-47972"/>
                          <a:pt x="7726551" y="3824"/>
                          <a:pt x="8037766" y="0"/>
                        </a:cubicBezTo>
                        <a:cubicBezTo>
                          <a:pt x="8348981" y="-3824"/>
                          <a:pt x="8334905" y="56652"/>
                          <a:pt x="8520600" y="0"/>
                        </a:cubicBezTo>
                        <a:cubicBezTo>
                          <a:pt x="8539935" y="174770"/>
                          <a:pt x="8458245" y="305724"/>
                          <a:pt x="8520600" y="572700"/>
                        </a:cubicBezTo>
                        <a:cubicBezTo>
                          <a:pt x="8334298" y="631816"/>
                          <a:pt x="8039570" y="505649"/>
                          <a:pt x="7867354" y="572700"/>
                        </a:cubicBezTo>
                        <a:cubicBezTo>
                          <a:pt x="7695138" y="639751"/>
                          <a:pt x="7545126" y="516402"/>
                          <a:pt x="7299314" y="572700"/>
                        </a:cubicBezTo>
                        <a:cubicBezTo>
                          <a:pt x="7053502" y="628998"/>
                          <a:pt x="7082801" y="559929"/>
                          <a:pt x="6986892" y="572700"/>
                        </a:cubicBezTo>
                        <a:cubicBezTo>
                          <a:pt x="6890983" y="585471"/>
                          <a:pt x="6733310" y="562717"/>
                          <a:pt x="6589264" y="572700"/>
                        </a:cubicBezTo>
                        <a:cubicBezTo>
                          <a:pt x="6445218" y="582683"/>
                          <a:pt x="6018416" y="488541"/>
                          <a:pt x="5850812" y="572700"/>
                        </a:cubicBezTo>
                        <a:cubicBezTo>
                          <a:pt x="5683208" y="656859"/>
                          <a:pt x="5498686" y="504582"/>
                          <a:pt x="5282772" y="572700"/>
                        </a:cubicBezTo>
                        <a:cubicBezTo>
                          <a:pt x="5066858" y="640818"/>
                          <a:pt x="5060113" y="540760"/>
                          <a:pt x="4885144" y="572700"/>
                        </a:cubicBezTo>
                        <a:cubicBezTo>
                          <a:pt x="4710175" y="604640"/>
                          <a:pt x="4501910" y="510658"/>
                          <a:pt x="4317104" y="572700"/>
                        </a:cubicBezTo>
                        <a:cubicBezTo>
                          <a:pt x="4132298" y="634742"/>
                          <a:pt x="4078294" y="565816"/>
                          <a:pt x="4004682" y="572700"/>
                        </a:cubicBezTo>
                        <a:cubicBezTo>
                          <a:pt x="3931070" y="579584"/>
                          <a:pt x="3764005" y="557166"/>
                          <a:pt x="3692260" y="572700"/>
                        </a:cubicBezTo>
                        <a:cubicBezTo>
                          <a:pt x="3620515" y="588234"/>
                          <a:pt x="3315716" y="507226"/>
                          <a:pt x="3124220" y="572700"/>
                        </a:cubicBezTo>
                        <a:cubicBezTo>
                          <a:pt x="2932724" y="638174"/>
                          <a:pt x="2810168" y="535398"/>
                          <a:pt x="2726592" y="572700"/>
                        </a:cubicBezTo>
                        <a:cubicBezTo>
                          <a:pt x="2643016" y="610002"/>
                          <a:pt x="2251183" y="567415"/>
                          <a:pt x="2073346" y="572700"/>
                        </a:cubicBezTo>
                        <a:cubicBezTo>
                          <a:pt x="1895509" y="577985"/>
                          <a:pt x="1791368" y="552779"/>
                          <a:pt x="1675718" y="572700"/>
                        </a:cubicBezTo>
                        <a:cubicBezTo>
                          <a:pt x="1560068" y="592621"/>
                          <a:pt x="1223196" y="549147"/>
                          <a:pt x="1022472" y="572700"/>
                        </a:cubicBezTo>
                        <a:cubicBezTo>
                          <a:pt x="821748" y="596253"/>
                          <a:pt x="850650" y="545651"/>
                          <a:pt x="710050" y="572700"/>
                        </a:cubicBezTo>
                        <a:cubicBezTo>
                          <a:pt x="569450" y="599749"/>
                          <a:pt x="249865" y="556673"/>
                          <a:pt x="0" y="572700"/>
                        </a:cubicBezTo>
                        <a:cubicBezTo>
                          <a:pt x="-61106" y="409980"/>
                          <a:pt x="61509" y="162686"/>
                          <a:pt x="0" y="0"/>
                        </a:cubicBezTo>
                        <a:close/>
                      </a:path>
                    </a:pathLst>
                  </a:custGeom>
                  <ask:type>
                    <ask:lineSketchNone/>
                  </ask:type>
                </ask:lineSketchStyleProps>
              </a:ext>
            </a:extLst>
          </a:ln>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Conclusion</a:t>
            </a:r>
            <a:endParaRPr dirty="0"/>
          </a:p>
        </p:txBody>
      </p:sp>
      <p:sp>
        <p:nvSpPr>
          <p:cNvPr id="150" name="Google Shape;150;p24"/>
          <p:cNvSpPr txBox="1">
            <a:spLocks noGrp="1"/>
          </p:cNvSpPr>
          <p:nvPr>
            <p:ph type="body" idx="1"/>
          </p:nvPr>
        </p:nvSpPr>
        <p:spPr>
          <a:xfrm>
            <a:off x="311700" y="1125581"/>
            <a:ext cx="8520600" cy="3416400"/>
          </a:xfrm>
          <a:prstGeom prst="rect">
            <a:avLst/>
          </a:prstGeom>
        </p:spPr>
        <p:txBody>
          <a:bodyPr spcFirstLastPara="1" wrap="square" lIns="91425" tIns="91425" rIns="91425" bIns="91425" anchor="t" anchorCtr="0">
            <a:normAutofit/>
          </a:bodyPr>
          <a:lstStyle/>
          <a:p>
            <a:pPr marL="152400" lvl="0" indent="0" algn="l" rtl="0">
              <a:spcBef>
                <a:spcPts val="0"/>
              </a:spcBef>
              <a:spcAft>
                <a:spcPts val="0"/>
              </a:spcAft>
              <a:buClr>
                <a:schemeClr val="dk1"/>
              </a:buClr>
              <a:buSzPts val="1200"/>
              <a:buNone/>
            </a:pPr>
            <a:r>
              <a:rPr lang="en" sz="1400" dirty="0">
                <a:solidFill>
                  <a:schemeClr val="tx1"/>
                </a:solidFill>
                <a:latin typeface="Times New Roman" panose="02020603050405020304" pitchFamily="18" charset="0"/>
                <a:cs typeface="Times New Roman" panose="02020603050405020304" pitchFamily="18" charset="0"/>
              </a:rPr>
              <a:t>Biological answer to this journal</a:t>
            </a:r>
          </a:p>
          <a:p>
            <a:pPr fontAlgn="base">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Using RNA-seq, the study identified 316 differentially expressed genes after dexamethasone treatment.</a:t>
            </a:r>
          </a:p>
          <a:p>
            <a:pPr fontAlgn="base">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Among these genes, CRISPLD2 was prioritized as a candidate regulator of inflammatory responses.</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What we learned</a:t>
            </a:r>
            <a:br>
              <a:rPr lang="en-US" sz="1400" dirty="0">
                <a:solidFill>
                  <a:schemeClr val="tx1"/>
                </a:solidFill>
                <a:latin typeface="Times New Roman" panose="02020603050405020304" pitchFamily="18" charset="0"/>
                <a:cs typeface="Times New Roman" panose="02020603050405020304" pitchFamily="18" charset="0"/>
              </a:rPr>
            </a:br>
            <a:endParaRPr lang="en" sz="1400" dirty="0">
              <a:solidFill>
                <a:schemeClr val="tx1"/>
              </a:solidFill>
              <a:latin typeface="Times New Roman" panose="02020603050405020304" pitchFamily="18" charset="0"/>
              <a:cs typeface="Times New Roman" panose="02020603050405020304" pitchFamily="18" charset="0"/>
            </a:endParaRPr>
          </a:p>
          <a:p>
            <a:pPr lvl="0" indent="-304800">
              <a:buClr>
                <a:schemeClr val="dk1"/>
              </a:buClr>
              <a:buSzPts val="1200"/>
            </a:pPr>
            <a:r>
              <a:rPr lang="en" sz="1400" dirty="0">
                <a:solidFill>
                  <a:schemeClr val="tx1"/>
                </a:solidFill>
                <a:latin typeface="Times New Roman" panose="02020603050405020304" pitchFamily="18" charset="0"/>
                <a:cs typeface="Times New Roman" panose="02020603050405020304" pitchFamily="18" charset="0"/>
              </a:rPr>
              <a:t>We are interested in this project since there is no documentation on actual journal page and we want to learn how to use DESeq2</a:t>
            </a:r>
            <a:endParaRPr sz="1400" dirty="0">
              <a:solidFill>
                <a:schemeClr val="tx1"/>
              </a:solidFill>
              <a:latin typeface="Times New Roman" panose="02020603050405020304" pitchFamily="18" charset="0"/>
              <a:cs typeface="Times New Roman" panose="02020603050405020304" pitchFamily="18" charset="0"/>
            </a:endParaRPr>
          </a:p>
          <a:p>
            <a:pPr marL="457200" lvl="0" indent="-304800" algn="l" rtl="0">
              <a:spcBef>
                <a:spcPts val="0"/>
              </a:spcBef>
              <a:spcAft>
                <a:spcPts val="0"/>
              </a:spcAft>
              <a:buClr>
                <a:schemeClr val="dk1"/>
              </a:buClr>
              <a:buSzPts val="1200"/>
              <a:buChar char="●"/>
            </a:pPr>
            <a:r>
              <a:rPr lang="en" sz="1400" dirty="0">
                <a:solidFill>
                  <a:schemeClr val="tx1"/>
                </a:solidFill>
                <a:latin typeface="Times New Roman" panose="02020603050405020304" pitchFamily="18" charset="0"/>
                <a:cs typeface="Times New Roman" panose="02020603050405020304" pitchFamily="18" charset="0"/>
              </a:rPr>
              <a:t>Learn about which data should be used for DESeq2 and how to analyze differential gene expression</a:t>
            </a:r>
            <a:endParaRPr sz="1400" dirty="0">
              <a:solidFill>
                <a:schemeClr val="tx1"/>
              </a:solidFill>
              <a:latin typeface="Times New Roman" panose="02020603050405020304" pitchFamily="18" charset="0"/>
              <a:cs typeface="Times New Roman" panose="02020603050405020304" pitchFamily="18" charset="0"/>
            </a:endParaRPr>
          </a:p>
          <a:p>
            <a:pPr marL="457200" lvl="0" indent="-304800" algn="l" rtl="0">
              <a:spcBef>
                <a:spcPts val="0"/>
              </a:spcBef>
              <a:spcAft>
                <a:spcPts val="0"/>
              </a:spcAft>
              <a:buClr>
                <a:schemeClr val="dk1"/>
              </a:buClr>
              <a:buSzPts val="1200"/>
              <a:buChar char="●"/>
            </a:pPr>
            <a:r>
              <a:rPr lang="en" sz="1400" dirty="0">
                <a:solidFill>
                  <a:schemeClr val="tx1"/>
                </a:solidFill>
                <a:latin typeface="Times New Roman" panose="02020603050405020304" pitchFamily="18" charset="0"/>
                <a:cs typeface="Times New Roman" panose="02020603050405020304" pitchFamily="18" charset="0"/>
              </a:rPr>
              <a:t>The actual pipeline/scripts can be hard to replicate if it is not document properly [The different results we got]</a:t>
            </a:r>
          </a:p>
          <a:p>
            <a:pPr marL="457200" lvl="0" indent="-304800" algn="l" rtl="0">
              <a:spcBef>
                <a:spcPts val="0"/>
              </a:spcBef>
              <a:spcAft>
                <a:spcPts val="0"/>
              </a:spcAft>
              <a:buClr>
                <a:schemeClr val="dk1"/>
              </a:buClr>
              <a:buSzPts val="1200"/>
              <a:buChar char="●"/>
            </a:pPr>
            <a:r>
              <a:rPr lang="en" sz="1400" dirty="0">
                <a:solidFill>
                  <a:schemeClr val="tx1"/>
                </a:solidFill>
                <a:latin typeface="Times New Roman" panose="02020603050405020304" pitchFamily="18" charset="0"/>
                <a:cs typeface="Times New Roman" panose="02020603050405020304" pitchFamily="18" charset="0"/>
              </a:rPr>
              <a:t>Remind us to think about the version change of some certain long term storage website [NCBI]</a:t>
            </a:r>
          </a:p>
          <a:p>
            <a:pPr marL="457200" lvl="0" indent="-304800" algn="l" rtl="0">
              <a:spcBef>
                <a:spcPts val="0"/>
              </a:spcBef>
              <a:spcAft>
                <a:spcPts val="0"/>
              </a:spcAft>
              <a:buClr>
                <a:schemeClr val="dk1"/>
              </a:buClr>
              <a:buSzPts val="1200"/>
              <a:buChar char="●"/>
            </a:pPr>
            <a:r>
              <a:rPr lang="en" sz="1400" dirty="0">
                <a:solidFill>
                  <a:schemeClr val="tx1"/>
                </a:solidFill>
                <a:latin typeface="Times New Roman" panose="02020603050405020304" pitchFamily="18" charset="0"/>
                <a:cs typeface="Times New Roman" panose="02020603050405020304" pitchFamily="18" charset="0"/>
              </a:rPr>
              <a:t>The created package in R or some analysis package in R are sometimes not up to date [how we should be careful if we use and create one]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24CBF-2799-E384-2DFE-6717695B9273}"/>
              </a:ext>
            </a:extLst>
          </p:cNvPr>
          <p:cNvSpPr>
            <a:spLocks noGrp="1"/>
          </p:cNvSpPr>
          <p:nvPr>
            <p:ph type="title"/>
          </p:nvPr>
        </p:nvSpPr>
        <p:spPr/>
        <p:txBody>
          <a:bodyPr>
            <a:normAutofit/>
          </a:bodyPr>
          <a:lstStyle/>
          <a:p>
            <a:r>
              <a:rPr lang="en-US" dirty="0"/>
              <a:t>Thank you for your attention!</a:t>
            </a:r>
          </a:p>
        </p:txBody>
      </p:sp>
    </p:spTree>
    <p:extLst>
      <p:ext uri="{BB962C8B-B14F-4D97-AF65-F5344CB8AC3E}">
        <p14:creationId xmlns:p14="http://schemas.microsoft.com/office/powerpoint/2010/main" val="28880107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C8F21-6CB8-B3EE-C208-577671326130}"/>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F6ECE70B-2D9E-A8FB-CD28-DF3766A64342}"/>
              </a:ext>
            </a:extLst>
          </p:cNvPr>
          <p:cNvSpPr>
            <a:spLocks noGrp="1"/>
          </p:cNvSpPr>
          <p:nvPr>
            <p:ph type="body" idx="1"/>
          </p:nvPr>
        </p:nvSpPr>
        <p:spPr/>
        <p:txBody>
          <a:bodyPr>
            <a:normAutofit/>
          </a:bodyPr>
          <a:lstStyle/>
          <a:p>
            <a:pPr marL="114300" indent="0">
              <a:buNone/>
            </a:pPr>
            <a:r>
              <a:rPr lang="en-US" sz="1400" dirty="0">
                <a:solidFill>
                  <a:schemeClr val="tx1"/>
                </a:solidFill>
                <a:latin typeface="Times New Roman" panose="02020603050405020304" pitchFamily="18" charset="0"/>
                <a:cs typeface="Times New Roman" panose="02020603050405020304" pitchFamily="18" charset="0"/>
              </a:rPr>
              <a:t>Himes BE, Jiang X, Wagner P, Hu R, Wang Q, Klanderman B, Whitaker RM, Duan Q, Lasky-Su J, Nikolos C, Jester W, Johnson M, Panettieri R Jr, </a:t>
            </a:r>
            <a:r>
              <a:rPr lang="en-US" sz="1400" dirty="0" err="1">
                <a:solidFill>
                  <a:schemeClr val="tx1"/>
                </a:solidFill>
                <a:latin typeface="Times New Roman" panose="02020603050405020304" pitchFamily="18" charset="0"/>
                <a:cs typeface="Times New Roman" panose="02020603050405020304" pitchFamily="18" charset="0"/>
              </a:rPr>
              <a:t>Tantisira</a:t>
            </a:r>
            <a:r>
              <a:rPr lang="en-US" sz="1400" dirty="0">
                <a:solidFill>
                  <a:schemeClr val="tx1"/>
                </a:solidFill>
                <a:latin typeface="Times New Roman" panose="02020603050405020304" pitchFamily="18" charset="0"/>
                <a:cs typeface="Times New Roman" panose="02020603050405020304" pitchFamily="18" charset="0"/>
              </a:rPr>
              <a:t> KG, Weiss ST, Lu Q. “RNA-Seq Transcriptome Profiling Identifies CRISPLD2 as a Glucocorticoid Responsive Gene that Modulates Cytokine Function in Airway Smooth Muscle Cells.” </a:t>
            </a:r>
            <a:r>
              <a:rPr lang="en-US" sz="1400" dirty="0" err="1">
                <a:solidFill>
                  <a:schemeClr val="tx1"/>
                </a:solidFill>
                <a:latin typeface="Times New Roman" panose="02020603050405020304" pitchFamily="18" charset="0"/>
                <a:cs typeface="Times New Roman" panose="02020603050405020304" pitchFamily="18" charset="0"/>
              </a:rPr>
              <a:t>PLoS</a:t>
            </a:r>
            <a:r>
              <a:rPr lang="en-US" sz="1400" dirty="0">
                <a:solidFill>
                  <a:schemeClr val="tx1"/>
                </a:solidFill>
                <a:latin typeface="Times New Roman" panose="02020603050405020304" pitchFamily="18" charset="0"/>
                <a:cs typeface="Times New Roman" panose="02020603050405020304" pitchFamily="18" charset="0"/>
              </a:rPr>
              <a:t> One. 2014 Jun 13;9(6):e99625. PMID: </a:t>
            </a:r>
            <a:r>
              <a:rPr lang="en-US" sz="1400" dirty="0">
                <a:solidFill>
                  <a:schemeClr val="tx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24926665</a:t>
            </a:r>
            <a:r>
              <a:rPr lang="en-US" sz="1400" dirty="0">
                <a:solidFill>
                  <a:schemeClr val="tx1"/>
                </a:solidFill>
                <a:latin typeface="Times New Roman" panose="02020603050405020304" pitchFamily="18" charset="0"/>
                <a:cs typeface="Times New Roman" panose="02020603050405020304" pitchFamily="18" charset="0"/>
              </a:rPr>
              <a:t>. GEO: </a:t>
            </a:r>
            <a:r>
              <a:rPr lang="en-US" sz="1400" dirty="0">
                <a:solidFill>
                  <a:schemeClr val="tx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GSE52778</a:t>
            </a:r>
            <a:r>
              <a:rPr lang="en-US" sz="1400" dirty="0">
                <a:solidFill>
                  <a:schemeClr val="tx1"/>
                </a:solidFill>
                <a:latin typeface="Times New Roman" panose="02020603050405020304" pitchFamily="18" charset="0"/>
                <a:cs typeface="Times New Roman" panose="02020603050405020304" pitchFamily="18" charset="0"/>
              </a:rPr>
              <a:t>.</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Morgan (2015). https://</a:t>
            </a:r>
            <a:r>
              <a:rPr lang="en-US" sz="1400" dirty="0" err="1">
                <a:solidFill>
                  <a:schemeClr val="tx1"/>
                </a:solidFill>
                <a:latin typeface="Times New Roman" panose="02020603050405020304" pitchFamily="18" charset="0"/>
                <a:cs typeface="Times New Roman" panose="02020603050405020304" pitchFamily="18" charset="0"/>
              </a:rPr>
              <a:t>www.bioconductor.org</a:t>
            </a:r>
            <a:r>
              <a:rPr lang="en-US" sz="1400" dirty="0">
                <a:solidFill>
                  <a:schemeClr val="tx1"/>
                </a:solidFill>
                <a:latin typeface="Times New Roman" panose="02020603050405020304" pitchFamily="18" charset="0"/>
                <a:cs typeface="Times New Roman" panose="02020603050405020304" pitchFamily="18" charset="0"/>
              </a:rPr>
              <a:t>/help/course-materials/2015/Uruguay2015/V6-RNASeq.html#background</a:t>
            </a:r>
          </a:p>
        </p:txBody>
      </p:sp>
    </p:spTree>
    <p:extLst>
      <p:ext uri="{BB962C8B-B14F-4D97-AF65-F5344CB8AC3E}">
        <p14:creationId xmlns:p14="http://schemas.microsoft.com/office/powerpoint/2010/main" val="16124584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182"/>
        <p:cNvGrpSpPr/>
        <p:nvPr/>
      </p:nvGrpSpPr>
      <p:grpSpPr>
        <a:xfrm>
          <a:off x="0" y="0"/>
          <a:ext cx="0" cy="0"/>
          <a:chOff x="0" y="0"/>
          <a:chExt cx="0" cy="0"/>
        </a:xfrm>
      </p:grpSpPr>
      <p:sp>
        <p:nvSpPr>
          <p:cNvPr id="183" name="Google Shape;183;p27"/>
          <p:cNvSpPr txBox="1">
            <a:spLocks noGrp="1"/>
          </p:cNvSpPr>
          <p:nvPr>
            <p:ph type="title"/>
          </p:nvPr>
        </p:nvSpPr>
        <p:spPr>
          <a:xfrm>
            <a:off x="311700" y="247802"/>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800"/>
              </a:spcAft>
              <a:buNone/>
            </a:pPr>
            <a:r>
              <a:rPr lang="en" sz="1800" b="1" dirty="0"/>
              <a:t>Install and load analysis packages and load a prepared RNA-seq dataset </a:t>
            </a:r>
            <a:endParaRPr sz="1800" b="1" dirty="0"/>
          </a:p>
        </p:txBody>
      </p:sp>
      <p:sp>
        <p:nvSpPr>
          <p:cNvPr id="184" name="Google Shape;184;p27"/>
          <p:cNvSpPr txBox="1">
            <a:spLocks noGrp="1"/>
          </p:cNvSpPr>
          <p:nvPr>
            <p:ph type="body" idx="1"/>
          </p:nvPr>
        </p:nvSpPr>
        <p:spPr>
          <a:xfrm>
            <a:off x="374453" y="748784"/>
            <a:ext cx="8520600" cy="34164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200" dirty="0">
                <a:solidFill>
                  <a:schemeClr val="dk1"/>
                </a:solidFill>
              </a:rPr>
              <a:t>Install and load analysis packages</a:t>
            </a:r>
            <a:br>
              <a:rPr lang="en" sz="1200" dirty="0">
                <a:solidFill>
                  <a:schemeClr val="dk1"/>
                </a:solidFill>
              </a:rPr>
            </a:br>
            <a:r>
              <a:rPr lang="en" sz="1200" dirty="0">
                <a:solidFill>
                  <a:schemeClr val="dk1"/>
                </a:solidFill>
              </a:rPr>
              <a:t>Programs/packages used: </a:t>
            </a:r>
            <a:r>
              <a:rPr lang="en" sz="1200" dirty="0" err="1">
                <a:solidFill>
                  <a:schemeClr val="dk1"/>
                </a:solidFill>
              </a:rPr>
              <a:t>BiocManager</a:t>
            </a:r>
            <a:r>
              <a:rPr lang="en" sz="1200" dirty="0">
                <a:solidFill>
                  <a:schemeClr val="dk1"/>
                </a:solidFill>
              </a:rPr>
              <a:t>, airway, DESeq2, </a:t>
            </a:r>
            <a:r>
              <a:rPr lang="en" sz="1200" dirty="0" err="1">
                <a:solidFill>
                  <a:schemeClr val="dk1"/>
                </a:solidFill>
              </a:rPr>
              <a:t>org.Hs.eg.db</a:t>
            </a:r>
            <a:r>
              <a:rPr lang="en" sz="1200" dirty="0">
                <a:solidFill>
                  <a:schemeClr val="dk1"/>
                </a:solidFill>
              </a:rPr>
              <a:t>, </a:t>
            </a:r>
            <a:r>
              <a:rPr lang="en" sz="1200" dirty="0" err="1">
                <a:solidFill>
                  <a:schemeClr val="dk1"/>
                </a:solidFill>
              </a:rPr>
              <a:t>AnnotationDbi</a:t>
            </a:r>
            <a:r>
              <a:rPr lang="en" sz="1200" dirty="0">
                <a:solidFill>
                  <a:schemeClr val="dk1"/>
                </a:solidFill>
              </a:rPr>
              <a:t>, </a:t>
            </a:r>
            <a:r>
              <a:rPr lang="en" sz="1200" dirty="0" err="1">
                <a:solidFill>
                  <a:schemeClr val="dk1"/>
                </a:solidFill>
              </a:rPr>
              <a:t>SummarizedExperiment</a:t>
            </a:r>
            <a:r>
              <a:rPr lang="en" sz="1200" dirty="0">
                <a:solidFill>
                  <a:schemeClr val="dk1"/>
                </a:solidFill>
              </a:rPr>
              <a:t>, </a:t>
            </a:r>
            <a:r>
              <a:rPr lang="en" sz="1200" dirty="0" err="1">
                <a:solidFill>
                  <a:schemeClr val="dk1"/>
                </a:solidFill>
              </a:rPr>
              <a:t>gplots</a:t>
            </a:r>
            <a:r>
              <a:rPr lang="en" sz="1200" dirty="0">
                <a:solidFill>
                  <a:schemeClr val="dk1"/>
                </a:solidFill>
              </a:rPr>
              <a:t>, </a:t>
            </a:r>
            <a:r>
              <a:rPr lang="en" sz="1200" dirty="0" err="1">
                <a:solidFill>
                  <a:schemeClr val="dk1"/>
                </a:solidFill>
              </a:rPr>
              <a:t>RColorBrewer</a:t>
            </a:r>
            <a:r>
              <a:rPr lang="en" sz="1200" dirty="0">
                <a:solidFill>
                  <a:schemeClr val="dk1"/>
                </a:solidFill>
              </a:rPr>
              <a:t>, ggplot2</a:t>
            </a:r>
            <a:endParaRPr sz="1200" dirty="0">
              <a:solidFill>
                <a:schemeClr val="dk1"/>
              </a:solidFill>
            </a:endParaRPr>
          </a:p>
          <a:p>
            <a:pPr marL="914400" lvl="1" indent="-304800" algn="l" rtl="0">
              <a:spcBef>
                <a:spcPts val="1200"/>
              </a:spcBef>
              <a:spcAft>
                <a:spcPts val="0"/>
              </a:spcAft>
              <a:buClr>
                <a:schemeClr val="dk1"/>
              </a:buClr>
              <a:buSzPts val="1200"/>
              <a:buChar char="○"/>
            </a:pPr>
            <a:r>
              <a:rPr lang="en" sz="1200" dirty="0">
                <a:solidFill>
                  <a:schemeClr val="dk1"/>
                </a:solidFill>
              </a:rPr>
              <a:t>airway: example RNA-seq dataset</a:t>
            </a:r>
            <a:endParaRPr sz="1200" dirty="0">
              <a:solidFill>
                <a:schemeClr val="dk1"/>
              </a:solidFill>
            </a:endParaRPr>
          </a:p>
          <a:p>
            <a:pPr marL="914400" lvl="1" indent="-304800" algn="l" rtl="0">
              <a:spcBef>
                <a:spcPts val="0"/>
              </a:spcBef>
              <a:spcAft>
                <a:spcPts val="0"/>
              </a:spcAft>
              <a:buClr>
                <a:schemeClr val="dk1"/>
              </a:buClr>
              <a:buSzPts val="1200"/>
              <a:buChar char="○"/>
            </a:pPr>
            <a:r>
              <a:rPr lang="en" sz="1200" dirty="0">
                <a:solidFill>
                  <a:schemeClr val="dk1"/>
                </a:solidFill>
              </a:rPr>
              <a:t>DESeq2: differential expression analysis</a:t>
            </a:r>
            <a:endParaRPr sz="1200" dirty="0">
              <a:solidFill>
                <a:schemeClr val="dk1"/>
              </a:solidFill>
            </a:endParaRPr>
          </a:p>
          <a:p>
            <a:pPr marL="914400" lvl="1" indent="-304800" algn="l" rtl="0">
              <a:spcBef>
                <a:spcPts val="0"/>
              </a:spcBef>
              <a:spcAft>
                <a:spcPts val="0"/>
              </a:spcAft>
              <a:buClr>
                <a:schemeClr val="dk1"/>
              </a:buClr>
              <a:buSzPts val="1200"/>
              <a:buChar char="○"/>
            </a:pPr>
            <a:r>
              <a:rPr lang="en" sz="1200" dirty="0" err="1">
                <a:solidFill>
                  <a:schemeClr val="dk1"/>
                </a:solidFill>
              </a:rPr>
              <a:t>org.Hs.eg.db</a:t>
            </a:r>
            <a:r>
              <a:rPr lang="en" sz="1200" dirty="0">
                <a:solidFill>
                  <a:schemeClr val="dk1"/>
                </a:solidFill>
              </a:rPr>
              <a:t>, </a:t>
            </a:r>
            <a:r>
              <a:rPr lang="en" sz="1200" dirty="0" err="1">
                <a:solidFill>
                  <a:schemeClr val="dk1"/>
                </a:solidFill>
              </a:rPr>
              <a:t>AnnotationDbi</a:t>
            </a:r>
            <a:r>
              <a:rPr lang="en" sz="1200" dirty="0">
                <a:solidFill>
                  <a:schemeClr val="dk1"/>
                </a:solidFill>
              </a:rPr>
              <a:t>: gene ID annotation</a:t>
            </a:r>
            <a:endParaRPr sz="1200" dirty="0">
              <a:solidFill>
                <a:schemeClr val="dk1"/>
              </a:solidFill>
            </a:endParaRPr>
          </a:p>
          <a:p>
            <a:pPr marL="914400" lvl="1" indent="-304800" algn="l" rtl="0">
              <a:spcBef>
                <a:spcPts val="0"/>
              </a:spcBef>
              <a:spcAft>
                <a:spcPts val="0"/>
              </a:spcAft>
              <a:buClr>
                <a:schemeClr val="dk1"/>
              </a:buClr>
              <a:buSzPts val="1200"/>
              <a:buChar char="○"/>
            </a:pPr>
            <a:r>
              <a:rPr lang="en" sz="1200" dirty="0" err="1">
                <a:solidFill>
                  <a:schemeClr val="dk1"/>
                </a:solidFill>
              </a:rPr>
              <a:t>SummarizedExperiment</a:t>
            </a:r>
            <a:r>
              <a:rPr lang="en" sz="1200" dirty="0">
                <a:solidFill>
                  <a:schemeClr val="dk1"/>
                </a:solidFill>
              </a:rPr>
              <a:t>: container for counts + metadata + ranges</a:t>
            </a:r>
            <a:endParaRPr sz="1200" dirty="0">
              <a:solidFill>
                <a:schemeClr val="dk1"/>
              </a:solidFill>
            </a:endParaRPr>
          </a:p>
          <a:p>
            <a:pPr marL="914400" lvl="1" indent="-304800" algn="l" rtl="0">
              <a:spcBef>
                <a:spcPts val="0"/>
              </a:spcBef>
              <a:spcAft>
                <a:spcPts val="0"/>
              </a:spcAft>
              <a:buClr>
                <a:schemeClr val="dk1"/>
              </a:buClr>
              <a:buSzPts val="1200"/>
              <a:buChar char="○"/>
            </a:pPr>
            <a:r>
              <a:rPr lang="en" sz="1200" dirty="0" err="1">
                <a:solidFill>
                  <a:schemeClr val="dk1"/>
                </a:solidFill>
              </a:rPr>
              <a:t>gplots</a:t>
            </a:r>
            <a:r>
              <a:rPr lang="en" sz="1200" dirty="0">
                <a:solidFill>
                  <a:schemeClr val="dk1"/>
                </a:solidFill>
              </a:rPr>
              <a:t>, </a:t>
            </a:r>
            <a:r>
              <a:rPr lang="en" sz="1200" dirty="0" err="1">
                <a:solidFill>
                  <a:schemeClr val="dk1"/>
                </a:solidFill>
              </a:rPr>
              <a:t>RColorBrewer</a:t>
            </a:r>
            <a:r>
              <a:rPr lang="en" sz="1200" dirty="0">
                <a:solidFill>
                  <a:schemeClr val="dk1"/>
                </a:solidFill>
              </a:rPr>
              <a:t>: heatmap</a:t>
            </a:r>
            <a:endParaRPr sz="1200" dirty="0">
              <a:solidFill>
                <a:schemeClr val="dk1"/>
              </a:solidFill>
            </a:endParaRPr>
          </a:p>
          <a:p>
            <a:pPr marL="914400" lvl="1" indent="-304800" algn="l" rtl="0">
              <a:spcBef>
                <a:spcPts val="0"/>
              </a:spcBef>
              <a:spcAft>
                <a:spcPts val="0"/>
              </a:spcAft>
              <a:buClr>
                <a:schemeClr val="dk1"/>
              </a:buClr>
              <a:buSzPts val="1200"/>
              <a:buChar char="○"/>
            </a:pPr>
            <a:r>
              <a:rPr lang="en" sz="1200" dirty="0">
                <a:solidFill>
                  <a:schemeClr val="dk1"/>
                </a:solidFill>
              </a:rPr>
              <a:t>ggplot2: PCA and count plots</a:t>
            </a:r>
            <a:endParaRPr sz="1200" dirty="0">
              <a:solidFill>
                <a:schemeClr val="dk1"/>
              </a:solidFill>
            </a:endParaRPr>
          </a:p>
          <a:p>
            <a:pPr marL="0" lvl="0" indent="0" algn="l" rtl="0">
              <a:spcBef>
                <a:spcPts val="1200"/>
              </a:spcBef>
              <a:spcAft>
                <a:spcPts val="0"/>
              </a:spcAft>
              <a:buNone/>
            </a:pPr>
            <a:r>
              <a:rPr lang="en" sz="1200" dirty="0">
                <a:solidFill>
                  <a:schemeClr val="dk1"/>
                </a:solidFill>
              </a:rPr>
              <a:t>Load a prepared RNA-seq dataset</a:t>
            </a:r>
            <a:br>
              <a:rPr lang="en" sz="1200" dirty="0">
                <a:solidFill>
                  <a:schemeClr val="dk1"/>
                </a:solidFill>
              </a:rPr>
            </a:br>
            <a:r>
              <a:rPr lang="en" sz="1200" dirty="0">
                <a:solidFill>
                  <a:schemeClr val="dk1"/>
                </a:solidFill>
              </a:rPr>
              <a:t>Information used: airway dataset stored as a </a:t>
            </a:r>
            <a:r>
              <a:rPr lang="en" sz="1200" dirty="0" err="1">
                <a:solidFill>
                  <a:schemeClr val="dk1"/>
                </a:solidFill>
              </a:rPr>
              <a:t>SummarizedExperiment</a:t>
            </a:r>
            <a:r>
              <a:rPr lang="en" sz="1200" dirty="0">
                <a:solidFill>
                  <a:schemeClr val="dk1"/>
                </a:solidFill>
              </a:rPr>
              <a:t> object called se</a:t>
            </a:r>
            <a:br>
              <a:rPr lang="en" sz="1200" dirty="0">
                <a:solidFill>
                  <a:schemeClr val="dk1"/>
                </a:solidFill>
              </a:rPr>
            </a:br>
            <a:r>
              <a:rPr lang="en" sz="1200" dirty="0">
                <a:solidFill>
                  <a:schemeClr val="dk1"/>
                </a:solidFill>
              </a:rPr>
              <a:t>What is already inside this object se:</a:t>
            </a:r>
            <a:endParaRPr sz="1200" dirty="0">
              <a:solidFill>
                <a:schemeClr val="dk1"/>
              </a:solidFill>
            </a:endParaRPr>
          </a:p>
          <a:p>
            <a:pPr marL="914400" lvl="1" indent="-304800" algn="l" rtl="0">
              <a:spcBef>
                <a:spcPts val="1200"/>
              </a:spcBef>
              <a:spcAft>
                <a:spcPts val="0"/>
              </a:spcAft>
              <a:buClr>
                <a:schemeClr val="dk1"/>
              </a:buClr>
              <a:buSzPts val="1200"/>
              <a:buChar char="○"/>
            </a:pPr>
            <a:r>
              <a:rPr lang="en" sz="1200" dirty="0">
                <a:solidFill>
                  <a:schemeClr val="dk1"/>
                </a:solidFill>
              </a:rPr>
              <a:t>raw count matrix</a:t>
            </a:r>
            <a:endParaRPr sz="1200" dirty="0">
              <a:solidFill>
                <a:schemeClr val="dk1"/>
              </a:solidFill>
            </a:endParaRPr>
          </a:p>
          <a:p>
            <a:pPr marL="914400" lvl="1" indent="-304800" algn="l" rtl="0">
              <a:spcBef>
                <a:spcPts val="0"/>
              </a:spcBef>
              <a:spcAft>
                <a:spcPts val="0"/>
              </a:spcAft>
              <a:buClr>
                <a:schemeClr val="dk1"/>
              </a:buClr>
              <a:buSzPts val="1200"/>
              <a:buChar char="○"/>
            </a:pPr>
            <a:r>
              <a:rPr lang="en" sz="1200" dirty="0">
                <a:solidFill>
                  <a:schemeClr val="dk1"/>
                </a:solidFill>
              </a:rPr>
              <a:t>sample metadata</a:t>
            </a:r>
            <a:endParaRPr sz="1200" dirty="0">
              <a:solidFill>
                <a:schemeClr val="dk1"/>
              </a:solidFill>
            </a:endParaRPr>
          </a:p>
          <a:p>
            <a:pPr marL="914400" lvl="1" indent="-304800" algn="l" rtl="0">
              <a:spcBef>
                <a:spcPts val="0"/>
              </a:spcBef>
              <a:spcAft>
                <a:spcPts val="0"/>
              </a:spcAft>
              <a:buClr>
                <a:schemeClr val="dk1"/>
              </a:buClr>
              <a:buSzPts val="1200"/>
              <a:buChar char="○"/>
            </a:pPr>
            <a:r>
              <a:rPr lang="en" sz="1200" dirty="0">
                <a:solidFill>
                  <a:schemeClr val="dk1"/>
                </a:solidFill>
              </a:rPr>
              <a:t>genomic ranges</a:t>
            </a:r>
            <a:endParaRPr sz="1200" dirty="0">
              <a:solidFill>
                <a:schemeClr val="dk1"/>
              </a:solidFill>
            </a:endParaRPr>
          </a:p>
          <a:p>
            <a:pPr marL="0" lvl="0" indent="0" algn="l" rtl="0">
              <a:spcBef>
                <a:spcPts val="800"/>
              </a:spcBef>
              <a:spcAft>
                <a:spcPts val="1200"/>
              </a:spcAft>
              <a:buNone/>
            </a:pPr>
            <a:endParaRPr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200"/>
        <p:cNvGrpSpPr/>
        <p:nvPr/>
      </p:nvGrpSpPr>
      <p:grpSpPr>
        <a:xfrm>
          <a:off x="0" y="0"/>
          <a:ext cx="0" cy="0"/>
          <a:chOff x="0" y="0"/>
          <a:chExt cx="0" cy="0"/>
        </a:xfrm>
      </p:grpSpPr>
      <p:sp>
        <p:nvSpPr>
          <p:cNvPr id="201" name="Google Shape;201;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800" b="1" dirty="0"/>
              <a:t>Inspect the data and build the DESeq2 analysis object</a:t>
            </a:r>
            <a:endParaRPr sz="1800" b="1" dirty="0"/>
          </a:p>
        </p:txBody>
      </p:sp>
      <p:sp>
        <p:nvSpPr>
          <p:cNvPr id="202" name="Google Shape;202;p29"/>
          <p:cNvSpPr txBox="1">
            <a:spLocks noGrp="1"/>
          </p:cNvSpPr>
          <p:nvPr>
            <p:ph type="body" idx="1"/>
          </p:nvPr>
        </p:nvSpPr>
        <p:spPr>
          <a:xfrm>
            <a:off x="392382" y="863550"/>
            <a:ext cx="8520600" cy="34164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200" dirty="0">
                <a:solidFill>
                  <a:schemeClr val="dk1"/>
                </a:solidFill>
              </a:rPr>
              <a:t>Inspect the data</a:t>
            </a:r>
            <a:br>
              <a:rPr lang="en" sz="1200" dirty="0">
                <a:solidFill>
                  <a:schemeClr val="dk1"/>
                </a:solidFill>
              </a:rPr>
            </a:br>
            <a:r>
              <a:rPr lang="en" sz="1200" dirty="0">
                <a:solidFill>
                  <a:schemeClr val="dk1"/>
                </a:solidFill>
              </a:rPr>
              <a:t>Functions used: assay(se), </a:t>
            </a:r>
            <a:r>
              <a:rPr lang="en" sz="1200" dirty="0" err="1">
                <a:solidFill>
                  <a:schemeClr val="dk1"/>
                </a:solidFill>
              </a:rPr>
              <a:t>colSums</a:t>
            </a:r>
            <a:r>
              <a:rPr lang="en" sz="1200" dirty="0">
                <a:solidFill>
                  <a:schemeClr val="dk1"/>
                </a:solidFill>
              </a:rPr>
              <a:t>(assay(se)), </a:t>
            </a:r>
            <a:r>
              <a:rPr lang="en" sz="1200" dirty="0" err="1">
                <a:solidFill>
                  <a:schemeClr val="dk1"/>
                </a:solidFill>
              </a:rPr>
              <a:t>colData</a:t>
            </a:r>
            <a:r>
              <a:rPr lang="en" sz="1200" dirty="0">
                <a:solidFill>
                  <a:schemeClr val="dk1"/>
                </a:solidFill>
              </a:rPr>
              <a:t>(se), </a:t>
            </a:r>
            <a:r>
              <a:rPr lang="en" sz="1200" dirty="0" err="1">
                <a:solidFill>
                  <a:schemeClr val="dk1"/>
                </a:solidFill>
              </a:rPr>
              <a:t>rowRanges</a:t>
            </a:r>
            <a:r>
              <a:rPr lang="en" sz="1200" dirty="0">
                <a:solidFill>
                  <a:schemeClr val="dk1"/>
                </a:solidFill>
              </a:rPr>
              <a:t>(se)</a:t>
            </a:r>
            <a:br>
              <a:rPr lang="en" sz="1200" dirty="0">
                <a:solidFill>
                  <a:schemeClr val="dk1"/>
                </a:solidFill>
              </a:rPr>
            </a:br>
            <a:r>
              <a:rPr lang="en" sz="1200" dirty="0">
                <a:solidFill>
                  <a:schemeClr val="dk1"/>
                </a:solidFill>
              </a:rPr>
              <a:t>Information used:</a:t>
            </a:r>
            <a:endParaRPr sz="1200" dirty="0">
              <a:solidFill>
                <a:schemeClr val="dk1"/>
              </a:solidFill>
            </a:endParaRPr>
          </a:p>
          <a:p>
            <a:pPr marL="914400" lvl="1" indent="-304800" algn="l" rtl="0">
              <a:spcBef>
                <a:spcPts val="1200"/>
              </a:spcBef>
              <a:spcAft>
                <a:spcPts val="0"/>
              </a:spcAft>
              <a:buClr>
                <a:schemeClr val="dk1"/>
              </a:buClr>
              <a:buSzPts val="1200"/>
              <a:buChar char="○"/>
            </a:pPr>
            <a:r>
              <a:rPr lang="en" sz="1200" dirty="0">
                <a:solidFill>
                  <a:schemeClr val="dk1"/>
                </a:solidFill>
              </a:rPr>
              <a:t>gene-by-sample count matrix</a:t>
            </a:r>
            <a:endParaRPr sz="1200" dirty="0">
              <a:solidFill>
                <a:schemeClr val="dk1"/>
              </a:solidFill>
            </a:endParaRPr>
          </a:p>
          <a:p>
            <a:pPr marL="914400" lvl="1" indent="-304800" algn="l" rtl="0">
              <a:spcBef>
                <a:spcPts val="0"/>
              </a:spcBef>
              <a:spcAft>
                <a:spcPts val="0"/>
              </a:spcAft>
              <a:buClr>
                <a:schemeClr val="dk1"/>
              </a:buClr>
              <a:buSzPts val="1200"/>
              <a:buChar char="○"/>
            </a:pPr>
            <a:r>
              <a:rPr lang="en" sz="1200" dirty="0">
                <a:solidFill>
                  <a:schemeClr val="dk1"/>
                </a:solidFill>
              </a:rPr>
              <a:t>total counts per sample</a:t>
            </a:r>
            <a:endParaRPr sz="1200" dirty="0">
              <a:solidFill>
                <a:schemeClr val="dk1"/>
              </a:solidFill>
            </a:endParaRPr>
          </a:p>
          <a:p>
            <a:pPr marL="914400" lvl="1" indent="-304800" algn="l" rtl="0">
              <a:spcBef>
                <a:spcPts val="0"/>
              </a:spcBef>
              <a:spcAft>
                <a:spcPts val="0"/>
              </a:spcAft>
              <a:buClr>
                <a:schemeClr val="dk1"/>
              </a:buClr>
              <a:buSzPts val="1200"/>
              <a:buChar char="○"/>
            </a:pPr>
            <a:r>
              <a:rPr lang="en" sz="1200" dirty="0">
                <a:solidFill>
                  <a:schemeClr val="dk1"/>
                </a:solidFill>
              </a:rPr>
              <a:t>metadata such as treatment and cell line</a:t>
            </a:r>
            <a:endParaRPr sz="1200" dirty="0">
              <a:solidFill>
                <a:schemeClr val="dk1"/>
              </a:solidFill>
            </a:endParaRPr>
          </a:p>
          <a:p>
            <a:pPr marL="914400" lvl="1" indent="-304800" algn="l" rtl="0">
              <a:spcBef>
                <a:spcPts val="0"/>
              </a:spcBef>
              <a:spcAft>
                <a:spcPts val="0"/>
              </a:spcAft>
              <a:buClr>
                <a:schemeClr val="dk1"/>
              </a:buClr>
              <a:buSzPts val="1200"/>
              <a:buChar char="○"/>
            </a:pPr>
            <a:r>
              <a:rPr lang="en" sz="1200" dirty="0">
                <a:solidFill>
                  <a:schemeClr val="dk1"/>
                </a:solidFill>
              </a:rPr>
              <a:t>genomic coordinates of features</a:t>
            </a:r>
            <a:br>
              <a:rPr lang="en" sz="1200" dirty="0">
                <a:solidFill>
                  <a:schemeClr val="dk1"/>
                </a:solidFill>
              </a:rPr>
            </a:br>
            <a:r>
              <a:rPr lang="en" sz="1200" dirty="0">
                <a:solidFill>
                  <a:schemeClr val="dk1"/>
                </a:solidFill>
              </a:rPr>
              <a:t>Purpose: basic data inspection before modeling.</a:t>
            </a:r>
            <a:endParaRPr sz="1200" dirty="0">
              <a:solidFill>
                <a:schemeClr val="dk1"/>
              </a:solidFill>
            </a:endParaRPr>
          </a:p>
          <a:p>
            <a:pPr marL="0" lvl="0" indent="0" algn="l" rtl="0">
              <a:spcBef>
                <a:spcPts val="1200"/>
              </a:spcBef>
              <a:spcAft>
                <a:spcPts val="0"/>
              </a:spcAft>
              <a:buNone/>
            </a:pPr>
            <a:r>
              <a:rPr lang="en" sz="1200" dirty="0">
                <a:solidFill>
                  <a:schemeClr val="dk1"/>
                </a:solidFill>
              </a:rPr>
              <a:t>Build the DESeq2 analysis object</a:t>
            </a:r>
            <a:br>
              <a:rPr lang="en" sz="1200" dirty="0">
                <a:solidFill>
                  <a:schemeClr val="dk1"/>
                </a:solidFill>
              </a:rPr>
            </a:br>
            <a:r>
              <a:rPr lang="en" sz="1200" dirty="0">
                <a:solidFill>
                  <a:schemeClr val="dk1"/>
                </a:solidFill>
              </a:rPr>
              <a:t>Program/package used: DESeq2</a:t>
            </a:r>
            <a:br>
              <a:rPr lang="en" sz="1200" dirty="0">
                <a:solidFill>
                  <a:schemeClr val="dk1"/>
                </a:solidFill>
              </a:rPr>
            </a:br>
            <a:r>
              <a:rPr lang="en" sz="1200" dirty="0">
                <a:solidFill>
                  <a:schemeClr val="dk1"/>
                </a:solidFill>
              </a:rPr>
              <a:t>Function used: </a:t>
            </a:r>
            <a:r>
              <a:rPr lang="en" sz="1200" dirty="0" err="1">
                <a:solidFill>
                  <a:schemeClr val="dk1"/>
                </a:solidFill>
              </a:rPr>
              <a:t>DESeqDataSet</a:t>
            </a:r>
            <a:r>
              <a:rPr lang="en" sz="1200" dirty="0">
                <a:solidFill>
                  <a:schemeClr val="dk1"/>
                </a:solidFill>
              </a:rPr>
              <a:t>(se, design = ~ cell + </a:t>
            </a:r>
            <a:r>
              <a:rPr lang="en" sz="1200" dirty="0" err="1">
                <a:solidFill>
                  <a:schemeClr val="dk1"/>
                </a:solidFill>
              </a:rPr>
              <a:t>dex</a:t>
            </a:r>
            <a:r>
              <a:rPr lang="en" sz="1200" dirty="0">
                <a:solidFill>
                  <a:schemeClr val="dk1"/>
                </a:solidFill>
              </a:rPr>
              <a:t>)</a:t>
            </a:r>
            <a:br>
              <a:rPr lang="en" sz="1200" dirty="0">
                <a:solidFill>
                  <a:schemeClr val="dk1"/>
                </a:solidFill>
              </a:rPr>
            </a:br>
            <a:r>
              <a:rPr lang="en" sz="1200" dirty="0">
                <a:solidFill>
                  <a:schemeClr val="dk1"/>
                </a:solidFill>
              </a:rPr>
              <a:t>Information used:</a:t>
            </a:r>
            <a:endParaRPr sz="1200" dirty="0">
              <a:solidFill>
                <a:schemeClr val="dk1"/>
              </a:solidFill>
            </a:endParaRPr>
          </a:p>
          <a:p>
            <a:pPr marL="914400" lvl="1" indent="-304800" algn="l" rtl="0">
              <a:spcBef>
                <a:spcPts val="1200"/>
              </a:spcBef>
              <a:spcAft>
                <a:spcPts val="0"/>
              </a:spcAft>
              <a:buClr>
                <a:schemeClr val="dk1"/>
              </a:buClr>
              <a:buSzPts val="1200"/>
              <a:buChar char="○"/>
            </a:pPr>
            <a:r>
              <a:rPr lang="en" sz="1200" dirty="0">
                <a:solidFill>
                  <a:schemeClr val="dk1"/>
                </a:solidFill>
              </a:rPr>
              <a:t>counts from se</a:t>
            </a:r>
            <a:endParaRPr sz="1200" dirty="0">
              <a:solidFill>
                <a:schemeClr val="dk1"/>
              </a:solidFill>
            </a:endParaRPr>
          </a:p>
          <a:p>
            <a:pPr marL="914400" lvl="1" indent="-304800" algn="l" rtl="0">
              <a:spcBef>
                <a:spcPts val="0"/>
              </a:spcBef>
              <a:spcAft>
                <a:spcPts val="0"/>
              </a:spcAft>
              <a:buClr>
                <a:schemeClr val="dk1"/>
              </a:buClr>
              <a:buSzPts val="1200"/>
              <a:buChar char="○"/>
            </a:pPr>
            <a:r>
              <a:rPr lang="en" sz="1200" dirty="0">
                <a:solidFill>
                  <a:schemeClr val="dk1"/>
                </a:solidFill>
              </a:rPr>
              <a:t>metadata variables cell and </a:t>
            </a:r>
            <a:r>
              <a:rPr lang="en" sz="1200" dirty="0" err="1">
                <a:solidFill>
                  <a:schemeClr val="dk1"/>
                </a:solidFill>
              </a:rPr>
              <a:t>dex</a:t>
            </a:r>
            <a:br>
              <a:rPr lang="en" sz="1200" dirty="0">
                <a:solidFill>
                  <a:schemeClr val="dk1"/>
                </a:solidFill>
              </a:rPr>
            </a:br>
            <a:r>
              <a:rPr lang="en" sz="1200" dirty="0">
                <a:solidFill>
                  <a:schemeClr val="dk1"/>
                </a:solidFill>
              </a:rPr>
              <a:t>Purpose: create the model structure, controlling for cell line and testing treatment effect.</a:t>
            </a:r>
            <a:endParaRPr sz="1200" dirty="0">
              <a:solidFill>
                <a:schemeClr val="dk1"/>
              </a:solidFill>
            </a:endParaRPr>
          </a:p>
          <a:p>
            <a:pPr marL="0" lvl="0" indent="0" algn="l" rtl="0">
              <a:spcBef>
                <a:spcPts val="800"/>
              </a:spcBef>
              <a:spcAft>
                <a:spcPts val="1200"/>
              </a:spcAft>
              <a:buNone/>
            </a:pPr>
            <a:endParaRPr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224"/>
        <p:cNvGrpSpPr/>
        <p:nvPr/>
      </p:nvGrpSpPr>
      <p:grpSpPr>
        <a:xfrm>
          <a:off x="0" y="0"/>
          <a:ext cx="0" cy="0"/>
          <a:chOff x="0" y="0"/>
          <a:chExt cx="0" cy="0"/>
        </a:xfrm>
      </p:grpSpPr>
      <p:sp>
        <p:nvSpPr>
          <p:cNvPr id="225" name="Google Shape;225;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800"/>
              </a:spcAft>
              <a:buClr>
                <a:schemeClr val="dk1"/>
              </a:buClr>
              <a:buSzPts val="1100"/>
              <a:buFont typeface="Arial"/>
              <a:buNone/>
            </a:pPr>
            <a:r>
              <a:rPr lang="en" sz="1600" b="1"/>
              <a:t>Variance-stabilizing transformation for visualization and </a:t>
            </a:r>
            <a:r>
              <a:rPr lang="en" sz="1500" b="1">
                <a:solidFill>
                  <a:srgbClr val="202020"/>
                </a:solidFill>
              </a:rPr>
              <a:t>Exploratory sample-level QC</a:t>
            </a:r>
            <a:endParaRPr sz="3200" b="1"/>
          </a:p>
        </p:txBody>
      </p:sp>
      <p:sp>
        <p:nvSpPr>
          <p:cNvPr id="226" name="Google Shape;226;p32"/>
          <p:cNvSpPr txBox="1">
            <a:spLocks noGrp="1"/>
          </p:cNvSpPr>
          <p:nvPr>
            <p:ph type="body" idx="1"/>
          </p:nvPr>
        </p:nvSpPr>
        <p:spPr>
          <a:xfrm>
            <a:off x="311700" y="863550"/>
            <a:ext cx="8520600" cy="34164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200" dirty="0">
                <a:solidFill>
                  <a:schemeClr val="dk1"/>
                </a:solidFill>
              </a:rPr>
              <a:t>Variance-stabilizing transformation for visualization</a:t>
            </a:r>
            <a:br>
              <a:rPr lang="en" sz="1200" dirty="0">
                <a:solidFill>
                  <a:schemeClr val="dk1"/>
                </a:solidFill>
              </a:rPr>
            </a:br>
            <a:r>
              <a:rPr lang="en" sz="1200" dirty="0">
                <a:solidFill>
                  <a:schemeClr val="dk1"/>
                </a:solidFill>
              </a:rPr>
              <a:t>Program/package used: DESeq2</a:t>
            </a:r>
            <a:br>
              <a:rPr lang="en" sz="1200" dirty="0">
                <a:solidFill>
                  <a:schemeClr val="dk1"/>
                </a:solidFill>
              </a:rPr>
            </a:br>
            <a:r>
              <a:rPr lang="en" sz="1200" dirty="0">
                <a:solidFill>
                  <a:schemeClr val="dk1"/>
                </a:solidFill>
              </a:rPr>
              <a:t>Functions used: </a:t>
            </a:r>
            <a:r>
              <a:rPr lang="en" sz="1200" dirty="0" err="1">
                <a:solidFill>
                  <a:schemeClr val="dk1"/>
                </a:solidFill>
              </a:rPr>
              <a:t>rlog</a:t>
            </a:r>
            <a:r>
              <a:rPr lang="en" sz="1200" dirty="0">
                <a:solidFill>
                  <a:schemeClr val="dk1"/>
                </a:solidFill>
              </a:rPr>
              <a:t>(</a:t>
            </a:r>
            <a:r>
              <a:rPr lang="en" sz="1200" dirty="0" err="1">
                <a:solidFill>
                  <a:schemeClr val="dk1"/>
                </a:solidFill>
              </a:rPr>
              <a:t>dds</a:t>
            </a:r>
            <a:r>
              <a:rPr lang="en" sz="1200" dirty="0">
                <a:solidFill>
                  <a:schemeClr val="dk1"/>
                </a:solidFill>
              </a:rPr>
              <a:t>), </a:t>
            </a:r>
            <a:r>
              <a:rPr lang="en" sz="1200" dirty="0" err="1">
                <a:solidFill>
                  <a:schemeClr val="dk1"/>
                </a:solidFill>
              </a:rPr>
              <a:t>estimateSizeFactors</a:t>
            </a:r>
            <a:r>
              <a:rPr lang="en" sz="1200" dirty="0">
                <a:solidFill>
                  <a:schemeClr val="dk1"/>
                </a:solidFill>
              </a:rPr>
              <a:t>(</a:t>
            </a:r>
            <a:r>
              <a:rPr lang="en" sz="1200" dirty="0" err="1">
                <a:solidFill>
                  <a:schemeClr val="dk1"/>
                </a:solidFill>
              </a:rPr>
              <a:t>dds</a:t>
            </a:r>
            <a:r>
              <a:rPr lang="en" sz="1200" dirty="0">
                <a:solidFill>
                  <a:schemeClr val="dk1"/>
                </a:solidFill>
              </a:rPr>
              <a:t>)</a:t>
            </a:r>
            <a:br>
              <a:rPr lang="en" sz="1200" dirty="0">
                <a:solidFill>
                  <a:schemeClr val="dk1"/>
                </a:solidFill>
              </a:rPr>
            </a:br>
            <a:r>
              <a:rPr lang="en" sz="1200" dirty="0">
                <a:solidFill>
                  <a:schemeClr val="dk1"/>
                </a:solidFill>
              </a:rPr>
              <a:t>Information used: raw counts</a:t>
            </a:r>
            <a:br>
              <a:rPr lang="en" sz="1200" dirty="0">
                <a:solidFill>
                  <a:schemeClr val="dk1"/>
                </a:solidFill>
              </a:rPr>
            </a:br>
            <a:r>
              <a:rPr lang="en" sz="1200" dirty="0">
                <a:solidFill>
                  <a:schemeClr val="dk1"/>
                </a:solidFill>
              </a:rPr>
              <a:t>Purpose: transform counts so PCA and clustering are more stable and interpretable. This is for visualization, not the main statistical test.</a:t>
            </a:r>
            <a:endParaRPr sz="1200" dirty="0">
              <a:solidFill>
                <a:schemeClr val="dk1"/>
              </a:solidFill>
            </a:endParaRPr>
          </a:p>
          <a:p>
            <a:pPr marL="0" lvl="0" indent="0" algn="l" rtl="0">
              <a:spcBef>
                <a:spcPts val="1200"/>
              </a:spcBef>
              <a:spcAft>
                <a:spcPts val="0"/>
              </a:spcAft>
              <a:buNone/>
            </a:pPr>
            <a:r>
              <a:rPr lang="en" sz="1100" dirty="0">
                <a:solidFill>
                  <a:srgbClr val="202020"/>
                </a:solidFill>
              </a:rPr>
              <a:t>Exploratory sample-level QC</a:t>
            </a:r>
            <a:br>
              <a:rPr lang="en" sz="1100" dirty="0">
                <a:solidFill>
                  <a:srgbClr val="202020"/>
                </a:solidFill>
              </a:rPr>
            </a:br>
            <a:r>
              <a:rPr lang="en" sz="1100" dirty="0">
                <a:solidFill>
                  <a:srgbClr val="202020"/>
                </a:solidFill>
              </a:rPr>
              <a:t> Programs/packages used: DESeq2, </a:t>
            </a:r>
            <a:r>
              <a:rPr lang="en" sz="1100" dirty="0" err="1">
                <a:solidFill>
                  <a:srgbClr val="202020"/>
                </a:solidFill>
              </a:rPr>
              <a:t>gplots</a:t>
            </a:r>
            <a:r>
              <a:rPr lang="en" sz="1100" dirty="0">
                <a:solidFill>
                  <a:srgbClr val="202020"/>
                </a:solidFill>
              </a:rPr>
              <a:t>, </a:t>
            </a:r>
            <a:r>
              <a:rPr lang="en" sz="1100" dirty="0" err="1">
                <a:solidFill>
                  <a:srgbClr val="202020"/>
                </a:solidFill>
              </a:rPr>
              <a:t>RColorBrewer</a:t>
            </a:r>
            <a:r>
              <a:rPr lang="en" sz="1100" dirty="0">
                <a:solidFill>
                  <a:srgbClr val="202020"/>
                </a:solidFill>
              </a:rPr>
              <a:t>, ggplot2</a:t>
            </a:r>
            <a:br>
              <a:rPr lang="en" sz="1100" dirty="0">
                <a:solidFill>
                  <a:srgbClr val="202020"/>
                </a:solidFill>
              </a:rPr>
            </a:br>
            <a:r>
              <a:rPr lang="en" sz="1100" dirty="0">
                <a:solidFill>
                  <a:srgbClr val="202020"/>
                </a:solidFill>
              </a:rPr>
              <a:t> Functions used:</a:t>
            </a:r>
            <a:endParaRPr sz="1100" dirty="0">
              <a:solidFill>
                <a:srgbClr val="202020"/>
              </a:solidFill>
            </a:endParaRPr>
          </a:p>
          <a:p>
            <a:pPr marL="457200" lvl="0" indent="-298450" algn="l" rtl="0">
              <a:spcBef>
                <a:spcPts val="1200"/>
              </a:spcBef>
              <a:spcAft>
                <a:spcPts val="0"/>
              </a:spcAft>
              <a:buClr>
                <a:srgbClr val="202020"/>
              </a:buClr>
              <a:buSzPts val="1100"/>
              <a:buChar char="●"/>
            </a:pPr>
            <a:r>
              <a:rPr lang="en" sz="1100" dirty="0" err="1">
                <a:solidFill>
                  <a:srgbClr val="202020"/>
                </a:solidFill>
              </a:rPr>
              <a:t>dist</a:t>
            </a:r>
            <a:r>
              <a:rPr lang="en" sz="1100" dirty="0">
                <a:solidFill>
                  <a:srgbClr val="202020"/>
                </a:solidFill>
              </a:rPr>
              <a:t>(t(assay(</a:t>
            </a:r>
            <a:r>
              <a:rPr lang="en" sz="1100" dirty="0" err="1">
                <a:solidFill>
                  <a:srgbClr val="202020"/>
                </a:solidFill>
              </a:rPr>
              <a:t>rld</a:t>
            </a:r>
            <a:r>
              <a:rPr lang="en" sz="1100" dirty="0">
                <a:solidFill>
                  <a:srgbClr val="202020"/>
                </a:solidFill>
              </a:rPr>
              <a:t>))) for sample distances</a:t>
            </a:r>
            <a:endParaRPr sz="1100" dirty="0">
              <a:solidFill>
                <a:srgbClr val="202020"/>
              </a:solidFill>
            </a:endParaRPr>
          </a:p>
          <a:p>
            <a:pPr marL="457200" lvl="0" indent="-298450" algn="l" rtl="0">
              <a:spcBef>
                <a:spcPts val="0"/>
              </a:spcBef>
              <a:spcAft>
                <a:spcPts val="0"/>
              </a:spcAft>
              <a:buClr>
                <a:srgbClr val="202020"/>
              </a:buClr>
              <a:buSzPts val="1100"/>
              <a:buChar char="●"/>
            </a:pPr>
            <a:r>
              <a:rPr lang="en" sz="1100" dirty="0" err="1">
                <a:solidFill>
                  <a:srgbClr val="202020"/>
                </a:solidFill>
              </a:rPr>
              <a:t>hclust</a:t>
            </a:r>
            <a:r>
              <a:rPr lang="en" sz="1100" dirty="0">
                <a:solidFill>
                  <a:srgbClr val="202020"/>
                </a:solidFill>
              </a:rPr>
              <a:t>() for clustering</a:t>
            </a:r>
            <a:endParaRPr sz="1100" dirty="0">
              <a:solidFill>
                <a:srgbClr val="202020"/>
              </a:solidFill>
            </a:endParaRPr>
          </a:p>
          <a:p>
            <a:pPr marL="457200" lvl="0" indent="-298450" algn="l" rtl="0">
              <a:spcBef>
                <a:spcPts val="0"/>
              </a:spcBef>
              <a:spcAft>
                <a:spcPts val="0"/>
              </a:spcAft>
              <a:buClr>
                <a:srgbClr val="202020"/>
              </a:buClr>
              <a:buSzPts val="1100"/>
              <a:buChar char="●"/>
            </a:pPr>
            <a:r>
              <a:rPr lang="en" sz="1100" dirty="0">
                <a:solidFill>
                  <a:srgbClr val="202020"/>
                </a:solidFill>
              </a:rPr>
              <a:t>heatmap.2() for distance heatmap</a:t>
            </a:r>
            <a:endParaRPr sz="1100" dirty="0">
              <a:solidFill>
                <a:srgbClr val="202020"/>
              </a:solidFill>
            </a:endParaRPr>
          </a:p>
          <a:p>
            <a:pPr marL="457200" lvl="0" indent="-298450" algn="l" rtl="0">
              <a:spcBef>
                <a:spcPts val="0"/>
              </a:spcBef>
              <a:spcAft>
                <a:spcPts val="0"/>
              </a:spcAft>
              <a:buClr>
                <a:srgbClr val="202020"/>
              </a:buClr>
              <a:buSzPts val="1100"/>
              <a:buChar char="●"/>
            </a:pPr>
            <a:r>
              <a:rPr lang="en" sz="1100" dirty="0" err="1">
                <a:solidFill>
                  <a:srgbClr val="202020"/>
                </a:solidFill>
              </a:rPr>
              <a:t>plotPCA</a:t>
            </a:r>
            <a:r>
              <a:rPr lang="en" sz="1100" dirty="0">
                <a:solidFill>
                  <a:srgbClr val="202020"/>
                </a:solidFill>
              </a:rPr>
              <a:t>() and </a:t>
            </a:r>
            <a:r>
              <a:rPr lang="en" sz="1100" dirty="0" err="1">
                <a:solidFill>
                  <a:srgbClr val="202020"/>
                </a:solidFill>
              </a:rPr>
              <a:t>ggplot</a:t>
            </a:r>
            <a:r>
              <a:rPr lang="en" sz="1100" dirty="0">
                <a:solidFill>
                  <a:srgbClr val="202020"/>
                </a:solidFill>
              </a:rPr>
              <a:t>() for PCA</a:t>
            </a:r>
            <a:br>
              <a:rPr lang="en" sz="1100" dirty="0">
                <a:solidFill>
                  <a:srgbClr val="202020"/>
                </a:solidFill>
              </a:rPr>
            </a:br>
            <a:r>
              <a:rPr lang="en" sz="1100" dirty="0">
                <a:solidFill>
                  <a:srgbClr val="202020"/>
                </a:solidFill>
              </a:rPr>
              <a:t> Information used: </a:t>
            </a:r>
            <a:r>
              <a:rPr lang="en" sz="1100" dirty="0" err="1">
                <a:solidFill>
                  <a:srgbClr val="202020"/>
                </a:solidFill>
              </a:rPr>
              <a:t>rlog</a:t>
            </a:r>
            <a:r>
              <a:rPr lang="en" sz="1100" dirty="0">
                <a:solidFill>
                  <a:srgbClr val="202020"/>
                </a:solidFill>
              </a:rPr>
              <a:t>-transformed expression values and sample metadata (</a:t>
            </a:r>
            <a:r>
              <a:rPr lang="en" sz="1100" dirty="0" err="1">
                <a:solidFill>
                  <a:srgbClr val="202020"/>
                </a:solidFill>
              </a:rPr>
              <a:t>dex</a:t>
            </a:r>
            <a:r>
              <a:rPr lang="en" sz="1100" dirty="0">
                <a:solidFill>
                  <a:srgbClr val="202020"/>
                </a:solidFill>
              </a:rPr>
              <a:t>, cell)</a:t>
            </a:r>
            <a:br>
              <a:rPr lang="en" sz="1100" dirty="0">
                <a:solidFill>
                  <a:srgbClr val="202020"/>
                </a:solidFill>
              </a:rPr>
            </a:br>
            <a:r>
              <a:rPr lang="en" sz="1100" dirty="0">
                <a:solidFill>
                  <a:srgbClr val="202020"/>
                </a:solidFill>
              </a:rPr>
              <a:t> Purpose: check whether samples cluster by treatment or cell line, and identify possible outliers</a:t>
            </a:r>
            <a:endParaRPr sz="1100" dirty="0">
              <a:solidFill>
                <a:srgbClr val="202020"/>
              </a:solidFill>
            </a:endParaRPr>
          </a:p>
          <a:p>
            <a:pPr marL="0" lvl="0" indent="0" algn="l" rtl="0">
              <a:spcBef>
                <a:spcPts val="1200"/>
              </a:spcBef>
              <a:spcAft>
                <a:spcPts val="0"/>
              </a:spcAft>
              <a:buNone/>
            </a:pPr>
            <a:endParaRPr sz="1200" dirty="0">
              <a:solidFill>
                <a:schemeClr val="dk1"/>
              </a:solidFill>
            </a:endParaRPr>
          </a:p>
          <a:p>
            <a:pPr marL="0" lvl="0" indent="0" algn="l" rtl="0">
              <a:spcBef>
                <a:spcPts val="1200"/>
              </a:spcBef>
              <a:spcAft>
                <a:spcPts val="800"/>
              </a:spcAft>
              <a:buNone/>
            </a:pPr>
            <a:endParaRPr sz="12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248"/>
        <p:cNvGrpSpPr/>
        <p:nvPr/>
      </p:nvGrpSpPr>
      <p:grpSpPr>
        <a:xfrm>
          <a:off x="0" y="0"/>
          <a:ext cx="0" cy="0"/>
          <a:chOff x="0" y="0"/>
          <a:chExt cx="0" cy="0"/>
        </a:xfrm>
      </p:grpSpPr>
      <p:sp>
        <p:nvSpPr>
          <p:cNvPr id="249" name="Google Shape;249;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800"/>
              </a:spcAft>
              <a:buClr>
                <a:schemeClr val="dk1"/>
              </a:buClr>
              <a:buSzPts val="1100"/>
              <a:buFont typeface="Arial"/>
              <a:buNone/>
            </a:pPr>
            <a:r>
              <a:rPr lang="en" sz="1800" b="1"/>
              <a:t>Run differential expression analysis</a:t>
            </a:r>
            <a:endParaRPr sz="1800" b="1"/>
          </a:p>
        </p:txBody>
      </p:sp>
      <p:sp>
        <p:nvSpPr>
          <p:cNvPr id="250" name="Google Shape;250;p35"/>
          <p:cNvSpPr txBox="1">
            <a:spLocks noGrp="1"/>
          </p:cNvSpPr>
          <p:nvPr>
            <p:ph type="body" idx="1"/>
          </p:nvPr>
        </p:nvSpPr>
        <p:spPr>
          <a:xfrm>
            <a:off x="392382" y="1017725"/>
            <a:ext cx="8520600" cy="34164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200" dirty="0">
                <a:solidFill>
                  <a:schemeClr val="dk1"/>
                </a:solidFill>
              </a:rPr>
              <a:t>Run differential expression analysis</a:t>
            </a:r>
            <a:br>
              <a:rPr lang="en" sz="1200" dirty="0">
                <a:solidFill>
                  <a:schemeClr val="dk1"/>
                </a:solidFill>
              </a:rPr>
            </a:br>
            <a:r>
              <a:rPr lang="en" sz="1200" dirty="0">
                <a:solidFill>
                  <a:schemeClr val="dk1"/>
                </a:solidFill>
              </a:rPr>
              <a:t>Program/package used: DESeq2</a:t>
            </a:r>
            <a:br>
              <a:rPr lang="en" sz="1200" dirty="0">
                <a:solidFill>
                  <a:schemeClr val="dk1"/>
                </a:solidFill>
              </a:rPr>
            </a:br>
            <a:r>
              <a:rPr lang="en" sz="1200" dirty="0">
                <a:solidFill>
                  <a:schemeClr val="dk1"/>
                </a:solidFill>
              </a:rPr>
              <a:t>Functions used: </a:t>
            </a:r>
            <a:r>
              <a:rPr lang="en" sz="1200" dirty="0" err="1">
                <a:solidFill>
                  <a:schemeClr val="dk1"/>
                </a:solidFill>
              </a:rPr>
              <a:t>DESeq</a:t>
            </a:r>
            <a:r>
              <a:rPr lang="en" sz="1200" dirty="0">
                <a:solidFill>
                  <a:schemeClr val="dk1"/>
                </a:solidFill>
              </a:rPr>
              <a:t>(</a:t>
            </a:r>
            <a:r>
              <a:rPr lang="en" sz="1200" dirty="0" err="1">
                <a:solidFill>
                  <a:schemeClr val="dk1"/>
                </a:solidFill>
              </a:rPr>
              <a:t>dds</a:t>
            </a:r>
            <a:r>
              <a:rPr lang="en" sz="1200" dirty="0">
                <a:solidFill>
                  <a:schemeClr val="dk1"/>
                </a:solidFill>
              </a:rPr>
              <a:t>), results(</a:t>
            </a:r>
            <a:r>
              <a:rPr lang="en" sz="1200" dirty="0" err="1">
                <a:solidFill>
                  <a:schemeClr val="dk1"/>
                </a:solidFill>
              </a:rPr>
              <a:t>dds</a:t>
            </a:r>
            <a:r>
              <a:rPr lang="en" sz="1200" dirty="0">
                <a:solidFill>
                  <a:schemeClr val="dk1"/>
                </a:solidFill>
              </a:rPr>
              <a:t>)</a:t>
            </a:r>
            <a:br>
              <a:rPr lang="en" sz="1200" dirty="0">
                <a:solidFill>
                  <a:schemeClr val="dk1"/>
                </a:solidFill>
              </a:rPr>
            </a:br>
            <a:r>
              <a:rPr lang="en" sz="1200" dirty="0">
                <a:solidFill>
                  <a:schemeClr val="dk1"/>
                </a:solidFill>
              </a:rPr>
              <a:t>Information used:</a:t>
            </a:r>
            <a:endParaRPr sz="1200" dirty="0">
              <a:solidFill>
                <a:schemeClr val="dk1"/>
              </a:solidFill>
            </a:endParaRPr>
          </a:p>
          <a:p>
            <a:pPr marL="914400" lvl="1" indent="-304800" algn="l" rtl="0">
              <a:spcBef>
                <a:spcPts val="1200"/>
              </a:spcBef>
              <a:spcAft>
                <a:spcPts val="0"/>
              </a:spcAft>
              <a:buClr>
                <a:schemeClr val="dk1"/>
              </a:buClr>
              <a:buSzPts val="1200"/>
              <a:buChar char="○"/>
            </a:pPr>
            <a:r>
              <a:rPr lang="en" sz="1200" dirty="0">
                <a:solidFill>
                  <a:schemeClr val="dk1"/>
                </a:solidFill>
              </a:rPr>
              <a:t>count matrix</a:t>
            </a:r>
            <a:endParaRPr sz="1200" dirty="0">
              <a:solidFill>
                <a:schemeClr val="dk1"/>
              </a:solidFill>
            </a:endParaRPr>
          </a:p>
          <a:p>
            <a:pPr marL="914400" lvl="1" indent="-304800" algn="l" rtl="0">
              <a:spcBef>
                <a:spcPts val="0"/>
              </a:spcBef>
              <a:spcAft>
                <a:spcPts val="0"/>
              </a:spcAft>
              <a:buClr>
                <a:schemeClr val="dk1"/>
              </a:buClr>
              <a:buSzPts val="1200"/>
              <a:buChar char="○"/>
            </a:pPr>
            <a:r>
              <a:rPr lang="en" sz="1200" dirty="0">
                <a:solidFill>
                  <a:schemeClr val="dk1"/>
                </a:solidFill>
              </a:rPr>
              <a:t>design formula ~ cell + </a:t>
            </a:r>
            <a:r>
              <a:rPr lang="en" sz="1200" dirty="0" err="1">
                <a:solidFill>
                  <a:schemeClr val="dk1"/>
                </a:solidFill>
              </a:rPr>
              <a:t>dex</a:t>
            </a:r>
            <a:endParaRPr sz="1200" dirty="0">
              <a:solidFill>
                <a:schemeClr val="dk1"/>
              </a:solidFill>
            </a:endParaRPr>
          </a:p>
          <a:p>
            <a:pPr marL="914400" lvl="1" indent="-304800" algn="l" rtl="0">
              <a:spcBef>
                <a:spcPts val="0"/>
              </a:spcBef>
              <a:spcAft>
                <a:spcPts val="0"/>
              </a:spcAft>
              <a:buClr>
                <a:schemeClr val="dk1"/>
              </a:buClr>
              <a:buSzPts val="1200"/>
              <a:buChar char="○"/>
            </a:pPr>
            <a:r>
              <a:rPr lang="en" sz="1200" dirty="0">
                <a:solidFill>
                  <a:schemeClr val="dk1"/>
                </a:solidFill>
              </a:rPr>
              <a:t>treatment labels</a:t>
            </a:r>
            <a:br>
              <a:rPr lang="en" sz="1200" dirty="0">
                <a:solidFill>
                  <a:schemeClr val="dk1"/>
                </a:solidFill>
              </a:rPr>
            </a:br>
            <a:r>
              <a:rPr lang="en" sz="1200" dirty="0">
                <a:solidFill>
                  <a:schemeClr val="dk1"/>
                </a:solidFill>
              </a:rPr>
              <a:t>Purpose: estimate size factors, dispersions, fit the negative binomial model, and test for differential expression.</a:t>
            </a:r>
            <a:endParaRPr dirty="0">
              <a:solidFill>
                <a:schemeClr val="dk1"/>
              </a:solidFill>
            </a:endParaRPr>
          </a:p>
          <a:p>
            <a:pPr marL="0" lvl="0" indent="0" algn="l" rtl="0">
              <a:spcBef>
                <a:spcPts val="800"/>
              </a:spcBef>
              <a:spcAft>
                <a:spcPts val="1200"/>
              </a:spcAft>
              <a:buNone/>
            </a:pPr>
            <a:endParaRPr sz="1400" dirty="0">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12459</TotalTime>
  <Words>3731</Words>
  <Application>Microsoft Macintosh PowerPoint</Application>
  <PresentationFormat>On-screen Show (16:9)</PresentationFormat>
  <Paragraphs>333</Paragraphs>
  <Slides>32</Slides>
  <Notes>26</Notes>
  <HiddenSlides>4</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Times New Roman</vt:lpstr>
      <vt:lpstr>Simple Light</vt:lpstr>
      <vt:lpstr>RNA-Seq Transcriptome Profiling Identifies CRISPLD2 as a Glucocorticoid Responsive Gene that Modulates Cytokine Function in Airway Smooth Muscle Cells</vt:lpstr>
      <vt:lpstr>OUTLINE</vt:lpstr>
      <vt:lpstr>OUTLINE</vt:lpstr>
      <vt:lpstr>PowerPoint Presentation</vt:lpstr>
      <vt:lpstr>Background: Bulk RNA-seq to gene identification</vt:lpstr>
      <vt:lpstr>Background</vt:lpstr>
      <vt:lpstr>OUTLINE</vt:lpstr>
      <vt:lpstr>PowerPoint Presentation</vt:lpstr>
      <vt:lpstr>PowerPoint Presentation</vt:lpstr>
      <vt:lpstr>Group's documentation</vt:lpstr>
      <vt:lpstr>Group's documentation</vt:lpstr>
      <vt:lpstr>OUTLINE</vt:lpstr>
      <vt:lpstr>General Workflow</vt:lpstr>
      <vt:lpstr>General Workflow</vt:lpstr>
      <vt:lpstr>DE replication workflow: from journal</vt:lpstr>
      <vt:lpstr>DE replication workflow: from journal</vt:lpstr>
      <vt:lpstr>Download and Processed GEO FPKM matrix + .diff file</vt:lpstr>
      <vt:lpstr>DE workflow</vt:lpstr>
      <vt:lpstr>Inspection and clean the files</vt:lpstr>
      <vt:lpstr>Result comparison: volcano plot </vt:lpstr>
      <vt:lpstr>Result comparison: Top differential expression genes </vt:lpstr>
      <vt:lpstr>Result comparison: Top differential expression genes </vt:lpstr>
      <vt:lpstr>RNA-seq differential expression workflow</vt:lpstr>
      <vt:lpstr>RNA-seq differential expression workflow</vt:lpstr>
      <vt:lpstr>RNA-seq differential expression workflow: Results</vt:lpstr>
      <vt:lpstr>Conclusion</vt:lpstr>
      <vt:lpstr>Thank you for your attention!</vt:lpstr>
      <vt:lpstr>References</vt:lpstr>
      <vt:lpstr>Install and load analysis packages and load a prepared RNA-seq dataset </vt:lpstr>
      <vt:lpstr>Inspect the data and build the DESeq2 analysis object</vt:lpstr>
      <vt:lpstr>Variance-stabilizing transformation for visualization and Exploratory sample-level QC</vt:lpstr>
      <vt:lpstr>Run differential expression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Veeraya Bamrung</cp:lastModifiedBy>
  <cp:revision>8</cp:revision>
  <dcterms:modified xsi:type="dcterms:W3CDTF">2026-05-07T16:09:23Z</dcterms:modified>
</cp:coreProperties>
</file>